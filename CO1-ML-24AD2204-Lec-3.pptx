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8" r:id="rId1"/>
  </p:sldMasterIdLst>
  <p:notesMasterIdLst>
    <p:notesMasterId r:id="rId19"/>
  </p:notesMasterIdLst>
  <p:sldIdLst>
    <p:sldId id="256" r:id="rId2"/>
    <p:sldId id="276" r:id="rId3"/>
    <p:sldId id="266" r:id="rId4"/>
    <p:sldId id="267" r:id="rId5"/>
    <p:sldId id="268" r:id="rId6"/>
    <p:sldId id="269" r:id="rId7"/>
    <p:sldId id="270" r:id="rId8"/>
    <p:sldId id="271" r:id="rId9"/>
    <p:sldId id="272" r:id="rId10"/>
    <p:sldId id="273" r:id="rId11"/>
    <p:sldId id="274" r:id="rId12"/>
    <p:sldId id="278" r:id="rId13"/>
    <p:sldId id="279" r:id="rId14"/>
    <p:sldId id="275" r:id="rId15"/>
    <p:sldId id="280" r:id="rId16"/>
    <p:sldId id="277" r:id="rId17"/>
    <p:sldId id="265"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82" d="100"/>
          <a:sy n="82" d="100"/>
        </p:scale>
        <p:origin x="672" y="9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AFB3BE-1562-4558-B106-B1168B79BB98}" type="datetimeFigureOut">
              <a:rPr lang="en-IN" smtClean="0"/>
              <a:pPr/>
              <a:t>16-12-2025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CC39FC-DF2B-4B95-8962-9916808EBE64}" type="slidenum">
              <a:rPr lang="en-IN" smtClean="0"/>
              <a:pPr/>
              <a:t>‹#›</a:t>
            </a:fld>
            <a:endParaRPr lang="en-IN"/>
          </a:p>
        </p:txBody>
      </p:sp>
    </p:spTree>
    <p:extLst>
      <p:ext uri="{BB962C8B-B14F-4D97-AF65-F5344CB8AC3E}">
        <p14:creationId xmlns:p14="http://schemas.microsoft.com/office/powerpoint/2010/main" val="17234314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p1:notes"/>
          <p:cNvSpPr>
            <a:spLocks noGrp="1" noRot="1" noChangeAspect="1"/>
          </p:cNvSpPr>
          <p:nvPr>
            <p:ph type="sldImg" idx="2"/>
          </p:nvPr>
        </p:nvSpPr>
        <p:spPr>
          <a:xfrm>
            <a:off x="1143000" y="714375"/>
            <a:ext cx="3429000" cy="1928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3" name="Google Shape;53;p1:notes"/>
          <p:cNvSpPr txBox="1">
            <a:spLocks noGrp="1"/>
          </p:cNvSpPr>
          <p:nvPr>
            <p:ph type="body" idx="1"/>
          </p:nvPr>
        </p:nvSpPr>
        <p:spPr>
          <a:xfrm>
            <a:off x="571500" y="2750344"/>
            <a:ext cx="4572000" cy="2250281"/>
          </a:xfrm>
          <a:prstGeom prst="rect">
            <a:avLst/>
          </a:prstGeom>
          <a:noFill/>
          <a:ln>
            <a:noFill/>
          </a:ln>
        </p:spPr>
        <p:txBody>
          <a:bodyPr spcFirstLastPara="1" wrap="square" lIns="63998" tIns="31990" rIns="63998" bIns="31990" anchor="t" anchorCtr="0">
            <a:noAutofit/>
          </a:bodyPr>
          <a:lstStyle/>
          <a:p>
            <a:endParaRPr/>
          </a:p>
        </p:txBody>
      </p:sp>
      <p:sp>
        <p:nvSpPr>
          <p:cNvPr id="54" name="Google Shape;54;p1:notes"/>
          <p:cNvSpPr txBox="1">
            <a:spLocks noGrp="1"/>
          </p:cNvSpPr>
          <p:nvPr>
            <p:ph type="sldNum" idx="12"/>
          </p:nvPr>
        </p:nvSpPr>
        <p:spPr>
          <a:xfrm>
            <a:off x="3237178" y="5428258"/>
            <a:ext cx="2476500" cy="286742"/>
          </a:xfrm>
          <a:prstGeom prst="rect">
            <a:avLst/>
          </a:prstGeom>
          <a:noFill/>
          <a:ln>
            <a:noFill/>
          </a:ln>
        </p:spPr>
        <p:txBody>
          <a:bodyPr spcFirstLastPara="1" wrap="square" lIns="63998" tIns="31990" rIns="63998" bIns="31990" anchor="b" anchorCtr="0">
            <a:noAutofit/>
          </a:bodyPr>
          <a:lstStyle/>
          <a:p>
            <a:fld id="{00000000-1234-1234-1234-123412341234}" type="slidenum">
              <a:rPr lang="en-US"/>
              <a:pPr/>
              <a:t>3</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2:notes"/>
          <p:cNvSpPr>
            <a:spLocks noGrp="1" noRot="1" noChangeAspect="1"/>
          </p:cNvSpPr>
          <p:nvPr>
            <p:ph type="sldImg" idx="2"/>
          </p:nvPr>
        </p:nvSpPr>
        <p:spPr>
          <a:xfrm>
            <a:off x="1143000" y="714375"/>
            <a:ext cx="3429000" cy="1928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1" name="Google Shape;61;p2:notes"/>
          <p:cNvSpPr txBox="1">
            <a:spLocks noGrp="1"/>
          </p:cNvSpPr>
          <p:nvPr>
            <p:ph type="body" idx="1"/>
          </p:nvPr>
        </p:nvSpPr>
        <p:spPr>
          <a:xfrm>
            <a:off x="571500" y="2750344"/>
            <a:ext cx="4572000" cy="2250281"/>
          </a:xfrm>
          <a:prstGeom prst="rect">
            <a:avLst/>
          </a:prstGeom>
          <a:noFill/>
          <a:ln>
            <a:noFill/>
          </a:ln>
        </p:spPr>
        <p:txBody>
          <a:bodyPr spcFirstLastPara="1" wrap="square" lIns="63998" tIns="31990" rIns="63998" bIns="31990" anchor="t" anchorCtr="0">
            <a:noAutofit/>
          </a:bodyPr>
          <a:lstStyle/>
          <a:p>
            <a:endParaRPr/>
          </a:p>
        </p:txBody>
      </p:sp>
      <p:sp>
        <p:nvSpPr>
          <p:cNvPr id="62" name="Google Shape;62;p2:notes"/>
          <p:cNvSpPr txBox="1">
            <a:spLocks noGrp="1"/>
          </p:cNvSpPr>
          <p:nvPr>
            <p:ph type="sldNum" idx="12"/>
          </p:nvPr>
        </p:nvSpPr>
        <p:spPr>
          <a:xfrm>
            <a:off x="3237178" y="5428258"/>
            <a:ext cx="2476500" cy="286742"/>
          </a:xfrm>
          <a:prstGeom prst="rect">
            <a:avLst/>
          </a:prstGeom>
          <a:noFill/>
          <a:ln>
            <a:noFill/>
          </a:ln>
        </p:spPr>
        <p:txBody>
          <a:bodyPr spcFirstLastPara="1" wrap="square" lIns="63998" tIns="31990" rIns="63998" bIns="31990" anchor="b" anchorCtr="0">
            <a:noAutofit/>
          </a:bodyPr>
          <a:lstStyle/>
          <a:p>
            <a:fld id="{00000000-1234-1234-1234-123412341234}" type="slidenum">
              <a:rPr lang="en-US"/>
              <a:pPr/>
              <a:t>4</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3:notes"/>
          <p:cNvSpPr>
            <a:spLocks noGrp="1" noRot="1" noChangeAspect="1"/>
          </p:cNvSpPr>
          <p:nvPr>
            <p:ph type="sldImg" idx="2"/>
          </p:nvPr>
        </p:nvSpPr>
        <p:spPr>
          <a:xfrm>
            <a:off x="1143000" y="714375"/>
            <a:ext cx="3429000" cy="1928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 name="Google Shape;72;p3:notes"/>
          <p:cNvSpPr txBox="1">
            <a:spLocks noGrp="1"/>
          </p:cNvSpPr>
          <p:nvPr>
            <p:ph type="body" idx="1"/>
          </p:nvPr>
        </p:nvSpPr>
        <p:spPr>
          <a:xfrm>
            <a:off x="571500" y="2750344"/>
            <a:ext cx="4572000" cy="2250281"/>
          </a:xfrm>
          <a:prstGeom prst="rect">
            <a:avLst/>
          </a:prstGeom>
          <a:noFill/>
          <a:ln>
            <a:noFill/>
          </a:ln>
        </p:spPr>
        <p:txBody>
          <a:bodyPr spcFirstLastPara="1" wrap="square" lIns="63998" tIns="31990" rIns="63998" bIns="31990" anchor="t" anchorCtr="0">
            <a:noAutofit/>
          </a:bodyPr>
          <a:lstStyle/>
          <a:p>
            <a:endParaRPr/>
          </a:p>
        </p:txBody>
      </p:sp>
      <p:sp>
        <p:nvSpPr>
          <p:cNvPr id="73" name="Google Shape;73;p3:notes"/>
          <p:cNvSpPr txBox="1">
            <a:spLocks noGrp="1"/>
          </p:cNvSpPr>
          <p:nvPr>
            <p:ph type="sldNum" idx="12"/>
          </p:nvPr>
        </p:nvSpPr>
        <p:spPr>
          <a:xfrm>
            <a:off x="3237178" y="5428258"/>
            <a:ext cx="2476500" cy="286742"/>
          </a:xfrm>
          <a:prstGeom prst="rect">
            <a:avLst/>
          </a:prstGeom>
          <a:noFill/>
          <a:ln>
            <a:noFill/>
          </a:ln>
        </p:spPr>
        <p:txBody>
          <a:bodyPr spcFirstLastPara="1" wrap="square" lIns="63998" tIns="31990" rIns="63998" bIns="31990" anchor="b" anchorCtr="0">
            <a:noAutofit/>
          </a:bodyPr>
          <a:lstStyle/>
          <a:p>
            <a:fld id="{00000000-1234-1234-1234-123412341234}" type="slidenum">
              <a:rPr lang="en-US"/>
              <a:pPr/>
              <a:t>5</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4:notes"/>
          <p:cNvSpPr>
            <a:spLocks noGrp="1" noRot="1" noChangeAspect="1"/>
          </p:cNvSpPr>
          <p:nvPr>
            <p:ph type="sldImg" idx="2"/>
          </p:nvPr>
        </p:nvSpPr>
        <p:spPr>
          <a:xfrm>
            <a:off x="1143000" y="714375"/>
            <a:ext cx="3429000" cy="1928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 name="Google Shape;93;p4:notes"/>
          <p:cNvSpPr txBox="1">
            <a:spLocks noGrp="1"/>
          </p:cNvSpPr>
          <p:nvPr>
            <p:ph type="body" idx="1"/>
          </p:nvPr>
        </p:nvSpPr>
        <p:spPr>
          <a:xfrm>
            <a:off x="571500" y="2750344"/>
            <a:ext cx="4572000" cy="2250281"/>
          </a:xfrm>
          <a:prstGeom prst="rect">
            <a:avLst/>
          </a:prstGeom>
          <a:noFill/>
          <a:ln>
            <a:noFill/>
          </a:ln>
        </p:spPr>
        <p:txBody>
          <a:bodyPr spcFirstLastPara="1" wrap="square" lIns="63998" tIns="31990" rIns="63998" bIns="31990" anchor="t" anchorCtr="0">
            <a:noAutofit/>
          </a:bodyPr>
          <a:lstStyle/>
          <a:p>
            <a:endParaRPr/>
          </a:p>
        </p:txBody>
      </p:sp>
      <p:sp>
        <p:nvSpPr>
          <p:cNvPr id="94" name="Google Shape;94;p4:notes"/>
          <p:cNvSpPr txBox="1">
            <a:spLocks noGrp="1"/>
          </p:cNvSpPr>
          <p:nvPr>
            <p:ph type="sldNum" idx="12"/>
          </p:nvPr>
        </p:nvSpPr>
        <p:spPr>
          <a:xfrm>
            <a:off x="3237178" y="5428258"/>
            <a:ext cx="2476500" cy="286742"/>
          </a:xfrm>
          <a:prstGeom prst="rect">
            <a:avLst/>
          </a:prstGeom>
          <a:noFill/>
          <a:ln>
            <a:noFill/>
          </a:ln>
        </p:spPr>
        <p:txBody>
          <a:bodyPr spcFirstLastPara="1" wrap="square" lIns="63998" tIns="31990" rIns="63998" bIns="31990" anchor="b" anchorCtr="0">
            <a:noAutofit/>
          </a:bodyPr>
          <a:lstStyle/>
          <a:p>
            <a:fld id="{00000000-1234-1234-1234-123412341234}" type="slidenum">
              <a:rPr lang="en-US"/>
              <a:pPr/>
              <a:t>6</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5:notes"/>
          <p:cNvSpPr>
            <a:spLocks noGrp="1" noRot="1" noChangeAspect="1"/>
          </p:cNvSpPr>
          <p:nvPr>
            <p:ph type="sldImg" idx="2"/>
          </p:nvPr>
        </p:nvSpPr>
        <p:spPr>
          <a:xfrm>
            <a:off x="1143000" y="714375"/>
            <a:ext cx="3429000" cy="1928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 name="Google Shape;105;p5:notes"/>
          <p:cNvSpPr txBox="1">
            <a:spLocks noGrp="1"/>
          </p:cNvSpPr>
          <p:nvPr>
            <p:ph type="body" idx="1"/>
          </p:nvPr>
        </p:nvSpPr>
        <p:spPr>
          <a:xfrm>
            <a:off x="571500" y="2750344"/>
            <a:ext cx="4572000" cy="2250281"/>
          </a:xfrm>
          <a:prstGeom prst="rect">
            <a:avLst/>
          </a:prstGeom>
          <a:noFill/>
          <a:ln>
            <a:noFill/>
          </a:ln>
        </p:spPr>
        <p:txBody>
          <a:bodyPr spcFirstLastPara="1" wrap="square" lIns="63998" tIns="31990" rIns="63998" bIns="31990" anchor="t" anchorCtr="0">
            <a:noAutofit/>
          </a:bodyPr>
          <a:lstStyle/>
          <a:p>
            <a:endParaRPr/>
          </a:p>
        </p:txBody>
      </p:sp>
      <p:sp>
        <p:nvSpPr>
          <p:cNvPr id="106" name="Google Shape;106;p5:notes"/>
          <p:cNvSpPr txBox="1">
            <a:spLocks noGrp="1"/>
          </p:cNvSpPr>
          <p:nvPr>
            <p:ph type="sldNum" idx="12"/>
          </p:nvPr>
        </p:nvSpPr>
        <p:spPr>
          <a:xfrm>
            <a:off x="3237178" y="5428258"/>
            <a:ext cx="2476500" cy="286742"/>
          </a:xfrm>
          <a:prstGeom prst="rect">
            <a:avLst/>
          </a:prstGeom>
          <a:noFill/>
          <a:ln>
            <a:noFill/>
          </a:ln>
        </p:spPr>
        <p:txBody>
          <a:bodyPr spcFirstLastPara="1" wrap="square" lIns="63998" tIns="31990" rIns="63998" bIns="31990" anchor="b" anchorCtr="0">
            <a:noAutofit/>
          </a:bodyPr>
          <a:lstStyle/>
          <a:p>
            <a:fld id="{00000000-1234-1234-1234-123412341234}" type="slidenum">
              <a:rPr lang="en-US"/>
              <a:pPr/>
              <a:t>7</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a:spLocks noGrp="1" noRot="1" noChangeAspect="1"/>
          </p:cNvSpPr>
          <p:nvPr>
            <p:ph type="sldImg" idx="2"/>
          </p:nvPr>
        </p:nvSpPr>
        <p:spPr>
          <a:xfrm>
            <a:off x="1143000" y="714375"/>
            <a:ext cx="3429000" cy="1928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6:notes"/>
          <p:cNvSpPr txBox="1">
            <a:spLocks noGrp="1"/>
          </p:cNvSpPr>
          <p:nvPr>
            <p:ph type="body" idx="1"/>
          </p:nvPr>
        </p:nvSpPr>
        <p:spPr>
          <a:xfrm>
            <a:off x="571500" y="2750344"/>
            <a:ext cx="4572000" cy="2250281"/>
          </a:xfrm>
          <a:prstGeom prst="rect">
            <a:avLst/>
          </a:prstGeom>
          <a:noFill/>
          <a:ln>
            <a:noFill/>
          </a:ln>
        </p:spPr>
        <p:txBody>
          <a:bodyPr spcFirstLastPara="1" wrap="square" lIns="63998" tIns="31990" rIns="63998" bIns="31990" anchor="t" anchorCtr="0">
            <a:noAutofit/>
          </a:bodyPr>
          <a:lstStyle/>
          <a:p>
            <a:endParaRPr/>
          </a:p>
        </p:txBody>
      </p:sp>
      <p:sp>
        <p:nvSpPr>
          <p:cNvPr id="134" name="Google Shape;134;p6:notes"/>
          <p:cNvSpPr txBox="1">
            <a:spLocks noGrp="1"/>
          </p:cNvSpPr>
          <p:nvPr>
            <p:ph type="sldNum" idx="12"/>
          </p:nvPr>
        </p:nvSpPr>
        <p:spPr>
          <a:xfrm>
            <a:off x="3237178" y="5428258"/>
            <a:ext cx="2476500" cy="286742"/>
          </a:xfrm>
          <a:prstGeom prst="rect">
            <a:avLst/>
          </a:prstGeom>
          <a:noFill/>
          <a:ln>
            <a:noFill/>
          </a:ln>
        </p:spPr>
        <p:txBody>
          <a:bodyPr spcFirstLastPara="1" wrap="square" lIns="63998" tIns="31990" rIns="63998" bIns="31990" anchor="b" anchorCtr="0">
            <a:noAutofit/>
          </a:bodyPr>
          <a:lstStyle/>
          <a:p>
            <a:fld id="{00000000-1234-1234-1234-123412341234}" type="slidenum">
              <a:rPr lang="en-US"/>
              <a:pPr/>
              <a:t>8</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7:notes"/>
          <p:cNvSpPr>
            <a:spLocks noGrp="1" noRot="1" noChangeAspect="1"/>
          </p:cNvSpPr>
          <p:nvPr>
            <p:ph type="sldImg" idx="2"/>
          </p:nvPr>
        </p:nvSpPr>
        <p:spPr>
          <a:xfrm>
            <a:off x="1143000" y="714375"/>
            <a:ext cx="3429000" cy="1928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1" name="Google Shape;151;p7:notes"/>
          <p:cNvSpPr txBox="1">
            <a:spLocks noGrp="1"/>
          </p:cNvSpPr>
          <p:nvPr>
            <p:ph type="body" idx="1"/>
          </p:nvPr>
        </p:nvSpPr>
        <p:spPr>
          <a:xfrm>
            <a:off x="571500" y="2750344"/>
            <a:ext cx="4572000" cy="2250281"/>
          </a:xfrm>
          <a:prstGeom prst="rect">
            <a:avLst/>
          </a:prstGeom>
          <a:noFill/>
          <a:ln>
            <a:noFill/>
          </a:ln>
        </p:spPr>
        <p:txBody>
          <a:bodyPr spcFirstLastPara="1" wrap="square" lIns="63998" tIns="31990" rIns="63998" bIns="31990" anchor="t" anchorCtr="0">
            <a:noAutofit/>
          </a:bodyPr>
          <a:lstStyle/>
          <a:p>
            <a:endParaRPr/>
          </a:p>
        </p:txBody>
      </p:sp>
      <p:sp>
        <p:nvSpPr>
          <p:cNvPr id="152" name="Google Shape;152;p7:notes"/>
          <p:cNvSpPr txBox="1">
            <a:spLocks noGrp="1"/>
          </p:cNvSpPr>
          <p:nvPr>
            <p:ph type="sldNum" idx="12"/>
          </p:nvPr>
        </p:nvSpPr>
        <p:spPr>
          <a:xfrm>
            <a:off x="3237178" y="5428258"/>
            <a:ext cx="2476500" cy="286742"/>
          </a:xfrm>
          <a:prstGeom prst="rect">
            <a:avLst/>
          </a:prstGeom>
          <a:noFill/>
          <a:ln>
            <a:noFill/>
          </a:ln>
        </p:spPr>
        <p:txBody>
          <a:bodyPr spcFirstLastPara="1" wrap="square" lIns="63998" tIns="31990" rIns="63998" bIns="31990" anchor="b" anchorCtr="0">
            <a:noAutofit/>
          </a:bodyPr>
          <a:lstStyle/>
          <a:p>
            <a:fld id="{00000000-1234-1234-1234-123412341234}" type="slidenum">
              <a:rPr lang="en-US"/>
              <a:pPr/>
              <a:t>9</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8:notes"/>
          <p:cNvSpPr>
            <a:spLocks noGrp="1" noRot="1" noChangeAspect="1"/>
          </p:cNvSpPr>
          <p:nvPr>
            <p:ph type="sldImg" idx="2"/>
          </p:nvPr>
        </p:nvSpPr>
        <p:spPr>
          <a:xfrm>
            <a:off x="1143000" y="714375"/>
            <a:ext cx="3429000" cy="1928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9" name="Google Shape;169;p8:notes"/>
          <p:cNvSpPr txBox="1">
            <a:spLocks noGrp="1"/>
          </p:cNvSpPr>
          <p:nvPr>
            <p:ph type="body" idx="1"/>
          </p:nvPr>
        </p:nvSpPr>
        <p:spPr>
          <a:xfrm>
            <a:off x="571500" y="2750344"/>
            <a:ext cx="4572000" cy="2250281"/>
          </a:xfrm>
          <a:prstGeom prst="rect">
            <a:avLst/>
          </a:prstGeom>
          <a:noFill/>
          <a:ln>
            <a:noFill/>
          </a:ln>
        </p:spPr>
        <p:txBody>
          <a:bodyPr spcFirstLastPara="1" wrap="square" lIns="63998" tIns="31990" rIns="63998" bIns="31990" anchor="t" anchorCtr="0">
            <a:noAutofit/>
          </a:bodyPr>
          <a:lstStyle/>
          <a:p>
            <a:endParaRPr/>
          </a:p>
        </p:txBody>
      </p:sp>
      <p:sp>
        <p:nvSpPr>
          <p:cNvPr id="170" name="Google Shape;170;p8:notes"/>
          <p:cNvSpPr txBox="1">
            <a:spLocks noGrp="1"/>
          </p:cNvSpPr>
          <p:nvPr>
            <p:ph type="sldNum" idx="12"/>
          </p:nvPr>
        </p:nvSpPr>
        <p:spPr>
          <a:xfrm>
            <a:off x="3237178" y="5428258"/>
            <a:ext cx="2476500" cy="286742"/>
          </a:xfrm>
          <a:prstGeom prst="rect">
            <a:avLst/>
          </a:prstGeom>
          <a:noFill/>
          <a:ln>
            <a:noFill/>
          </a:ln>
        </p:spPr>
        <p:txBody>
          <a:bodyPr spcFirstLastPara="1" wrap="square" lIns="63998" tIns="31990" rIns="63998" bIns="31990" anchor="b" anchorCtr="0">
            <a:noAutofit/>
          </a:bodyPr>
          <a:lstStyle/>
          <a:p>
            <a:fld id="{00000000-1234-1234-1234-123412341234}" type="slidenum">
              <a:rPr lang="en-US"/>
              <a:pPr/>
              <a:t>10</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9:notes"/>
          <p:cNvSpPr>
            <a:spLocks noGrp="1" noRot="1" noChangeAspect="1"/>
          </p:cNvSpPr>
          <p:nvPr>
            <p:ph type="sldImg" idx="2"/>
          </p:nvPr>
        </p:nvSpPr>
        <p:spPr>
          <a:xfrm>
            <a:off x="1143000" y="714375"/>
            <a:ext cx="3429000" cy="1928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1" name="Google Shape;191;p9:notes"/>
          <p:cNvSpPr txBox="1">
            <a:spLocks noGrp="1"/>
          </p:cNvSpPr>
          <p:nvPr>
            <p:ph type="body" idx="1"/>
          </p:nvPr>
        </p:nvSpPr>
        <p:spPr>
          <a:xfrm>
            <a:off x="571500" y="2750344"/>
            <a:ext cx="4572000" cy="2250281"/>
          </a:xfrm>
          <a:prstGeom prst="rect">
            <a:avLst/>
          </a:prstGeom>
          <a:noFill/>
          <a:ln>
            <a:noFill/>
          </a:ln>
        </p:spPr>
        <p:txBody>
          <a:bodyPr spcFirstLastPara="1" wrap="square" lIns="63998" tIns="31990" rIns="63998" bIns="31990" anchor="t" anchorCtr="0">
            <a:noAutofit/>
          </a:bodyPr>
          <a:lstStyle/>
          <a:p>
            <a:endParaRPr/>
          </a:p>
        </p:txBody>
      </p:sp>
      <p:sp>
        <p:nvSpPr>
          <p:cNvPr id="192" name="Google Shape;192;p9:notes"/>
          <p:cNvSpPr txBox="1">
            <a:spLocks noGrp="1"/>
          </p:cNvSpPr>
          <p:nvPr>
            <p:ph type="sldNum" idx="12"/>
          </p:nvPr>
        </p:nvSpPr>
        <p:spPr>
          <a:xfrm>
            <a:off x="3237178" y="5428258"/>
            <a:ext cx="2476500" cy="286742"/>
          </a:xfrm>
          <a:prstGeom prst="rect">
            <a:avLst/>
          </a:prstGeom>
          <a:noFill/>
          <a:ln>
            <a:noFill/>
          </a:ln>
        </p:spPr>
        <p:txBody>
          <a:bodyPr spcFirstLastPara="1" wrap="square" lIns="63998" tIns="31990" rIns="63998" bIns="31990" anchor="b" anchorCtr="0">
            <a:noAutofit/>
          </a:bodyPr>
          <a:lstStyle/>
          <a:p>
            <a:fld id="{00000000-1234-1234-1234-123412341234}" type="slidenum">
              <a:rPr lang="en-US"/>
              <a:pPr/>
              <a:t>11</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10:notes"/>
          <p:cNvSpPr>
            <a:spLocks noGrp="1" noRot="1" noChangeAspect="1"/>
          </p:cNvSpPr>
          <p:nvPr>
            <p:ph type="sldImg" idx="2"/>
          </p:nvPr>
        </p:nvSpPr>
        <p:spPr>
          <a:xfrm>
            <a:off x="1143000" y="714375"/>
            <a:ext cx="3429000" cy="1928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6" name="Google Shape;206;p10:notes"/>
          <p:cNvSpPr txBox="1">
            <a:spLocks noGrp="1"/>
          </p:cNvSpPr>
          <p:nvPr>
            <p:ph type="body" idx="1"/>
          </p:nvPr>
        </p:nvSpPr>
        <p:spPr>
          <a:xfrm>
            <a:off x="571500" y="2750344"/>
            <a:ext cx="4572000" cy="2250281"/>
          </a:xfrm>
          <a:prstGeom prst="rect">
            <a:avLst/>
          </a:prstGeom>
          <a:noFill/>
          <a:ln>
            <a:noFill/>
          </a:ln>
        </p:spPr>
        <p:txBody>
          <a:bodyPr spcFirstLastPara="1" wrap="square" lIns="63998" tIns="31990" rIns="63998" bIns="31990" anchor="t" anchorCtr="0">
            <a:noAutofit/>
          </a:bodyPr>
          <a:lstStyle/>
          <a:p>
            <a:endParaRPr/>
          </a:p>
        </p:txBody>
      </p:sp>
      <p:sp>
        <p:nvSpPr>
          <p:cNvPr id="207" name="Google Shape;207;p10:notes"/>
          <p:cNvSpPr txBox="1">
            <a:spLocks noGrp="1"/>
          </p:cNvSpPr>
          <p:nvPr>
            <p:ph type="sldNum" idx="12"/>
          </p:nvPr>
        </p:nvSpPr>
        <p:spPr>
          <a:xfrm>
            <a:off x="3237178" y="5428258"/>
            <a:ext cx="2476500" cy="286742"/>
          </a:xfrm>
          <a:prstGeom prst="rect">
            <a:avLst/>
          </a:prstGeom>
          <a:noFill/>
          <a:ln>
            <a:noFill/>
          </a:ln>
        </p:spPr>
        <p:txBody>
          <a:bodyPr spcFirstLastPara="1" wrap="square" lIns="63998" tIns="31990" rIns="63998" bIns="31990" anchor="b" anchorCtr="0">
            <a:noAutofit/>
          </a:bodyPr>
          <a:lstStyle/>
          <a:p>
            <a:fld id="{00000000-1234-1234-1234-123412341234}" type="slidenum">
              <a:rPr lang="en-US"/>
              <a:pPr/>
              <a:t>14</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38A3636-4462-45DC-BB00-FF6375F9F6C0}" type="datetimeFigureOut">
              <a:rPr lang="en-IN" smtClean="0"/>
              <a:pPr/>
              <a:t>16-12-2025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18F3EC4-EDD9-42C1-AC18-D944FC4FABDD}"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38A3636-4462-45DC-BB00-FF6375F9F6C0}" type="datetimeFigureOut">
              <a:rPr lang="en-IN" smtClean="0"/>
              <a:pPr/>
              <a:t>16-12-2025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18F3EC4-EDD9-42C1-AC18-D944FC4FABDD}"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38A3636-4462-45DC-BB00-FF6375F9F6C0}" type="datetimeFigureOut">
              <a:rPr lang="en-IN" smtClean="0"/>
              <a:pPr/>
              <a:t>16-12-2025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18F3EC4-EDD9-42C1-AC18-D944FC4FABDD}"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12800" y="1600203"/>
            <a:ext cx="7213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8229600" y="1600203"/>
            <a:ext cx="7213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38A3636-4462-45DC-BB00-FF6375F9F6C0}" type="datetimeFigureOut">
              <a:rPr lang="en-IN" smtClean="0"/>
              <a:pPr/>
              <a:t>16-12-2025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18F3EC4-EDD9-42C1-AC18-D944FC4FABDD}"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38A3636-4462-45DC-BB00-FF6375F9F6C0}" type="datetimeFigureOut">
              <a:rPr lang="en-IN" smtClean="0"/>
              <a:pPr/>
              <a:t>16-12-2025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18F3EC4-EDD9-42C1-AC18-D944FC4FABDD}"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38A3636-4462-45DC-BB00-FF6375F9F6C0}" type="datetimeFigureOut">
              <a:rPr lang="en-IN" smtClean="0"/>
              <a:pPr/>
              <a:t>16-12-2025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18F3EC4-EDD9-42C1-AC18-D944FC4FABDD}"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38A3636-4462-45DC-BB00-FF6375F9F6C0}" type="datetimeFigureOut">
              <a:rPr lang="en-IN" smtClean="0"/>
              <a:pPr/>
              <a:t>16-12-2025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18F3EC4-EDD9-42C1-AC18-D944FC4FABDD}"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38A3636-4462-45DC-BB00-FF6375F9F6C0}" type="datetimeFigureOut">
              <a:rPr lang="en-IN" smtClean="0"/>
              <a:pPr/>
              <a:t>16-12-2025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18F3EC4-EDD9-42C1-AC18-D944FC4FABDD}"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38A3636-4462-45DC-BB00-FF6375F9F6C0}" type="datetimeFigureOut">
              <a:rPr lang="en-IN" smtClean="0"/>
              <a:pPr/>
              <a:t>16-12-2025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18F3EC4-EDD9-42C1-AC18-D944FC4FABDD}"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38A3636-4462-45DC-BB00-FF6375F9F6C0}" type="datetimeFigureOut">
              <a:rPr lang="en-IN" smtClean="0"/>
              <a:pPr/>
              <a:t>16-12-2025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18F3EC4-EDD9-42C1-AC18-D944FC4FABDD}"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785600" y="274641"/>
            <a:ext cx="36576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12800" y="274641"/>
            <a:ext cx="107696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38A3636-4462-45DC-BB00-FF6375F9F6C0}" type="datetimeFigureOut">
              <a:rPr lang="en-IN" smtClean="0"/>
              <a:pPr/>
              <a:t>16-12-2025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18F3EC4-EDD9-42C1-AC18-D944FC4FABDD}" type="slidenum">
              <a:rPr lang="en-IN" smtClean="0"/>
              <a:pPr/>
              <a:t>‹#›</a:t>
            </a:fld>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lide 1 master">
  <p:cSld name="Slide 1 master">
    <p:spTree>
      <p:nvGrpSpPr>
        <p:cNvPr id="1" name="Shape 10"/>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lide 2 master">
  <p:cSld name="Slide 2 master">
    <p:spTree>
      <p:nvGrpSpPr>
        <p:cNvPr id="1" name="Shape 14"/>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lide 3 master">
  <p:cSld name="Slide 3 master">
    <p:spTree>
      <p:nvGrpSpPr>
        <p:cNvPr id="1" name="Shape 18"/>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lide 4 master">
  <p:cSld name="Slide 4 master">
    <p:spTree>
      <p:nvGrpSpPr>
        <p:cNvPr id="1" name="Shape 22"/>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lide 5 master">
  <p:cSld name="Slide 5 master">
    <p:spTree>
      <p:nvGrpSpPr>
        <p:cNvPr id="1" name="Shape 26"/>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lide 6 master">
  <p:cSld name="Slide 6 master">
    <p:spTree>
      <p:nvGrpSpPr>
        <p:cNvPr id="1" name="Shape 30"/>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lide 7 master">
  <p:cSld name="Slide 7 master">
    <p:spTree>
      <p:nvGrpSpPr>
        <p:cNvPr id="1" name="Shape 34"/>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lide 8 master">
  <p:cSld name="Slide 8 master">
    <p:spTree>
      <p:nvGrpSpPr>
        <p:cNvPr id="1" name="Shape 38"/>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Slide 9 master">
  <p:cSld name="Slide 9 master">
    <p:spTree>
      <p:nvGrpSpPr>
        <p:cNvPr id="1" name="Shape 42"/>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Slide 10 master">
  <p:cSld name="Slide 10 master">
    <p:spTree>
      <p:nvGrpSpPr>
        <p:cNvPr id="1" name="Shape 4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3"/>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38A3636-4462-45DC-BB00-FF6375F9F6C0}" type="datetimeFigureOut">
              <a:rPr lang="en-IN" smtClean="0"/>
              <a:pPr/>
              <a:t>16-12-2025</a:t>
            </a:fld>
            <a:endParaRPr lang="en-IN"/>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8F3EC4-EDD9-42C1-AC18-D944FC4FABDD}"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 id="2147483740" r:id="rId12"/>
    <p:sldLayoutId id="2147483741" r:id="rId13"/>
    <p:sldLayoutId id="2147483742" r:id="rId14"/>
    <p:sldLayoutId id="2147483743" r:id="rId15"/>
    <p:sldLayoutId id="2147483744" r:id="rId16"/>
    <p:sldLayoutId id="2147483745" r:id="rId17"/>
    <p:sldLayoutId id="2147483746" r:id="rId18"/>
    <p:sldLayoutId id="2147483747" r:id="rId19"/>
    <p:sldLayoutId id="2147483748" r:id="rId20"/>
    <p:sldLayoutId id="2147483749" r:id="rId2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4.xml"/><Relationship Id="rId6" Type="http://schemas.openxmlformats.org/officeDocument/2006/relationships/image" Target="../media/image2.pn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6.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8.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9.xml"/><Relationship Id="rId6" Type="http://schemas.openxmlformats.org/officeDocument/2006/relationships/image" Target="../media/image2.png"/><Relationship Id="rId5" Type="http://schemas.openxmlformats.org/officeDocument/2006/relationships/image" Target="../media/image16.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20.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0.xml"/><Relationship Id="rId5" Type="http://schemas.openxmlformats.org/officeDocument/2006/relationships/image" Target="../media/image2.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0.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21.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1.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E3F2F65-8282-9C7E-CEBC-B3FCF09DF9DC}"/>
              </a:ext>
            </a:extLst>
          </p:cNvPr>
          <p:cNvSpPr txBox="1"/>
          <p:nvPr/>
        </p:nvSpPr>
        <p:spPr>
          <a:xfrm>
            <a:off x="1294806" y="1052618"/>
            <a:ext cx="9657806" cy="1323439"/>
          </a:xfrm>
          <a:prstGeom prst="rect">
            <a:avLst/>
          </a:prstGeom>
          <a:noFill/>
        </p:spPr>
        <p:txBody>
          <a:bodyPr wrap="square">
            <a:spAutoFit/>
          </a:bodyPr>
          <a:lstStyle/>
          <a:p>
            <a:pPr algn="ctr"/>
            <a:r>
              <a:rPr kumimoji="0" lang="en-US" sz="4000" b="1" i="0" u="none" strike="noStrike" kern="1200" cap="all" spc="0" normalizeH="0" baseline="0" noProof="0" dirty="0">
                <a:ln>
                  <a:noFill/>
                </a:ln>
                <a:solidFill>
                  <a:schemeClr val="accent2">
                    <a:lumMod val="50000"/>
                  </a:schemeClr>
                </a:solidFill>
                <a:effectLst/>
                <a:uLnTx/>
                <a:uFillTx/>
                <a:latin typeface="Gill Sans MT"/>
                <a:ea typeface="+mj-ea"/>
                <a:cs typeface="+mj-cs"/>
              </a:rPr>
              <a:t>MACHINE LEARNING</a:t>
            </a:r>
          </a:p>
          <a:p>
            <a:pPr algn="ctr"/>
            <a:r>
              <a:rPr lang="en-US" sz="4000" b="1" cap="all" dirty="0">
                <a:solidFill>
                  <a:schemeClr val="accent2">
                    <a:lumMod val="50000"/>
                  </a:schemeClr>
                </a:solidFill>
                <a:latin typeface="Gill Sans MT"/>
                <a:ea typeface="+mj-ea"/>
                <a:cs typeface="+mj-cs"/>
              </a:rPr>
              <a:t>(24AD2204)</a:t>
            </a:r>
            <a:endParaRPr lang="en-IN" sz="4000" dirty="0">
              <a:solidFill>
                <a:schemeClr val="accent2">
                  <a:lumMod val="50000"/>
                </a:schemeClr>
              </a:solidFill>
            </a:endParaRPr>
          </a:p>
        </p:txBody>
      </p:sp>
      <p:pic>
        <p:nvPicPr>
          <p:cNvPr id="9" name="Picture 8">
            <a:extLst>
              <a:ext uri="{FF2B5EF4-FFF2-40B4-BE49-F238E27FC236}">
                <a16:creationId xmlns:a16="http://schemas.microsoft.com/office/drawing/2014/main" id="{0B0DF350-8210-F6D1-2201-7DA9FC81E4D5}"/>
              </a:ext>
            </a:extLst>
          </p:cNvPr>
          <p:cNvPicPr>
            <a:picLocks noChangeAspect="1"/>
          </p:cNvPicPr>
          <p:nvPr/>
        </p:nvPicPr>
        <p:blipFill>
          <a:blip r:embed="rId2">
            <a:extLst>
              <a:ext uri="{BEBA8EAE-BF5A-486C-A8C5-ECC9F3942E4B}">
                <a14:imgProps xmlns:a14="http://schemas.microsoft.com/office/drawing/2010/main">
                  <a14:imgLayer r:embed="rId3">
                    <a14:imgEffect>
                      <a14:saturation sat="400000"/>
                    </a14:imgEffect>
                  </a14:imgLayer>
                </a14:imgProps>
              </a:ext>
            </a:extLst>
          </a:blip>
          <a:stretch>
            <a:fillRect/>
          </a:stretch>
        </p:blipFill>
        <p:spPr>
          <a:xfrm>
            <a:off x="1" y="6119091"/>
            <a:ext cx="12192000" cy="738909"/>
          </a:xfrm>
          <a:prstGeom prst="rect">
            <a:avLst/>
          </a:prstGeom>
          <a:ln>
            <a:solidFill>
              <a:schemeClr val="accent1">
                <a:lumMod val="75000"/>
              </a:schemeClr>
            </a:solidFill>
          </a:ln>
        </p:spPr>
      </p:pic>
      <p:sp>
        <p:nvSpPr>
          <p:cNvPr id="8" name="Subtitle 2">
            <a:extLst>
              <a:ext uri="{FF2B5EF4-FFF2-40B4-BE49-F238E27FC236}">
                <a16:creationId xmlns:a16="http://schemas.microsoft.com/office/drawing/2014/main" id="{5F640656-3048-2A08-BF39-81705306F79A}"/>
              </a:ext>
            </a:extLst>
          </p:cNvPr>
          <p:cNvSpPr>
            <a:spLocks noGrp="1"/>
          </p:cNvSpPr>
          <p:nvPr>
            <p:ph type="subTitle" idx="1"/>
          </p:nvPr>
        </p:nvSpPr>
        <p:spPr>
          <a:xfrm>
            <a:off x="1532403" y="3884208"/>
            <a:ext cx="9263922" cy="1096160"/>
          </a:xfrm>
          <a:prstGeom prst="rect">
            <a:avLst/>
          </a:prstGeom>
        </p:spPr>
        <p:txBody>
          <a:bodyPr>
            <a:normAutofit/>
          </a:bodyPr>
          <a:lstStyle/>
          <a:p>
            <a:pPr>
              <a:lnSpc>
                <a:spcPct val="100000"/>
              </a:lnSpc>
              <a:spcBef>
                <a:spcPts val="0"/>
              </a:spcBef>
            </a:pPr>
            <a:r>
              <a:rPr lang="en-US" sz="2800" kern="0" dirty="0">
                <a:solidFill>
                  <a:sysClr val="windowText" lastClr="000000"/>
                </a:solidFill>
                <a:latin typeface="Times New Roman" pitchFamily="18" charset="0"/>
                <a:cs typeface="Times New Roman" pitchFamily="18" charset="0"/>
              </a:rPr>
              <a:t>Preparing to Model: Basic Data Types, Exploring Numerical Data</a:t>
            </a:r>
            <a:endParaRPr kumimoji="0" lang="en-US" sz="2800" i="0" u="none" strike="noStrike" kern="0" cap="none" spc="0" normalizeH="0" baseline="0" noProof="0" dirty="0">
              <a:ln>
                <a:noFill/>
              </a:ln>
              <a:solidFill>
                <a:sysClr val="windowText" lastClr="000000"/>
              </a:solidFill>
              <a:effectLst/>
              <a:uLnTx/>
              <a:uFillTx/>
              <a:latin typeface="Times New Roman" pitchFamily="18" charset="0"/>
              <a:cs typeface="Times New Roman" pitchFamily="18" charset="0"/>
            </a:endParaRPr>
          </a:p>
          <a:p>
            <a:pPr marL="0" marR="0" lvl="0" indent="0" algn="r" defTabSz="91440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dirty="0">
              <a:ln>
                <a:noFill/>
              </a:ln>
              <a:solidFill>
                <a:sysClr val="windowText" lastClr="000000"/>
              </a:solidFill>
              <a:effectLst/>
              <a:uLnTx/>
              <a:uFillTx/>
            </a:endParaRPr>
          </a:p>
          <a:p>
            <a:pPr marL="0" marR="0" lvl="0" indent="0" algn="r" defTabSz="914400" eaLnBrk="1" fontAlgn="auto" latinLnBrk="0" hangingPunct="1">
              <a:lnSpc>
                <a:spcPct val="100000"/>
              </a:lnSpc>
              <a:spcBef>
                <a:spcPts val="0"/>
              </a:spcBef>
              <a:spcAft>
                <a:spcPts val="0"/>
              </a:spcAft>
              <a:buClrTx/>
              <a:buSzTx/>
              <a:buFontTx/>
              <a:buNone/>
              <a:tabLst/>
              <a:defRPr/>
            </a:pPr>
            <a:endParaRPr kumimoji="0" lang="en-IN" sz="3000" b="0" i="0" u="none" strike="noStrike" kern="0" cap="none" spc="0" normalizeH="0" baseline="0" noProof="0" dirty="0">
              <a:ln>
                <a:noFill/>
              </a:ln>
              <a:solidFill>
                <a:sysClr val="windowText" lastClr="000000"/>
              </a:solidFill>
              <a:effectLst/>
              <a:uLnTx/>
              <a:uFillTx/>
            </a:endParaRPr>
          </a:p>
        </p:txBody>
      </p:sp>
      <p:sp>
        <p:nvSpPr>
          <p:cNvPr id="6" name="TextBox 5">
            <a:extLst>
              <a:ext uri="{FF2B5EF4-FFF2-40B4-BE49-F238E27FC236}">
                <a16:creationId xmlns:a16="http://schemas.microsoft.com/office/drawing/2014/main" id="{7E3F2F65-8282-9C7E-CEBC-B3FCF09DF9DC}"/>
              </a:ext>
            </a:extLst>
          </p:cNvPr>
          <p:cNvSpPr txBox="1"/>
          <p:nvPr/>
        </p:nvSpPr>
        <p:spPr>
          <a:xfrm>
            <a:off x="1474914" y="2742871"/>
            <a:ext cx="9657806" cy="584775"/>
          </a:xfrm>
          <a:prstGeom prst="rect">
            <a:avLst/>
          </a:prstGeom>
          <a:noFill/>
        </p:spPr>
        <p:txBody>
          <a:bodyPr wrap="square">
            <a:spAutoFit/>
          </a:bodyPr>
          <a:lstStyle/>
          <a:p>
            <a:pPr algn="ctr"/>
            <a:r>
              <a:rPr kumimoji="0" lang="en-US" sz="3200" b="1" i="0" u="none" strike="noStrike" kern="1200" cap="all" spc="0" normalizeH="0" baseline="0" noProof="0" dirty="0">
                <a:ln>
                  <a:noFill/>
                </a:ln>
                <a:solidFill>
                  <a:srgbClr val="7030A0"/>
                </a:solidFill>
                <a:effectLst/>
                <a:uLnTx/>
                <a:uFillTx/>
                <a:latin typeface="Gill Sans MT"/>
                <a:ea typeface="+mj-ea"/>
                <a:cs typeface="+mj-cs"/>
              </a:rPr>
              <a:t>Lecture</a:t>
            </a:r>
            <a:r>
              <a:rPr kumimoji="0" lang="en-US" sz="3200" b="1" i="0" u="none" strike="noStrike" kern="1200" cap="all" spc="0" normalizeH="0" noProof="0" dirty="0">
                <a:ln>
                  <a:noFill/>
                </a:ln>
                <a:solidFill>
                  <a:srgbClr val="7030A0"/>
                </a:solidFill>
                <a:effectLst/>
                <a:uLnTx/>
                <a:uFillTx/>
                <a:latin typeface="Gill Sans MT"/>
                <a:ea typeface="+mj-ea"/>
                <a:cs typeface="+mj-cs"/>
              </a:rPr>
              <a:t> - 3</a:t>
            </a:r>
            <a:endParaRPr kumimoji="0" lang="en-US" sz="3200" b="1" i="0" u="none" strike="noStrike" kern="1200" cap="all" spc="0" normalizeH="0" baseline="0" noProof="0" dirty="0">
              <a:ln>
                <a:noFill/>
              </a:ln>
              <a:solidFill>
                <a:srgbClr val="7030A0"/>
              </a:solidFill>
              <a:effectLst/>
              <a:uLnTx/>
              <a:uFillTx/>
              <a:latin typeface="Gill Sans MT"/>
              <a:ea typeface="+mj-ea"/>
              <a:cs typeface="+mj-cs"/>
            </a:endParaRPr>
          </a:p>
        </p:txBody>
      </p:sp>
      <p:pic>
        <p:nvPicPr>
          <p:cNvPr id="2" name="Picture 2" descr="MAPS &amp; DIRECTIONS - Best Private University in Telangana &amp; Andhra Pradesh | KLH  Hyderabad">
            <a:extLst>
              <a:ext uri="{FF2B5EF4-FFF2-40B4-BE49-F238E27FC236}">
                <a16:creationId xmlns:a16="http://schemas.microsoft.com/office/drawing/2014/main" id="{1E28B12B-D511-8D7A-6DD2-F24CEB0082B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83562" y="-416953"/>
            <a:ext cx="1908438" cy="14185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81704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0436" y="2408238"/>
            <a:ext cx="10972800" cy="1143000"/>
          </a:xfrm>
        </p:spPr>
        <p:txBody>
          <a:bodyPr>
            <a:noAutofit/>
          </a:bodyPr>
          <a:lstStyle/>
          <a:p>
            <a:r>
              <a:rPr lang="en-US" sz="7200" b="1" dirty="0">
                <a:solidFill>
                  <a:srgbClr val="7030A0"/>
                </a:solidFill>
              </a:rPr>
              <a:t>RECAP</a:t>
            </a:r>
          </a:p>
        </p:txBody>
      </p:sp>
      <p:pic>
        <p:nvPicPr>
          <p:cNvPr id="3" name="Picture 2" descr="MAPS &amp; DIRECTIONS - Best Private University in Telangana &amp; Andhra Pradesh | KLH  Hyderabad">
            <a:extLst>
              <a:ext uri="{FF2B5EF4-FFF2-40B4-BE49-F238E27FC236}">
                <a16:creationId xmlns:a16="http://schemas.microsoft.com/office/drawing/2014/main" id="{06C8A56B-1CA0-A5C6-F91D-0C4099E26C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83562" y="-416953"/>
            <a:ext cx="1908438" cy="141851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pic>
        <p:nvPicPr>
          <p:cNvPr id="56" name="Google Shape;56;p13" descr="preencoded.png"/>
          <p:cNvPicPr preferRelativeResize="0"/>
          <p:nvPr/>
        </p:nvPicPr>
        <p:blipFill rotWithShape="1">
          <a:blip r:embed="rId3" cstate="print">
            <a:alphaModFix/>
          </a:blip>
          <a:srcRect/>
          <a:stretch/>
        </p:blipFill>
        <p:spPr>
          <a:xfrm>
            <a:off x="346364" y="387926"/>
            <a:ext cx="4225636" cy="5791185"/>
          </a:xfrm>
          <a:prstGeom prst="rect">
            <a:avLst/>
          </a:prstGeom>
          <a:noFill/>
          <a:ln>
            <a:noFill/>
          </a:ln>
        </p:spPr>
      </p:pic>
      <p:sp>
        <p:nvSpPr>
          <p:cNvPr id="57" name="Google Shape;57;p13"/>
          <p:cNvSpPr/>
          <p:nvPr/>
        </p:nvSpPr>
        <p:spPr>
          <a:xfrm>
            <a:off x="5737450" y="756484"/>
            <a:ext cx="3720633" cy="424871"/>
          </a:xfrm>
          <a:prstGeom prst="rect">
            <a:avLst/>
          </a:prstGeom>
          <a:noFill/>
          <a:ln>
            <a:noFill/>
          </a:ln>
        </p:spPr>
        <p:txBody>
          <a:bodyPr spcFirstLastPara="1" wrap="square" lIns="0" tIns="0" rIns="0" bIns="0" anchor="t" anchorCtr="0">
            <a:noAutofit/>
          </a:bodyPr>
          <a:lstStyle/>
          <a:p>
            <a:pPr>
              <a:lnSpc>
                <a:spcPct val="125000"/>
              </a:lnSpc>
              <a:buClr>
                <a:srgbClr val="383838"/>
              </a:buClr>
              <a:buSzPts val="3800"/>
            </a:pPr>
            <a:r>
              <a:rPr lang="en-US" sz="3200" dirty="0">
                <a:solidFill>
                  <a:srgbClr val="383838"/>
                </a:solidFill>
                <a:latin typeface="Patrick Hand"/>
                <a:ea typeface="Patrick Hand"/>
                <a:cs typeface="Patrick Hand"/>
                <a:sym typeface="Patrick Hand"/>
              </a:rPr>
              <a:t>Preparing to Model</a:t>
            </a:r>
            <a:endParaRPr sz="3200"/>
          </a:p>
        </p:txBody>
      </p:sp>
      <p:sp>
        <p:nvSpPr>
          <p:cNvPr id="58" name="Google Shape;58;p13"/>
          <p:cNvSpPr/>
          <p:nvPr/>
        </p:nvSpPr>
        <p:spPr>
          <a:xfrm>
            <a:off x="5763082" y="1877639"/>
            <a:ext cx="5554584" cy="1087859"/>
          </a:xfrm>
          <a:prstGeom prst="rect">
            <a:avLst/>
          </a:prstGeom>
          <a:noFill/>
          <a:ln>
            <a:noFill/>
          </a:ln>
        </p:spPr>
        <p:txBody>
          <a:bodyPr spcFirstLastPara="1" wrap="square" lIns="0" tIns="0" rIns="0" bIns="0" anchor="t" anchorCtr="0">
            <a:noAutofit/>
          </a:bodyPr>
          <a:lstStyle/>
          <a:p>
            <a:pPr>
              <a:lnSpc>
                <a:spcPct val="150000"/>
              </a:lnSpc>
              <a:buClr>
                <a:srgbClr val="383838"/>
              </a:buClr>
              <a:buSzPts val="1900"/>
            </a:pPr>
            <a:r>
              <a:rPr lang="en-US" sz="2000" dirty="0">
                <a:solidFill>
                  <a:srgbClr val="383838"/>
                </a:solidFill>
                <a:latin typeface="Patrick Hand"/>
                <a:ea typeface="Patrick Hand"/>
                <a:cs typeface="Patrick Hand"/>
                <a:sym typeface="Patrick Hand"/>
              </a:rPr>
              <a:t>This session provides a detailed view of understanding incoming data and creating basic understanding about its nature and quality. </a:t>
            </a:r>
          </a:p>
          <a:p>
            <a:pPr>
              <a:lnSpc>
                <a:spcPct val="150000"/>
              </a:lnSpc>
              <a:buClr>
                <a:srgbClr val="383838"/>
              </a:buClr>
              <a:buSzPts val="1900"/>
            </a:pPr>
            <a:endParaRPr lang="en-US" sz="2000" dirty="0">
              <a:solidFill>
                <a:srgbClr val="383838"/>
              </a:solidFill>
              <a:latin typeface="Patrick Hand"/>
              <a:ea typeface="Patrick Hand"/>
              <a:cs typeface="Patrick Hand"/>
              <a:sym typeface="Patrick Hand"/>
            </a:endParaRPr>
          </a:p>
          <a:p>
            <a:pPr>
              <a:lnSpc>
                <a:spcPct val="150000"/>
              </a:lnSpc>
              <a:buClr>
                <a:srgbClr val="383838"/>
              </a:buClr>
              <a:buSzPts val="1900"/>
            </a:pPr>
            <a:r>
              <a:rPr lang="en-US" sz="2000" dirty="0">
                <a:solidFill>
                  <a:srgbClr val="383838"/>
                </a:solidFill>
                <a:latin typeface="Patrick Hand"/>
                <a:ea typeface="Patrick Hand"/>
                <a:cs typeface="Patrick Hand"/>
                <a:sym typeface="Patrick Hand"/>
              </a:rPr>
              <a:t>This knowledge helps select and apply the right model, enabling beginners to take their first step towards effective machine learning problem-solving.</a:t>
            </a:r>
            <a:endParaRPr sz="2000"/>
          </a:p>
        </p:txBody>
      </p:sp>
      <p:pic>
        <p:nvPicPr>
          <p:cNvPr id="2" name="Picture 2" descr="MAPS &amp; DIRECTIONS - Best Private University in Telangana &amp; Andhra Pradesh | KLH  Hyderabad">
            <a:extLst>
              <a:ext uri="{FF2B5EF4-FFF2-40B4-BE49-F238E27FC236}">
                <a16:creationId xmlns:a16="http://schemas.microsoft.com/office/drawing/2014/main" id="{6AB4ADA1-865B-1992-6E09-B23495B23D5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83562" y="-416953"/>
            <a:ext cx="1908438" cy="141851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pic>
        <p:nvPicPr>
          <p:cNvPr id="64" name="Google Shape;64;p14" descr="preencoded.png"/>
          <p:cNvPicPr preferRelativeResize="0"/>
          <p:nvPr/>
        </p:nvPicPr>
        <p:blipFill rotWithShape="1">
          <a:blip r:embed="rId3">
            <a:alphaModFix/>
          </a:blip>
          <a:srcRect/>
          <a:stretch/>
        </p:blipFill>
        <p:spPr>
          <a:xfrm>
            <a:off x="540327" y="263237"/>
            <a:ext cx="11139055" cy="2410691"/>
          </a:xfrm>
          <a:prstGeom prst="rect">
            <a:avLst/>
          </a:prstGeom>
          <a:noFill/>
          <a:ln>
            <a:noFill/>
          </a:ln>
        </p:spPr>
      </p:pic>
      <p:sp>
        <p:nvSpPr>
          <p:cNvPr id="65" name="Google Shape;65;p14"/>
          <p:cNvSpPr/>
          <p:nvPr/>
        </p:nvSpPr>
        <p:spPr>
          <a:xfrm>
            <a:off x="803573" y="3063776"/>
            <a:ext cx="7633845" cy="502245"/>
          </a:xfrm>
          <a:prstGeom prst="rect">
            <a:avLst/>
          </a:prstGeom>
          <a:noFill/>
          <a:ln>
            <a:noFill/>
          </a:ln>
        </p:spPr>
        <p:txBody>
          <a:bodyPr spcFirstLastPara="1" wrap="square" lIns="0" tIns="0" rIns="0" bIns="0" anchor="t" anchorCtr="0">
            <a:noAutofit/>
          </a:bodyPr>
          <a:lstStyle/>
          <a:p>
            <a:pPr>
              <a:lnSpc>
                <a:spcPct val="125333"/>
              </a:lnSpc>
              <a:buClr>
                <a:srgbClr val="383838"/>
              </a:buClr>
              <a:buSzPts val="3750"/>
            </a:pPr>
            <a:r>
              <a:rPr lang="en-US" sz="3100" dirty="0">
                <a:solidFill>
                  <a:srgbClr val="383838"/>
                </a:solidFill>
                <a:latin typeface="Patrick Hand"/>
                <a:ea typeface="Patrick Hand"/>
                <a:cs typeface="Patrick Hand"/>
                <a:sym typeface="Patrick Hand"/>
              </a:rPr>
              <a:t>The Machine Learning Journey</a:t>
            </a:r>
            <a:endParaRPr sz="3100"/>
          </a:p>
        </p:txBody>
      </p:sp>
      <p:sp>
        <p:nvSpPr>
          <p:cNvPr id="66" name="Google Shape;66;p14"/>
          <p:cNvSpPr/>
          <p:nvPr/>
        </p:nvSpPr>
        <p:spPr>
          <a:xfrm>
            <a:off x="831282" y="3832641"/>
            <a:ext cx="2009081" cy="251123"/>
          </a:xfrm>
          <a:prstGeom prst="rect">
            <a:avLst/>
          </a:prstGeom>
          <a:noFill/>
          <a:ln>
            <a:noFill/>
          </a:ln>
        </p:spPr>
        <p:txBody>
          <a:bodyPr spcFirstLastPara="1" wrap="square" lIns="0" tIns="0" rIns="0" bIns="0" anchor="t" anchorCtr="0">
            <a:noAutofit/>
          </a:bodyPr>
          <a:lstStyle/>
          <a:p>
            <a:pPr>
              <a:lnSpc>
                <a:spcPct val="127027"/>
              </a:lnSpc>
              <a:buClr>
                <a:srgbClr val="383838"/>
              </a:buClr>
              <a:buSzPts val="1850"/>
            </a:pPr>
            <a:r>
              <a:rPr lang="en-US" sz="1500" dirty="0">
                <a:solidFill>
                  <a:srgbClr val="383838"/>
                </a:solidFill>
                <a:latin typeface="Patrick Hand"/>
                <a:ea typeface="Patrick Hand"/>
                <a:cs typeface="Patrick Hand"/>
                <a:sym typeface="Patrick Hand"/>
              </a:rPr>
              <a:t>Historical Evolution</a:t>
            </a:r>
            <a:endParaRPr sz="1500"/>
          </a:p>
        </p:txBody>
      </p:sp>
      <p:sp>
        <p:nvSpPr>
          <p:cNvPr id="67" name="Google Shape;67;p14"/>
          <p:cNvSpPr/>
          <p:nvPr/>
        </p:nvSpPr>
        <p:spPr>
          <a:xfrm>
            <a:off x="803572" y="4270727"/>
            <a:ext cx="5047357" cy="1607344"/>
          </a:xfrm>
          <a:prstGeom prst="rect">
            <a:avLst/>
          </a:prstGeom>
          <a:noFill/>
          <a:ln>
            <a:noFill/>
          </a:ln>
        </p:spPr>
        <p:txBody>
          <a:bodyPr spcFirstLastPara="1" wrap="square" lIns="0" tIns="0" rIns="0" bIns="0" anchor="t" anchorCtr="0">
            <a:noAutofit/>
          </a:bodyPr>
          <a:lstStyle/>
          <a:p>
            <a:pPr>
              <a:lnSpc>
                <a:spcPct val="162162"/>
              </a:lnSpc>
              <a:buClr>
                <a:srgbClr val="383838"/>
              </a:buClr>
              <a:buSzPts val="1850"/>
            </a:pPr>
            <a:r>
              <a:rPr lang="en-US" sz="1500" dirty="0">
                <a:solidFill>
                  <a:srgbClr val="383838"/>
                </a:solidFill>
                <a:latin typeface="Patrick Hand"/>
                <a:ea typeface="Patrick Hand"/>
                <a:cs typeface="Patrick Hand"/>
                <a:sym typeface="Patrick Hand"/>
              </a:rPr>
              <a:t>Machine learning evolved from Alan Turing's proposition that machines can 'learn' and become artificially intelligent. Pioneers like Arthur Samuel, Frank Rosenblatt, John Hopfield, Christopher Watkins, and Geoffrey Hinton shaped concepts of Neural Networks, Recurrent Neural Networks, Reinforcement Learning, and Deep Learning.</a:t>
            </a:r>
            <a:endParaRPr sz="1500"/>
          </a:p>
        </p:txBody>
      </p:sp>
      <p:sp>
        <p:nvSpPr>
          <p:cNvPr id="68" name="Google Shape;68;p14"/>
          <p:cNvSpPr/>
          <p:nvPr/>
        </p:nvSpPr>
        <p:spPr>
          <a:xfrm>
            <a:off x="6361275" y="3860350"/>
            <a:ext cx="4791635" cy="171323"/>
          </a:xfrm>
          <a:prstGeom prst="rect">
            <a:avLst/>
          </a:prstGeom>
          <a:noFill/>
          <a:ln>
            <a:noFill/>
          </a:ln>
        </p:spPr>
        <p:txBody>
          <a:bodyPr spcFirstLastPara="1" wrap="square" lIns="0" tIns="0" rIns="0" bIns="0" anchor="t" anchorCtr="0">
            <a:noAutofit/>
          </a:bodyPr>
          <a:lstStyle/>
          <a:p>
            <a:pPr>
              <a:lnSpc>
                <a:spcPct val="127027"/>
              </a:lnSpc>
              <a:buClr>
                <a:srgbClr val="383838"/>
              </a:buClr>
              <a:buSzPts val="1850"/>
            </a:pPr>
            <a:r>
              <a:rPr lang="en-US" sz="1500" dirty="0">
                <a:solidFill>
                  <a:srgbClr val="383838"/>
                </a:solidFill>
                <a:latin typeface="Patrick Hand"/>
                <a:ea typeface="Patrick Hand"/>
                <a:cs typeface="Patrick Hand"/>
                <a:sym typeface="Patrick Hand"/>
              </a:rPr>
              <a:t>Breakthrough Applications</a:t>
            </a:r>
            <a:endParaRPr sz="1500"/>
          </a:p>
        </p:txBody>
      </p:sp>
      <p:sp>
        <p:nvSpPr>
          <p:cNvPr id="69" name="Google Shape;69;p14"/>
          <p:cNvSpPr/>
          <p:nvPr/>
        </p:nvSpPr>
        <p:spPr>
          <a:xfrm>
            <a:off x="6361274" y="4367709"/>
            <a:ext cx="5082581" cy="2005382"/>
          </a:xfrm>
          <a:prstGeom prst="rect">
            <a:avLst/>
          </a:prstGeom>
          <a:noFill/>
          <a:ln>
            <a:noFill/>
          </a:ln>
        </p:spPr>
        <p:txBody>
          <a:bodyPr spcFirstLastPara="1" wrap="square" lIns="0" tIns="0" rIns="0" bIns="0" anchor="t" anchorCtr="0">
            <a:noAutofit/>
          </a:bodyPr>
          <a:lstStyle/>
          <a:p>
            <a:pPr>
              <a:lnSpc>
                <a:spcPct val="162162"/>
              </a:lnSpc>
              <a:buClr>
                <a:srgbClr val="383838"/>
              </a:buClr>
              <a:buSzPts val="1850"/>
            </a:pPr>
            <a:r>
              <a:rPr lang="en-US" sz="1500" dirty="0">
                <a:solidFill>
                  <a:srgbClr val="383838"/>
                </a:solidFill>
                <a:latin typeface="Patrick Hand"/>
                <a:ea typeface="Patrick Hand"/>
                <a:cs typeface="Patrick Hand"/>
                <a:sym typeface="Patrick Hand"/>
              </a:rPr>
              <a:t>IBM's Deep Blue defeated world chess champion Gary Kasparov. IBM's Watson beat human champions in Jeopardy. Google developed innovations like Google Brain, Sibyl, </a:t>
            </a:r>
            <a:r>
              <a:rPr lang="en-US" sz="1500" dirty="0" err="1">
                <a:solidFill>
                  <a:srgbClr val="383838"/>
                </a:solidFill>
                <a:latin typeface="Patrick Hand"/>
                <a:ea typeface="Patrick Hand"/>
                <a:cs typeface="Patrick Hand"/>
                <a:sym typeface="Patrick Hand"/>
              </a:rPr>
              <a:t>Waymo</a:t>
            </a:r>
            <a:r>
              <a:rPr lang="en-US" sz="1500" dirty="0">
                <a:solidFill>
                  <a:srgbClr val="383838"/>
                </a:solidFill>
                <a:latin typeface="Patrick Hand"/>
                <a:ea typeface="Patrick Hand"/>
                <a:cs typeface="Patrick Hand"/>
                <a:sym typeface="Patrick Hand"/>
              </a:rPr>
              <a:t>, and AlphaGo—all advanced applications that elevated machine learning technology to new heights.</a:t>
            </a:r>
            <a:endParaRPr sz="1500"/>
          </a:p>
        </p:txBody>
      </p:sp>
      <p:pic>
        <p:nvPicPr>
          <p:cNvPr id="2" name="Picture 2" descr="MAPS &amp; DIRECTIONS - Best Private University in Telangana &amp; Andhra Pradesh | KLH  Hyderabad">
            <a:extLst>
              <a:ext uri="{FF2B5EF4-FFF2-40B4-BE49-F238E27FC236}">
                <a16:creationId xmlns:a16="http://schemas.microsoft.com/office/drawing/2014/main" id="{5B58354A-E8B6-3675-7091-5AFDF324B5D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83562" y="-416953"/>
            <a:ext cx="1908438" cy="141851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15"/>
          <p:cNvSpPr/>
          <p:nvPr/>
        </p:nvSpPr>
        <p:spPr>
          <a:xfrm>
            <a:off x="846625" y="368505"/>
            <a:ext cx="8713012" cy="503138"/>
          </a:xfrm>
          <a:prstGeom prst="rect">
            <a:avLst/>
          </a:prstGeom>
          <a:noFill/>
          <a:ln>
            <a:noFill/>
          </a:ln>
        </p:spPr>
        <p:txBody>
          <a:bodyPr spcFirstLastPara="1" wrap="square" lIns="0" tIns="0" rIns="0" bIns="0" anchor="t" anchorCtr="0">
            <a:noAutofit/>
          </a:bodyPr>
          <a:lstStyle/>
          <a:p>
            <a:pPr>
              <a:lnSpc>
                <a:spcPct val="125000"/>
              </a:lnSpc>
              <a:buClr>
                <a:srgbClr val="383838"/>
              </a:buClr>
              <a:buSzPts val="3800"/>
            </a:pPr>
            <a:r>
              <a:rPr lang="en-US" sz="3200" dirty="0">
                <a:solidFill>
                  <a:srgbClr val="383838"/>
                </a:solidFill>
                <a:latin typeface="Patrick Hand"/>
                <a:ea typeface="Patrick Hand"/>
                <a:cs typeface="Patrick Hand"/>
                <a:sym typeface="Patrick Hand"/>
              </a:rPr>
              <a:t>Types of Machine Learning</a:t>
            </a:r>
            <a:endParaRPr sz="3200"/>
          </a:p>
        </p:txBody>
      </p:sp>
      <p:sp>
        <p:nvSpPr>
          <p:cNvPr id="76" name="Google Shape;76;p15"/>
          <p:cNvSpPr/>
          <p:nvPr/>
        </p:nvSpPr>
        <p:spPr>
          <a:xfrm>
            <a:off x="805061" y="1592823"/>
            <a:ext cx="3393083" cy="4683286"/>
          </a:xfrm>
          <a:prstGeom prst="roundRect">
            <a:avLst>
              <a:gd name="adj" fmla="val 2491"/>
            </a:avLst>
          </a:prstGeom>
          <a:solidFill>
            <a:srgbClr val="E6E6E6"/>
          </a:solidFill>
          <a:ln w="9525" cap="flat" cmpd="sng">
            <a:solidFill>
              <a:srgbClr val="CCCCCC"/>
            </a:solidFill>
            <a:prstDash val="solid"/>
            <a:round/>
            <a:headEnd type="none" w="sm" len="sm"/>
            <a:tailEnd type="none" w="sm" len="sm"/>
          </a:ln>
        </p:spPr>
        <p:txBody>
          <a:bodyPr spcFirstLastPara="1" wrap="square" lIns="76184" tIns="76184" rIns="76184" bIns="76184" anchor="ctr" anchorCtr="0">
            <a:noAutofit/>
          </a:bodyPr>
          <a:lstStyle/>
          <a:p>
            <a:endParaRPr/>
          </a:p>
        </p:txBody>
      </p:sp>
      <p:sp>
        <p:nvSpPr>
          <p:cNvPr id="77" name="Google Shape;77;p15"/>
          <p:cNvSpPr/>
          <p:nvPr/>
        </p:nvSpPr>
        <p:spPr>
          <a:xfrm>
            <a:off x="1012627" y="1980503"/>
            <a:ext cx="603845" cy="603845"/>
          </a:xfrm>
          <a:prstGeom prst="roundRect">
            <a:avLst>
              <a:gd name="adj" fmla="val 12617870"/>
            </a:avLst>
          </a:prstGeom>
          <a:solidFill>
            <a:srgbClr val="CCCCCC"/>
          </a:solidFill>
          <a:ln>
            <a:noFill/>
          </a:ln>
        </p:spPr>
        <p:txBody>
          <a:bodyPr spcFirstLastPara="1" wrap="square" lIns="76184" tIns="76184" rIns="76184" bIns="76184" anchor="ctr" anchorCtr="0">
            <a:noAutofit/>
          </a:bodyPr>
          <a:lstStyle/>
          <a:p>
            <a:endParaRPr/>
          </a:p>
        </p:txBody>
      </p:sp>
      <p:pic>
        <p:nvPicPr>
          <p:cNvPr id="78" name="Google Shape;78;p15" descr="preencoded.png"/>
          <p:cNvPicPr preferRelativeResize="0"/>
          <p:nvPr/>
        </p:nvPicPr>
        <p:blipFill rotWithShape="1">
          <a:blip r:embed="rId3">
            <a:alphaModFix/>
          </a:blip>
          <a:srcRect/>
          <a:stretch/>
        </p:blipFill>
        <p:spPr>
          <a:xfrm>
            <a:off x="1178720" y="2146496"/>
            <a:ext cx="271661" cy="271661"/>
          </a:xfrm>
          <a:prstGeom prst="rect">
            <a:avLst/>
          </a:prstGeom>
          <a:noFill/>
          <a:ln>
            <a:noFill/>
          </a:ln>
        </p:spPr>
      </p:pic>
      <p:sp>
        <p:nvSpPr>
          <p:cNvPr id="79" name="Google Shape;79;p15"/>
          <p:cNvSpPr/>
          <p:nvPr/>
        </p:nvSpPr>
        <p:spPr>
          <a:xfrm>
            <a:off x="1012627" y="2785565"/>
            <a:ext cx="2012752" cy="251619"/>
          </a:xfrm>
          <a:prstGeom prst="rect">
            <a:avLst/>
          </a:prstGeom>
          <a:noFill/>
          <a:ln>
            <a:noFill/>
          </a:ln>
        </p:spPr>
        <p:txBody>
          <a:bodyPr spcFirstLastPara="1" wrap="square" lIns="0" tIns="0" rIns="0" bIns="0" anchor="t" anchorCtr="0">
            <a:noAutofit/>
          </a:bodyPr>
          <a:lstStyle/>
          <a:p>
            <a:pPr>
              <a:lnSpc>
                <a:spcPct val="123684"/>
              </a:lnSpc>
              <a:buClr>
                <a:srgbClr val="383838"/>
              </a:buClr>
              <a:buSzPts val="1900"/>
            </a:pPr>
            <a:r>
              <a:rPr lang="en-US" sz="1600" dirty="0">
                <a:solidFill>
                  <a:srgbClr val="383838"/>
                </a:solidFill>
                <a:latin typeface="Patrick Hand"/>
                <a:ea typeface="Patrick Hand"/>
                <a:cs typeface="Patrick Hand"/>
                <a:sym typeface="Patrick Hand"/>
              </a:rPr>
              <a:t>Supervised Learning</a:t>
            </a:r>
            <a:endParaRPr sz="1600"/>
          </a:p>
        </p:txBody>
      </p:sp>
      <p:sp>
        <p:nvSpPr>
          <p:cNvPr id="80" name="Google Shape;80;p15"/>
          <p:cNvSpPr/>
          <p:nvPr/>
        </p:nvSpPr>
        <p:spPr>
          <a:xfrm>
            <a:off x="1012627" y="3157932"/>
            <a:ext cx="2977952" cy="1932384"/>
          </a:xfrm>
          <a:prstGeom prst="rect">
            <a:avLst/>
          </a:prstGeom>
          <a:noFill/>
          <a:ln>
            <a:noFill/>
          </a:ln>
        </p:spPr>
        <p:txBody>
          <a:bodyPr spcFirstLastPara="1" wrap="square" lIns="0" tIns="0" rIns="0" bIns="0" anchor="t" anchorCtr="0">
            <a:noAutofit/>
          </a:bodyPr>
          <a:lstStyle/>
          <a:p>
            <a:pPr>
              <a:lnSpc>
                <a:spcPct val="157894"/>
              </a:lnSpc>
              <a:buClr>
                <a:srgbClr val="383838"/>
              </a:buClr>
              <a:buSzPts val="1900"/>
            </a:pPr>
            <a:r>
              <a:rPr lang="en-US" sz="1600" dirty="0">
                <a:solidFill>
                  <a:srgbClr val="383838"/>
                </a:solidFill>
                <a:latin typeface="Patrick Hand"/>
                <a:ea typeface="Patrick Hand"/>
                <a:cs typeface="Patrick Hand"/>
                <a:sym typeface="Patrick Hand"/>
              </a:rPr>
              <a:t>Learning from past labeled training data with known values or classes. Machines learn from past data and assign classes to unknown test data, solving prediction problems—similar to human learning through expert guidance.</a:t>
            </a:r>
            <a:endParaRPr sz="1600"/>
          </a:p>
        </p:txBody>
      </p:sp>
      <p:sp>
        <p:nvSpPr>
          <p:cNvPr id="81" name="Google Shape;81;p15"/>
          <p:cNvSpPr/>
          <p:nvPr/>
        </p:nvSpPr>
        <p:spPr>
          <a:xfrm>
            <a:off x="4399359" y="1592823"/>
            <a:ext cx="3393182" cy="4724850"/>
          </a:xfrm>
          <a:prstGeom prst="roundRect">
            <a:avLst>
              <a:gd name="adj" fmla="val 2491"/>
            </a:avLst>
          </a:prstGeom>
          <a:solidFill>
            <a:srgbClr val="E6E6E6"/>
          </a:solidFill>
          <a:ln w="9525" cap="flat" cmpd="sng">
            <a:solidFill>
              <a:srgbClr val="CCCCCC"/>
            </a:solidFill>
            <a:prstDash val="solid"/>
            <a:round/>
            <a:headEnd type="none" w="sm" len="sm"/>
            <a:tailEnd type="none" w="sm" len="sm"/>
          </a:ln>
        </p:spPr>
        <p:txBody>
          <a:bodyPr spcFirstLastPara="1" wrap="square" lIns="76184" tIns="76184" rIns="76184" bIns="76184" anchor="ctr" anchorCtr="0">
            <a:noAutofit/>
          </a:bodyPr>
          <a:lstStyle/>
          <a:p>
            <a:endParaRPr/>
          </a:p>
        </p:txBody>
      </p:sp>
      <p:sp>
        <p:nvSpPr>
          <p:cNvPr id="82" name="Google Shape;82;p15"/>
          <p:cNvSpPr/>
          <p:nvPr/>
        </p:nvSpPr>
        <p:spPr>
          <a:xfrm>
            <a:off x="4606925" y="1980503"/>
            <a:ext cx="603845" cy="603845"/>
          </a:xfrm>
          <a:prstGeom prst="roundRect">
            <a:avLst>
              <a:gd name="adj" fmla="val 12617870"/>
            </a:avLst>
          </a:prstGeom>
          <a:solidFill>
            <a:srgbClr val="CCCCCC"/>
          </a:solidFill>
          <a:ln>
            <a:noFill/>
          </a:ln>
        </p:spPr>
        <p:txBody>
          <a:bodyPr spcFirstLastPara="1" wrap="square" lIns="76184" tIns="76184" rIns="76184" bIns="76184" anchor="ctr" anchorCtr="0">
            <a:noAutofit/>
          </a:bodyPr>
          <a:lstStyle/>
          <a:p>
            <a:endParaRPr/>
          </a:p>
        </p:txBody>
      </p:sp>
      <p:pic>
        <p:nvPicPr>
          <p:cNvPr id="83" name="Google Shape;83;p15" descr="preencoded.png"/>
          <p:cNvPicPr preferRelativeResize="0"/>
          <p:nvPr/>
        </p:nvPicPr>
        <p:blipFill rotWithShape="1">
          <a:blip r:embed="rId4">
            <a:alphaModFix/>
          </a:blip>
          <a:srcRect/>
          <a:stretch/>
        </p:blipFill>
        <p:spPr>
          <a:xfrm>
            <a:off x="4773018" y="2146496"/>
            <a:ext cx="271661" cy="271661"/>
          </a:xfrm>
          <a:prstGeom prst="rect">
            <a:avLst/>
          </a:prstGeom>
          <a:noFill/>
          <a:ln>
            <a:noFill/>
          </a:ln>
        </p:spPr>
      </p:pic>
      <p:sp>
        <p:nvSpPr>
          <p:cNvPr id="84" name="Google Shape;84;p15"/>
          <p:cNvSpPr/>
          <p:nvPr/>
        </p:nvSpPr>
        <p:spPr>
          <a:xfrm>
            <a:off x="4606924" y="2785565"/>
            <a:ext cx="3054639" cy="303987"/>
          </a:xfrm>
          <a:prstGeom prst="rect">
            <a:avLst/>
          </a:prstGeom>
          <a:noFill/>
          <a:ln>
            <a:noFill/>
          </a:ln>
        </p:spPr>
        <p:txBody>
          <a:bodyPr spcFirstLastPara="1" wrap="square" lIns="0" tIns="0" rIns="0" bIns="0" anchor="t" anchorCtr="0">
            <a:noAutofit/>
          </a:bodyPr>
          <a:lstStyle/>
          <a:p>
            <a:pPr>
              <a:lnSpc>
                <a:spcPct val="123684"/>
              </a:lnSpc>
              <a:buClr>
                <a:srgbClr val="383838"/>
              </a:buClr>
              <a:buSzPts val="1900"/>
            </a:pPr>
            <a:r>
              <a:rPr lang="en-US" sz="1600" dirty="0">
                <a:solidFill>
                  <a:srgbClr val="383838"/>
                </a:solidFill>
                <a:latin typeface="Patrick Hand"/>
                <a:ea typeface="Patrick Hand"/>
                <a:cs typeface="Patrick Hand"/>
                <a:sym typeface="Patrick Hand"/>
              </a:rPr>
              <a:t>Unsupervised Learning</a:t>
            </a:r>
            <a:endParaRPr sz="1600"/>
          </a:p>
        </p:txBody>
      </p:sp>
      <p:sp>
        <p:nvSpPr>
          <p:cNvPr id="85" name="Google Shape;85;p15"/>
          <p:cNvSpPr/>
          <p:nvPr/>
        </p:nvSpPr>
        <p:spPr>
          <a:xfrm>
            <a:off x="4606925" y="3157932"/>
            <a:ext cx="2978051" cy="1610320"/>
          </a:xfrm>
          <a:prstGeom prst="rect">
            <a:avLst/>
          </a:prstGeom>
          <a:noFill/>
          <a:ln>
            <a:noFill/>
          </a:ln>
        </p:spPr>
        <p:txBody>
          <a:bodyPr spcFirstLastPara="1" wrap="square" lIns="0" tIns="0" rIns="0" bIns="0" anchor="t" anchorCtr="0">
            <a:noAutofit/>
          </a:bodyPr>
          <a:lstStyle/>
          <a:p>
            <a:pPr>
              <a:lnSpc>
                <a:spcPct val="157894"/>
              </a:lnSpc>
              <a:buClr>
                <a:srgbClr val="383838"/>
              </a:buClr>
              <a:buSzPts val="1900"/>
            </a:pPr>
            <a:r>
              <a:rPr lang="en-US" sz="1600" dirty="0">
                <a:solidFill>
                  <a:srgbClr val="383838"/>
                </a:solidFill>
                <a:latin typeface="Patrick Hand"/>
                <a:ea typeface="Patrick Hand"/>
                <a:cs typeface="Patrick Hand"/>
                <a:sym typeface="Patrick Hand"/>
              </a:rPr>
              <a:t>Finding patterns in unlabeled data without guided inputs. Like humans grouping objects of similar shape, this learning uses knowledge gained from the data itself rather than external labels.</a:t>
            </a:r>
            <a:endParaRPr sz="1600"/>
          </a:p>
        </p:txBody>
      </p:sp>
      <p:sp>
        <p:nvSpPr>
          <p:cNvPr id="86" name="Google Shape;86;p15"/>
          <p:cNvSpPr/>
          <p:nvPr/>
        </p:nvSpPr>
        <p:spPr>
          <a:xfrm>
            <a:off x="7993757" y="1592822"/>
            <a:ext cx="3393182" cy="4710995"/>
          </a:xfrm>
          <a:prstGeom prst="roundRect">
            <a:avLst>
              <a:gd name="adj" fmla="val 2491"/>
            </a:avLst>
          </a:prstGeom>
          <a:solidFill>
            <a:srgbClr val="E6E6E6"/>
          </a:solidFill>
          <a:ln w="9525" cap="flat" cmpd="sng">
            <a:solidFill>
              <a:srgbClr val="CCCCCC"/>
            </a:solidFill>
            <a:prstDash val="solid"/>
            <a:round/>
            <a:headEnd type="none" w="sm" len="sm"/>
            <a:tailEnd type="none" w="sm" len="sm"/>
          </a:ln>
        </p:spPr>
        <p:txBody>
          <a:bodyPr spcFirstLastPara="1" wrap="square" lIns="76184" tIns="76184" rIns="76184" bIns="76184" anchor="ctr" anchorCtr="0">
            <a:noAutofit/>
          </a:bodyPr>
          <a:lstStyle/>
          <a:p>
            <a:endParaRPr/>
          </a:p>
        </p:txBody>
      </p:sp>
      <p:sp>
        <p:nvSpPr>
          <p:cNvPr id="87" name="Google Shape;87;p15"/>
          <p:cNvSpPr/>
          <p:nvPr/>
        </p:nvSpPr>
        <p:spPr>
          <a:xfrm>
            <a:off x="8201323" y="1980503"/>
            <a:ext cx="603845" cy="603845"/>
          </a:xfrm>
          <a:prstGeom prst="roundRect">
            <a:avLst>
              <a:gd name="adj" fmla="val 12617870"/>
            </a:avLst>
          </a:prstGeom>
          <a:solidFill>
            <a:srgbClr val="CCCCCC"/>
          </a:solidFill>
          <a:ln>
            <a:noFill/>
          </a:ln>
        </p:spPr>
        <p:txBody>
          <a:bodyPr spcFirstLastPara="1" wrap="square" lIns="76184" tIns="76184" rIns="76184" bIns="76184" anchor="ctr" anchorCtr="0">
            <a:noAutofit/>
          </a:bodyPr>
          <a:lstStyle/>
          <a:p>
            <a:endParaRPr/>
          </a:p>
        </p:txBody>
      </p:sp>
      <p:pic>
        <p:nvPicPr>
          <p:cNvPr id="88" name="Google Shape;88;p15" descr="preencoded.png"/>
          <p:cNvPicPr preferRelativeResize="0"/>
          <p:nvPr/>
        </p:nvPicPr>
        <p:blipFill rotWithShape="1">
          <a:blip r:embed="rId5">
            <a:alphaModFix/>
          </a:blip>
          <a:srcRect/>
          <a:stretch/>
        </p:blipFill>
        <p:spPr>
          <a:xfrm>
            <a:off x="8367415" y="2146496"/>
            <a:ext cx="271661" cy="271661"/>
          </a:xfrm>
          <a:prstGeom prst="rect">
            <a:avLst/>
          </a:prstGeom>
          <a:noFill/>
          <a:ln>
            <a:noFill/>
          </a:ln>
        </p:spPr>
      </p:pic>
      <p:sp>
        <p:nvSpPr>
          <p:cNvPr id="89" name="Google Shape;89;p15"/>
          <p:cNvSpPr/>
          <p:nvPr/>
        </p:nvSpPr>
        <p:spPr>
          <a:xfrm>
            <a:off x="8201321" y="2785565"/>
            <a:ext cx="2854605" cy="276278"/>
          </a:xfrm>
          <a:prstGeom prst="rect">
            <a:avLst/>
          </a:prstGeom>
          <a:noFill/>
          <a:ln>
            <a:noFill/>
          </a:ln>
        </p:spPr>
        <p:txBody>
          <a:bodyPr spcFirstLastPara="1" wrap="square" lIns="0" tIns="0" rIns="0" bIns="0" anchor="t" anchorCtr="0">
            <a:noAutofit/>
          </a:bodyPr>
          <a:lstStyle/>
          <a:p>
            <a:pPr>
              <a:lnSpc>
                <a:spcPct val="123684"/>
              </a:lnSpc>
              <a:buClr>
                <a:srgbClr val="383838"/>
              </a:buClr>
              <a:buSzPts val="1900"/>
            </a:pPr>
            <a:r>
              <a:rPr lang="en-US" sz="1600" dirty="0">
                <a:solidFill>
                  <a:srgbClr val="383838"/>
                </a:solidFill>
                <a:latin typeface="Patrick Hand"/>
                <a:ea typeface="Patrick Hand"/>
                <a:cs typeface="Patrick Hand"/>
                <a:sym typeface="Patrick Hand"/>
              </a:rPr>
              <a:t>Reinforcement Learning</a:t>
            </a:r>
            <a:endParaRPr sz="1600"/>
          </a:p>
        </p:txBody>
      </p:sp>
      <p:sp>
        <p:nvSpPr>
          <p:cNvPr id="90" name="Google Shape;90;p15"/>
          <p:cNvSpPr/>
          <p:nvPr/>
        </p:nvSpPr>
        <p:spPr>
          <a:xfrm>
            <a:off x="8201323" y="3157932"/>
            <a:ext cx="2978051" cy="1610320"/>
          </a:xfrm>
          <a:prstGeom prst="rect">
            <a:avLst/>
          </a:prstGeom>
          <a:noFill/>
          <a:ln>
            <a:noFill/>
          </a:ln>
        </p:spPr>
        <p:txBody>
          <a:bodyPr spcFirstLastPara="1" wrap="square" lIns="0" tIns="0" rIns="0" bIns="0" anchor="t" anchorCtr="0">
            <a:noAutofit/>
          </a:bodyPr>
          <a:lstStyle/>
          <a:p>
            <a:pPr>
              <a:lnSpc>
                <a:spcPct val="157894"/>
              </a:lnSpc>
              <a:buClr>
                <a:srgbClr val="383838"/>
              </a:buClr>
              <a:buSzPts val="1900"/>
            </a:pPr>
            <a:r>
              <a:rPr lang="en-US" sz="1600" dirty="0">
                <a:solidFill>
                  <a:srgbClr val="383838"/>
                </a:solidFill>
                <a:latin typeface="Patrick Hand"/>
                <a:ea typeface="Patrick Hand"/>
                <a:cs typeface="Patrick Hand"/>
                <a:sym typeface="Patrick Hand"/>
              </a:rPr>
              <a:t>Machines learn independently through penalty and reward mechanisms—similar to human self-learning. The system improves through trial and error, optimizing decisions based on feedback.</a:t>
            </a:r>
            <a:endParaRPr sz="1600"/>
          </a:p>
        </p:txBody>
      </p:sp>
      <p:pic>
        <p:nvPicPr>
          <p:cNvPr id="2" name="Picture 2" descr="MAPS &amp; DIRECTIONS - Best Private University in Telangana &amp; Andhra Pradesh | KLH  Hyderabad">
            <a:extLst>
              <a:ext uri="{FF2B5EF4-FFF2-40B4-BE49-F238E27FC236}">
                <a16:creationId xmlns:a16="http://schemas.microsoft.com/office/drawing/2014/main" id="{21DD37BB-244F-E695-30CD-A725F04A530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283562" y="-416953"/>
            <a:ext cx="1908438" cy="141851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6"/>
          <p:cNvSpPr/>
          <p:nvPr/>
        </p:nvSpPr>
        <p:spPr>
          <a:xfrm>
            <a:off x="805061" y="595649"/>
            <a:ext cx="7244430" cy="503138"/>
          </a:xfrm>
          <a:prstGeom prst="rect">
            <a:avLst/>
          </a:prstGeom>
          <a:noFill/>
          <a:ln>
            <a:noFill/>
          </a:ln>
        </p:spPr>
        <p:txBody>
          <a:bodyPr spcFirstLastPara="1" wrap="square" lIns="0" tIns="0" rIns="0" bIns="0" anchor="t" anchorCtr="0">
            <a:noAutofit/>
          </a:bodyPr>
          <a:lstStyle/>
          <a:p>
            <a:pPr>
              <a:lnSpc>
                <a:spcPct val="125000"/>
              </a:lnSpc>
              <a:buClr>
                <a:srgbClr val="383838"/>
              </a:buClr>
              <a:buSzPts val="3800"/>
            </a:pPr>
            <a:r>
              <a:rPr lang="en-US" sz="4000" dirty="0">
                <a:solidFill>
                  <a:srgbClr val="383838"/>
                </a:solidFill>
                <a:latin typeface="Patrick Hand"/>
                <a:ea typeface="Patrick Hand"/>
                <a:cs typeface="Patrick Hand"/>
                <a:sym typeface="Patrick Hand"/>
              </a:rPr>
              <a:t>Real-World Applications</a:t>
            </a:r>
            <a:endParaRPr sz="4000"/>
          </a:p>
        </p:txBody>
      </p:sp>
      <p:sp>
        <p:nvSpPr>
          <p:cNvPr id="97" name="Google Shape;97;p16"/>
          <p:cNvSpPr/>
          <p:nvPr/>
        </p:nvSpPr>
        <p:spPr>
          <a:xfrm>
            <a:off x="805061" y="1702534"/>
            <a:ext cx="3171194" cy="292506"/>
          </a:xfrm>
          <a:prstGeom prst="rect">
            <a:avLst/>
          </a:prstGeom>
          <a:noFill/>
          <a:ln>
            <a:noFill/>
          </a:ln>
        </p:spPr>
        <p:txBody>
          <a:bodyPr spcFirstLastPara="1" wrap="square" lIns="0" tIns="0" rIns="0" bIns="0" anchor="t" anchorCtr="0">
            <a:noAutofit/>
          </a:bodyPr>
          <a:lstStyle/>
          <a:p>
            <a:pPr>
              <a:lnSpc>
                <a:spcPct val="123684"/>
              </a:lnSpc>
              <a:buClr>
                <a:srgbClr val="383838"/>
              </a:buClr>
              <a:buSzPts val="1900"/>
            </a:pPr>
            <a:r>
              <a:rPr lang="en-US" sz="2000" b="1" dirty="0">
                <a:solidFill>
                  <a:srgbClr val="383838"/>
                </a:solidFill>
                <a:latin typeface="Patrick Hand"/>
                <a:ea typeface="Patrick Hand"/>
                <a:cs typeface="Patrick Hand"/>
                <a:sym typeface="Patrick Hand"/>
              </a:rPr>
              <a:t>Banking &amp; Finance</a:t>
            </a:r>
            <a:endParaRPr sz="2000" b="1"/>
          </a:p>
        </p:txBody>
      </p:sp>
      <p:sp>
        <p:nvSpPr>
          <p:cNvPr id="98" name="Google Shape;98;p16"/>
          <p:cNvSpPr/>
          <p:nvPr/>
        </p:nvSpPr>
        <p:spPr>
          <a:xfrm>
            <a:off x="805061" y="2074902"/>
            <a:ext cx="3359547" cy="1610320"/>
          </a:xfrm>
          <a:prstGeom prst="rect">
            <a:avLst/>
          </a:prstGeom>
          <a:noFill/>
          <a:ln>
            <a:noFill/>
          </a:ln>
        </p:spPr>
        <p:txBody>
          <a:bodyPr spcFirstLastPara="1" wrap="square" lIns="0" tIns="0" rIns="0" bIns="0" anchor="t" anchorCtr="0">
            <a:noAutofit/>
          </a:bodyPr>
          <a:lstStyle/>
          <a:p>
            <a:pPr>
              <a:lnSpc>
                <a:spcPct val="157894"/>
              </a:lnSpc>
              <a:buClr>
                <a:srgbClr val="383838"/>
              </a:buClr>
              <a:buSzPts val="1900"/>
            </a:pPr>
            <a:r>
              <a:rPr lang="en-US" sz="2000" dirty="0">
                <a:solidFill>
                  <a:srgbClr val="383838"/>
                </a:solidFill>
                <a:latin typeface="Patrick Hand"/>
                <a:ea typeface="Patrick Hand"/>
                <a:cs typeface="Patrick Hand"/>
                <a:sym typeface="Patrick Hand"/>
              </a:rPr>
              <a:t>Fraud detection is a critical business case implemented in almost all banks worldwide, using machine learning predominantly to identify suspicious transactions and protect customers.</a:t>
            </a:r>
            <a:endParaRPr sz="2000"/>
          </a:p>
        </p:txBody>
      </p:sp>
      <p:sp>
        <p:nvSpPr>
          <p:cNvPr id="99" name="Google Shape;99;p16"/>
          <p:cNvSpPr/>
          <p:nvPr/>
        </p:nvSpPr>
        <p:spPr>
          <a:xfrm>
            <a:off x="4416127" y="1702534"/>
            <a:ext cx="2012752" cy="251619"/>
          </a:xfrm>
          <a:prstGeom prst="rect">
            <a:avLst/>
          </a:prstGeom>
          <a:noFill/>
          <a:ln>
            <a:noFill/>
          </a:ln>
        </p:spPr>
        <p:txBody>
          <a:bodyPr spcFirstLastPara="1" wrap="square" lIns="0" tIns="0" rIns="0" bIns="0" anchor="t" anchorCtr="0">
            <a:noAutofit/>
          </a:bodyPr>
          <a:lstStyle/>
          <a:p>
            <a:pPr>
              <a:lnSpc>
                <a:spcPct val="123684"/>
              </a:lnSpc>
              <a:buClr>
                <a:srgbClr val="383838"/>
              </a:buClr>
              <a:buSzPts val="1900"/>
            </a:pPr>
            <a:r>
              <a:rPr lang="en-US" sz="2000" b="1" dirty="0">
                <a:solidFill>
                  <a:srgbClr val="383838"/>
                </a:solidFill>
                <a:latin typeface="Patrick Hand"/>
                <a:ea typeface="Patrick Hand"/>
                <a:cs typeface="Patrick Hand"/>
                <a:sym typeface="Patrick Hand"/>
              </a:rPr>
              <a:t>Insurance</a:t>
            </a:r>
            <a:endParaRPr sz="2000" b="1"/>
          </a:p>
        </p:txBody>
      </p:sp>
      <p:sp>
        <p:nvSpPr>
          <p:cNvPr id="100" name="Google Shape;100;p16"/>
          <p:cNvSpPr/>
          <p:nvPr/>
        </p:nvSpPr>
        <p:spPr>
          <a:xfrm>
            <a:off x="4416128" y="2074902"/>
            <a:ext cx="3359646" cy="1288257"/>
          </a:xfrm>
          <a:prstGeom prst="rect">
            <a:avLst/>
          </a:prstGeom>
          <a:noFill/>
          <a:ln>
            <a:noFill/>
          </a:ln>
        </p:spPr>
        <p:txBody>
          <a:bodyPr spcFirstLastPara="1" wrap="square" lIns="0" tIns="0" rIns="0" bIns="0" anchor="t" anchorCtr="0">
            <a:noAutofit/>
          </a:bodyPr>
          <a:lstStyle/>
          <a:p>
            <a:pPr>
              <a:lnSpc>
                <a:spcPct val="157894"/>
              </a:lnSpc>
              <a:buClr>
                <a:srgbClr val="383838"/>
              </a:buClr>
              <a:buSzPts val="1900"/>
            </a:pPr>
            <a:r>
              <a:rPr lang="en-US" sz="2000" dirty="0">
                <a:solidFill>
                  <a:srgbClr val="383838"/>
                </a:solidFill>
                <a:latin typeface="Patrick Hand"/>
                <a:ea typeface="Patrick Hand"/>
                <a:cs typeface="Patrick Hand"/>
                <a:sym typeface="Patrick Hand"/>
              </a:rPr>
              <a:t>Risk prediction for new customers is a critical case in the insurance industry, applying machine learning to assess policyholder risk profiles and optimize pricing strategies.</a:t>
            </a:r>
            <a:endParaRPr sz="2000"/>
          </a:p>
        </p:txBody>
      </p:sp>
      <p:sp>
        <p:nvSpPr>
          <p:cNvPr id="101" name="Google Shape;101;p16"/>
          <p:cNvSpPr/>
          <p:nvPr/>
        </p:nvSpPr>
        <p:spPr>
          <a:xfrm>
            <a:off x="8027293" y="1702534"/>
            <a:ext cx="2012752" cy="251619"/>
          </a:xfrm>
          <a:prstGeom prst="rect">
            <a:avLst/>
          </a:prstGeom>
          <a:noFill/>
          <a:ln>
            <a:noFill/>
          </a:ln>
        </p:spPr>
        <p:txBody>
          <a:bodyPr spcFirstLastPara="1" wrap="square" lIns="0" tIns="0" rIns="0" bIns="0" anchor="t" anchorCtr="0">
            <a:noAutofit/>
          </a:bodyPr>
          <a:lstStyle/>
          <a:p>
            <a:pPr>
              <a:lnSpc>
                <a:spcPct val="123684"/>
              </a:lnSpc>
              <a:buClr>
                <a:srgbClr val="383838"/>
              </a:buClr>
              <a:buSzPts val="1900"/>
            </a:pPr>
            <a:r>
              <a:rPr lang="en-US" sz="2000" b="1" dirty="0">
                <a:solidFill>
                  <a:srgbClr val="383838"/>
                </a:solidFill>
                <a:latin typeface="Patrick Hand"/>
                <a:ea typeface="Patrick Hand"/>
                <a:cs typeface="Patrick Hand"/>
                <a:sym typeface="Patrick Hand"/>
              </a:rPr>
              <a:t>Healthcare</a:t>
            </a:r>
            <a:endParaRPr sz="2000" b="1"/>
          </a:p>
        </p:txBody>
      </p:sp>
      <p:sp>
        <p:nvSpPr>
          <p:cNvPr id="102" name="Google Shape;102;p16"/>
          <p:cNvSpPr/>
          <p:nvPr/>
        </p:nvSpPr>
        <p:spPr>
          <a:xfrm>
            <a:off x="8027293" y="2074902"/>
            <a:ext cx="3359547" cy="1288257"/>
          </a:xfrm>
          <a:prstGeom prst="rect">
            <a:avLst/>
          </a:prstGeom>
          <a:noFill/>
          <a:ln>
            <a:noFill/>
          </a:ln>
        </p:spPr>
        <p:txBody>
          <a:bodyPr spcFirstLastPara="1" wrap="square" lIns="0" tIns="0" rIns="0" bIns="0" anchor="t" anchorCtr="0">
            <a:noAutofit/>
          </a:bodyPr>
          <a:lstStyle/>
          <a:p>
            <a:pPr>
              <a:lnSpc>
                <a:spcPct val="157894"/>
              </a:lnSpc>
              <a:buClr>
                <a:srgbClr val="383838"/>
              </a:buClr>
              <a:buSzPts val="1900"/>
            </a:pPr>
            <a:r>
              <a:rPr lang="en-US" sz="2000" dirty="0">
                <a:solidFill>
                  <a:srgbClr val="383838"/>
                </a:solidFill>
                <a:latin typeface="Patrick Hand"/>
                <a:ea typeface="Patrick Hand"/>
                <a:cs typeface="Patrick Hand"/>
                <a:sym typeface="Patrick Hand"/>
              </a:rPr>
              <a:t>Disease prediction makes wide use of machine learning, especially in developed countries, enabling early diagnosis and personalized treatment plans through data analysis.</a:t>
            </a:r>
            <a:endParaRPr sz="2000"/>
          </a:p>
        </p:txBody>
      </p:sp>
      <p:pic>
        <p:nvPicPr>
          <p:cNvPr id="2" name="Picture 2" descr="MAPS &amp; DIRECTIONS - Best Private University in Telangana &amp; Andhra Pradesh | KLH  Hyderabad">
            <a:extLst>
              <a:ext uri="{FF2B5EF4-FFF2-40B4-BE49-F238E27FC236}">
                <a16:creationId xmlns:a16="http://schemas.microsoft.com/office/drawing/2014/main" id="{87217300-97C7-A62D-CFDA-5B925005F5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83562" y="-416953"/>
            <a:ext cx="1908438" cy="141851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pic>
        <p:nvPicPr>
          <p:cNvPr id="108" name="Google Shape;108;p17" descr="preencoded.png"/>
          <p:cNvPicPr preferRelativeResize="0"/>
          <p:nvPr/>
        </p:nvPicPr>
        <p:blipFill rotWithShape="1">
          <a:blip r:embed="rId3" cstate="print">
            <a:alphaModFix/>
          </a:blip>
          <a:srcRect/>
          <a:stretch/>
        </p:blipFill>
        <p:spPr>
          <a:xfrm>
            <a:off x="6677891" y="831272"/>
            <a:ext cx="4087089" cy="5569528"/>
          </a:xfrm>
          <a:prstGeom prst="rect">
            <a:avLst/>
          </a:prstGeom>
          <a:noFill/>
          <a:ln>
            <a:noFill/>
          </a:ln>
        </p:spPr>
      </p:pic>
      <p:sp>
        <p:nvSpPr>
          <p:cNvPr id="109" name="Google Shape;109;p17"/>
          <p:cNvSpPr/>
          <p:nvPr/>
        </p:nvSpPr>
        <p:spPr>
          <a:xfrm>
            <a:off x="1282113" y="180109"/>
            <a:ext cx="9787668" cy="351036"/>
          </a:xfrm>
          <a:prstGeom prst="rect">
            <a:avLst/>
          </a:prstGeom>
          <a:noFill/>
          <a:ln>
            <a:noFill/>
          </a:ln>
        </p:spPr>
        <p:txBody>
          <a:bodyPr spcFirstLastPara="1" wrap="square" lIns="0" tIns="0" rIns="0" bIns="0" anchor="t" anchorCtr="0">
            <a:noAutofit/>
          </a:bodyPr>
          <a:lstStyle/>
          <a:p>
            <a:pPr algn="ctr">
              <a:lnSpc>
                <a:spcPct val="124528"/>
              </a:lnSpc>
              <a:buClr>
                <a:srgbClr val="383838"/>
              </a:buClr>
              <a:buSzPts val="2650"/>
            </a:pPr>
            <a:r>
              <a:rPr lang="en-US" sz="3200" dirty="0">
                <a:solidFill>
                  <a:srgbClr val="383838"/>
                </a:solidFill>
                <a:latin typeface="Patrick Hand"/>
                <a:ea typeface="Patrick Hand"/>
                <a:cs typeface="Patrick Hand"/>
                <a:sym typeface="Patrick Hand"/>
              </a:rPr>
              <a:t>The Four-Step Machine Learning Process</a:t>
            </a:r>
            <a:endParaRPr sz="3200"/>
          </a:p>
        </p:txBody>
      </p:sp>
      <p:pic>
        <p:nvPicPr>
          <p:cNvPr id="110" name="Google Shape;110;p17" descr="preencoded.png"/>
          <p:cNvPicPr preferRelativeResize="0"/>
          <p:nvPr/>
        </p:nvPicPr>
        <p:blipFill rotWithShape="1">
          <a:blip r:embed="rId4">
            <a:alphaModFix/>
          </a:blip>
          <a:srcRect/>
          <a:stretch/>
        </p:blipFill>
        <p:spPr>
          <a:xfrm>
            <a:off x="561677" y="947837"/>
            <a:ext cx="702072" cy="1586309"/>
          </a:xfrm>
          <a:prstGeom prst="rect">
            <a:avLst/>
          </a:prstGeom>
          <a:noFill/>
          <a:ln>
            <a:noFill/>
          </a:ln>
        </p:spPr>
      </p:pic>
      <p:sp>
        <p:nvSpPr>
          <p:cNvPr id="111" name="Google Shape;111;p17"/>
          <p:cNvSpPr/>
          <p:nvPr/>
        </p:nvSpPr>
        <p:spPr>
          <a:xfrm>
            <a:off x="1404144" y="1088232"/>
            <a:ext cx="4096111" cy="283368"/>
          </a:xfrm>
          <a:prstGeom prst="rect">
            <a:avLst/>
          </a:prstGeom>
          <a:noFill/>
          <a:ln>
            <a:noFill/>
          </a:ln>
        </p:spPr>
        <p:txBody>
          <a:bodyPr spcFirstLastPara="1" wrap="square" lIns="0" tIns="0" rIns="0" bIns="0" anchor="t" anchorCtr="0">
            <a:noAutofit/>
          </a:bodyPr>
          <a:lstStyle/>
          <a:p>
            <a:pPr>
              <a:lnSpc>
                <a:spcPct val="126923"/>
              </a:lnSpc>
              <a:buClr>
                <a:srgbClr val="383838"/>
              </a:buClr>
              <a:buSzPts val="1300"/>
            </a:pPr>
            <a:r>
              <a:rPr lang="en-US" dirty="0">
                <a:solidFill>
                  <a:srgbClr val="383838"/>
                </a:solidFill>
                <a:latin typeface="Patrick Hand"/>
                <a:ea typeface="Patrick Hand"/>
                <a:cs typeface="Patrick Hand"/>
                <a:sym typeface="Patrick Hand"/>
              </a:rPr>
              <a:t>Step 1: Preparing to Model</a:t>
            </a:r>
            <a:endParaRPr/>
          </a:p>
        </p:txBody>
      </p:sp>
      <p:sp>
        <p:nvSpPr>
          <p:cNvPr id="112" name="Google Shape;112;p17"/>
          <p:cNvSpPr/>
          <p:nvPr/>
        </p:nvSpPr>
        <p:spPr>
          <a:xfrm>
            <a:off x="1404145" y="1347887"/>
            <a:ext cx="5654179" cy="224632"/>
          </a:xfrm>
          <a:prstGeom prst="rect">
            <a:avLst/>
          </a:prstGeom>
          <a:noFill/>
          <a:ln>
            <a:noFill/>
          </a:ln>
        </p:spPr>
        <p:txBody>
          <a:bodyPr spcFirstLastPara="1" wrap="square" lIns="0" tIns="0" rIns="0" bIns="0" anchor="t" anchorCtr="0">
            <a:noAutofit/>
          </a:bodyPr>
          <a:lstStyle/>
          <a:p>
            <a:pPr marL="285739" indent="-285739">
              <a:lnSpc>
                <a:spcPct val="161538"/>
              </a:lnSpc>
              <a:buClr>
                <a:srgbClr val="383838"/>
              </a:buClr>
              <a:buSzPts val="1300"/>
              <a:buFont typeface="Patrick Hand"/>
              <a:buChar char="•"/>
            </a:pPr>
            <a:r>
              <a:rPr lang="en-US" dirty="0">
                <a:solidFill>
                  <a:srgbClr val="383838"/>
                </a:solidFill>
                <a:latin typeface="Patrick Hand"/>
                <a:ea typeface="Patrick Hand"/>
                <a:cs typeface="Patrick Hand"/>
                <a:sym typeface="Patrick Hand"/>
              </a:rPr>
              <a:t>Understand data types</a:t>
            </a:r>
            <a:endParaRPr/>
          </a:p>
        </p:txBody>
      </p:sp>
      <p:sp>
        <p:nvSpPr>
          <p:cNvPr id="113" name="Google Shape;113;p17"/>
          <p:cNvSpPr/>
          <p:nvPr/>
        </p:nvSpPr>
        <p:spPr>
          <a:xfrm>
            <a:off x="1404145" y="1621632"/>
            <a:ext cx="5654179" cy="224632"/>
          </a:xfrm>
          <a:prstGeom prst="rect">
            <a:avLst/>
          </a:prstGeom>
          <a:noFill/>
          <a:ln>
            <a:noFill/>
          </a:ln>
        </p:spPr>
        <p:txBody>
          <a:bodyPr spcFirstLastPara="1" wrap="square" lIns="0" tIns="0" rIns="0" bIns="0" anchor="t" anchorCtr="0">
            <a:noAutofit/>
          </a:bodyPr>
          <a:lstStyle/>
          <a:p>
            <a:pPr marL="285739" indent="-285739">
              <a:lnSpc>
                <a:spcPct val="161538"/>
              </a:lnSpc>
              <a:buClr>
                <a:srgbClr val="383838"/>
              </a:buClr>
              <a:buSzPts val="1300"/>
              <a:buFont typeface="Patrick Hand"/>
              <a:buChar char="•"/>
            </a:pPr>
            <a:r>
              <a:rPr lang="en-US" dirty="0">
                <a:solidFill>
                  <a:srgbClr val="383838"/>
                </a:solidFill>
                <a:latin typeface="Patrick Hand"/>
                <a:ea typeface="Patrick Hand"/>
                <a:cs typeface="Patrick Hand"/>
                <a:sym typeface="Patrick Hand"/>
              </a:rPr>
              <a:t>Explore data quality</a:t>
            </a:r>
            <a:endParaRPr/>
          </a:p>
        </p:txBody>
      </p:sp>
      <p:sp>
        <p:nvSpPr>
          <p:cNvPr id="114" name="Google Shape;114;p17"/>
          <p:cNvSpPr/>
          <p:nvPr/>
        </p:nvSpPr>
        <p:spPr>
          <a:xfrm>
            <a:off x="1404145" y="1895376"/>
            <a:ext cx="5654179" cy="224632"/>
          </a:xfrm>
          <a:prstGeom prst="rect">
            <a:avLst/>
          </a:prstGeom>
          <a:noFill/>
          <a:ln>
            <a:noFill/>
          </a:ln>
        </p:spPr>
        <p:txBody>
          <a:bodyPr spcFirstLastPara="1" wrap="square" lIns="0" tIns="0" rIns="0" bIns="0" anchor="t" anchorCtr="0">
            <a:noAutofit/>
          </a:bodyPr>
          <a:lstStyle/>
          <a:p>
            <a:pPr marL="285739" indent="-285739">
              <a:lnSpc>
                <a:spcPct val="161538"/>
              </a:lnSpc>
              <a:buClr>
                <a:srgbClr val="383838"/>
              </a:buClr>
              <a:buSzPts val="1300"/>
              <a:buFont typeface="Patrick Hand"/>
              <a:buChar char="•"/>
            </a:pPr>
            <a:r>
              <a:rPr lang="en-US" dirty="0">
                <a:solidFill>
                  <a:srgbClr val="383838"/>
                </a:solidFill>
                <a:latin typeface="Patrick Hand"/>
                <a:ea typeface="Patrick Hand"/>
                <a:cs typeface="Patrick Hand"/>
                <a:sym typeface="Patrick Hand"/>
              </a:rPr>
              <a:t>Find potential issues</a:t>
            </a:r>
            <a:endParaRPr/>
          </a:p>
        </p:txBody>
      </p:sp>
      <p:sp>
        <p:nvSpPr>
          <p:cNvPr id="115" name="Google Shape;115;p17"/>
          <p:cNvSpPr/>
          <p:nvPr/>
        </p:nvSpPr>
        <p:spPr>
          <a:xfrm>
            <a:off x="1404145" y="2169120"/>
            <a:ext cx="5654179" cy="224632"/>
          </a:xfrm>
          <a:prstGeom prst="rect">
            <a:avLst/>
          </a:prstGeom>
          <a:noFill/>
          <a:ln>
            <a:noFill/>
          </a:ln>
        </p:spPr>
        <p:txBody>
          <a:bodyPr spcFirstLastPara="1" wrap="square" lIns="0" tIns="0" rIns="0" bIns="0" anchor="t" anchorCtr="0">
            <a:noAutofit/>
          </a:bodyPr>
          <a:lstStyle/>
          <a:p>
            <a:pPr marL="285739" indent="-285739">
              <a:lnSpc>
                <a:spcPct val="161538"/>
              </a:lnSpc>
              <a:buClr>
                <a:srgbClr val="383838"/>
              </a:buClr>
              <a:buSzPts val="1300"/>
              <a:buFont typeface="Patrick Hand"/>
              <a:buChar char="•"/>
            </a:pPr>
            <a:r>
              <a:rPr lang="en-US" dirty="0">
                <a:solidFill>
                  <a:srgbClr val="383838"/>
                </a:solidFill>
                <a:latin typeface="Patrick Hand"/>
                <a:ea typeface="Patrick Hand"/>
                <a:cs typeface="Patrick Hand"/>
                <a:sym typeface="Patrick Hand"/>
              </a:rPr>
              <a:t>Remediate and preprocess</a:t>
            </a:r>
            <a:endParaRPr/>
          </a:p>
        </p:txBody>
      </p:sp>
      <p:pic>
        <p:nvPicPr>
          <p:cNvPr id="116" name="Google Shape;116;p17" descr="preencoded.png"/>
          <p:cNvPicPr preferRelativeResize="0"/>
          <p:nvPr/>
        </p:nvPicPr>
        <p:blipFill rotWithShape="1">
          <a:blip r:embed="rId5">
            <a:alphaModFix/>
          </a:blip>
          <a:srcRect/>
          <a:stretch/>
        </p:blipFill>
        <p:spPr>
          <a:xfrm>
            <a:off x="561677" y="2534146"/>
            <a:ext cx="702072" cy="1312565"/>
          </a:xfrm>
          <a:prstGeom prst="rect">
            <a:avLst/>
          </a:prstGeom>
          <a:noFill/>
          <a:ln>
            <a:noFill/>
          </a:ln>
        </p:spPr>
      </p:pic>
      <p:sp>
        <p:nvSpPr>
          <p:cNvPr id="117" name="Google Shape;117;p17"/>
          <p:cNvSpPr/>
          <p:nvPr/>
        </p:nvSpPr>
        <p:spPr>
          <a:xfrm>
            <a:off x="1404144" y="2674540"/>
            <a:ext cx="3514220" cy="262623"/>
          </a:xfrm>
          <a:prstGeom prst="rect">
            <a:avLst/>
          </a:prstGeom>
          <a:noFill/>
          <a:ln>
            <a:noFill/>
          </a:ln>
        </p:spPr>
        <p:txBody>
          <a:bodyPr spcFirstLastPara="1" wrap="square" lIns="0" tIns="0" rIns="0" bIns="0" anchor="t" anchorCtr="0">
            <a:noAutofit/>
          </a:bodyPr>
          <a:lstStyle/>
          <a:p>
            <a:pPr>
              <a:lnSpc>
                <a:spcPct val="126923"/>
              </a:lnSpc>
              <a:buClr>
                <a:srgbClr val="383838"/>
              </a:buClr>
              <a:buSzPts val="1300"/>
            </a:pPr>
            <a:r>
              <a:rPr lang="en-US" dirty="0">
                <a:solidFill>
                  <a:srgbClr val="383838"/>
                </a:solidFill>
                <a:latin typeface="Patrick Hand"/>
                <a:ea typeface="Patrick Hand"/>
                <a:cs typeface="Patrick Hand"/>
                <a:sym typeface="Patrick Hand"/>
              </a:rPr>
              <a:t>Step 2: Learning</a:t>
            </a:r>
            <a:endParaRPr/>
          </a:p>
        </p:txBody>
      </p:sp>
      <p:sp>
        <p:nvSpPr>
          <p:cNvPr id="118" name="Google Shape;118;p17"/>
          <p:cNvSpPr/>
          <p:nvPr/>
        </p:nvSpPr>
        <p:spPr>
          <a:xfrm>
            <a:off x="1404145" y="2934196"/>
            <a:ext cx="5654179" cy="224632"/>
          </a:xfrm>
          <a:prstGeom prst="rect">
            <a:avLst/>
          </a:prstGeom>
          <a:noFill/>
          <a:ln>
            <a:noFill/>
          </a:ln>
        </p:spPr>
        <p:txBody>
          <a:bodyPr spcFirstLastPara="1" wrap="square" lIns="0" tIns="0" rIns="0" bIns="0" anchor="t" anchorCtr="0">
            <a:noAutofit/>
          </a:bodyPr>
          <a:lstStyle/>
          <a:p>
            <a:pPr marL="285739" indent="-285739">
              <a:lnSpc>
                <a:spcPct val="161538"/>
              </a:lnSpc>
              <a:buClr>
                <a:srgbClr val="383838"/>
              </a:buClr>
              <a:buSzPts val="1300"/>
              <a:buFont typeface="Patrick Hand"/>
              <a:buChar char="•"/>
            </a:pPr>
            <a:r>
              <a:rPr lang="en-US" dirty="0">
                <a:solidFill>
                  <a:srgbClr val="383838"/>
                </a:solidFill>
                <a:latin typeface="Patrick Hand"/>
                <a:ea typeface="Patrick Hand"/>
                <a:cs typeface="Patrick Hand"/>
                <a:sym typeface="Patrick Hand"/>
              </a:rPr>
              <a:t>Data partitioning</a:t>
            </a:r>
            <a:endParaRPr/>
          </a:p>
        </p:txBody>
      </p:sp>
      <p:sp>
        <p:nvSpPr>
          <p:cNvPr id="119" name="Google Shape;119;p17"/>
          <p:cNvSpPr/>
          <p:nvPr/>
        </p:nvSpPr>
        <p:spPr>
          <a:xfrm>
            <a:off x="1404145" y="3207941"/>
            <a:ext cx="5654179" cy="224632"/>
          </a:xfrm>
          <a:prstGeom prst="rect">
            <a:avLst/>
          </a:prstGeom>
          <a:noFill/>
          <a:ln>
            <a:noFill/>
          </a:ln>
        </p:spPr>
        <p:txBody>
          <a:bodyPr spcFirstLastPara="1" wrap="square" lIns="0" tIns="0" rIns="0" bIns="0" anchor="t" anchorCtr="0">
            <a:noAutofit/>
          </a:bodyPr>
          <a:lstStyle/>
          <a:p>
            <a:pPr marL="285739" indent="-285739">
              <a:lnSpc>
                <a:spcPct val="161538"/>
              </a:lnSpc>
              <a:buClr>
                <a:srgbClr val="383838"/>
              </a:buClr>
              <a:buSzPts val="1300"/>
              <a:buFont typeface="Patrick Hand"/>
              <a:buChar char="•"/>
            </a:pPr>
            <a:r>
              <a:rPr lang="en-US" dirty="0">
                <a:solidFill>
                  <a:srgbClr val="383838"/>
                </a:solidFill>
                <a:latin typeface="Patrick Hand"/>
                <a:ea typeface="Patrick Hand"/>
                <a:cs typeface="Patrick Hand"/>
                <a:sym typeface="Patrick Hand"/>
              </a:rPr>
              <a:t>Model selection</a:t>
            </a:r>
            <a:endParaRPr/>
          </a:p>
        </p:txBody>
      </p:sp>
      <p:sp>
        <p:nvSpPr>
          <p:cNvPr id="120" name="Google Shape;120;p17"/>
          <p:cNvSpPr/>
          <p:nvPr/>
        </p:nvSpPr>
        <p:spPr>
          <a:xfrm>
            <a:off x="1404145" y="3481685"/>
            <a:ext cx="5654179" cy="224632"/>
          </a:xfrm>
          <a:prstGeom prst="rect">
            <a:avLst/>
          </a:prstGeom>
          <a:noFill/>
          <a:ln>
            <a:noFill/>
          </a:ln>
        </p:spPr>
        <p:txBody>
          <a:bodyPr spcFirstLastPara="1" wrap="square" lIns="0" tIns="0" rIns="0" bIns="0" anchor="t" anchorCtr="0">
            <a:noAutofit/>
          </a:bodyPr>
          <a:lstStyle/>
          <a:p>
            <a:pPr marL="285739" indent="-285739">
              <a:lnSpc>
                <a:spcPct val="161538"/>
              </a:lnSpc>
              <a:buClr>
                <a:srgbClr val="383838"/>
              </a:buClr>
              <a:buSzPts val="1300"/>
              <a:buFont typeface="Patrick Hand"/>
              <a:buChar char="•"/>
            </a:pPr>
            <a:r>
              <a:rPr lang="en-US" dirty="0">
                <a:solidFill>
                  <a:srgbClr val="383838"/>
                </a:solidFill>
                <a:latin typeface="Patrick Hand"/>
                <a:ea typeface="Patrick Hand"/>
                <a:cs typeface="Patrick Hand"/>
                <a:sym typeface="Patrick Hand"/>
              </a:rPr>
              <a:t>Cross-validation</a:t>
            </a:r>
            <a:endParaRPr/>
          </a:p>
        </p:txBody>
      </p:sp>
      <p:pic>
        <p:nvPicPr>
          <p:cNvPr id="121" name="Google Shape;121;p17" descr="preencoded.png"/>
          <p:cNvPicPr preferRelativeResize="0"/>
          <p:nvPr/>
        </p:nvPicPr>
        <p:blipFill rotWithShape="1">
          <a:blip r:embed="rId6">
            <a:alphaModFix/>
          </a:blip>
          <a:srcRect/>
          <a:stretch/>
        </p:blipFill>
        <p:spPr>
          <a:xfrm>
            <a:off x="561677" y="3846711"/>
            <a:ext cx="702072" cy="1312565"/>
          </a:xfrm>
          <a:prstGeom prst="rect">
            <a:avLst/>
          </a:prstGeom>
          <a:noFill/>
          <a:ln>
            <a:noFill/>
          </a:ln>
        </p:spPr>
      </p:pic>
      <p:sp>
        <p:nvSpPr>
          <p:cNvPr id="122" name="Google Shape;122;p17"/>
          <p:cNvSpPr/>
          <p:nvPr/>
        </p:nvSpPr>
        <p:spPr>
          <a:xfrm>
            <a:off x="1404144" y="3987106"/>
            <a:ext cx="4331638" cy="321658"/>
          </a:xfrm>
          <a:prstGeom prst="rect">
            <a:avLst/>
          </a:prstGeom>
          <a:noFill/>
          <a:ln>
            <a:noFill/>
          </a:ln>
        </p:spPr>
        <p:txBody>
          <a:bodyPr spcFirstLastPara="1" wrap="square" lIns="0" tIns="0" rIns="0" bIns="0" anchor="t" anchorCtr="0">
            <a:noAutofit/>
          </a:bodyPr>
          <a:lstStyle/>
          <a:p>
            <a:pPr>
              <a:lnSpc>
                <a:spcPct val="126923"/>
              </a:lnSpc>
              <a:buClr>
                <a:srgbClr val="383838"/>
              </a:buClr>
              <a:buSzPts val="1300"/>
            </a:pPr>
            <a:r>
              <a:rPr lang="en-US" dirty="0">
                <a:solidFill>
                  <a:srgbClr val="383838"/>
                </a:solidFill>
                <a:latin typeface="Patrick Hand"/>
                <a:ea typeface="Patrick Hand"/>
                <a:cs typeface="Patrick Hand"/>
                <a:sym typeface="Patrick Hand"/>
              </a:rPr>
              <a:t>Step 3: Performance Evaluation</a:t>
            </a:r>
            <a:endParaRPr/>
          </a:p>
        </p:txBody>
      </p:sp>
      <p:sp>
        <p:nvSpPr>
          <p:cNvPr id="123" name="Google Shape;123;p17"/>
          <p:cNvSpPr/>
          <p:nvPr/>
        </p:nvSpPr>
        <p:spPr>
          <a:xfrm>
            <a:off x="1404145" y="4246761"/>
            <a:ext cx="5654179" cy="224632"/>
          </a:xfrm>
          <a:prstGeom prst="rect">
            <a:avLst/>
          </a:prstGeom>
          <a:noFill/>
          <a:ln>
            <a:noFill/>
          </a:ln>
        </p:spPr>
        <p:txBody>
          <a:bodyPr spcFirstLastPara="1" wrap="square" lIns="0" tIns="0" rIns="0" bIns="0" anchor="t" anchorCtr="0">
            <a:noAutofit/>
          </a:bodyPr>
          <a:lstStyle/>
          <a:p>
            <a:pPr marL="285739" indent="-285739">
              <a:lnSpc>
                <a:spcPct val="161538"/>
              </a:lnSpc>
              <a:buClr>
                <a:srgbClr val="383838"/>
              </a:buClr>
              <a:buSzPts val="1300"/>
              <a:buFont typeface="Patrick Hand"/>
              <a:buChar char="•"/>
            </a:pPr>
            <a:r>
              <a:rPr lang="en-US" dirty="0">
                <a:solidFill>
                  <a:srgbClr val="383838"/>
                </a:solidFill>
                <a:latin typeface="Patrick Hand"/>
                <a:ea typeface="Patrick Hand"/>
                <a:cs typeface="Patrick Hand"/>
                <a:sym typeface="Patrick Hand"/>
              </a:rPr>
              <a:t>Examine model performance</a:t>
            </a:r>
            <a:endParaRPr/>
          </a:p>
        </p:txBody>
      </p:sp>
      <p:sp>
        <p:nvSpPr>
          <p:cNvPr id="124" name="Google Shape;124;p17"/>
          <p:cNvSpPr/>
          <p:nvPr/>
        </p:nvSpPr>
        <p:spPr>
          <a:xfrm>
            <a:off x="1404145" y="4520506"/>
            <a:ext cx="5654179" cy="224632"/>
          </a:xfrm>
          <a:prstGeom prst="rect">
            <a:avLst/>
          </a:prstGeom>
          <a:noFill/>
          <a:ln>
            <a:noFill/>
          </a:ln>
        </p:spPr>
        <p:txBody>
          <a:bodyPr spcFirstLastPara="1" wrap="square" lIns="0" tIns="0" rIns="0" bIns="0" anchor="t" anchorCtr="0">
            <a:noAutofit/>
          </a:bodyPr>
          <a:lstStyle/>
          <a:p>
            <a:pPr marL="285739" indent="-285739">
              <a:lnSpc>
                <a:spcPct val="161538"/>
              </a:lnSpc>
              <a:buClr>
                <a:srgbClr val="383838"/>
              </a:buClr>
              <a:buSzPts val="1300"/>
              <a:buFont typeface="Patrick Hand"/>
              <a:buChar char="•"/>
            </a:pPr>
            <a:r>
              <a:rPr lang="en-US" dirty="0">
                <a:solidFill>
                  <a:srgbClr val="383838"/>
                </a:solidFill>
                <a:latin typeface="Patrick Hand"/>
                <a:ea typeface="Patrick Hand"/>
                <a:cs typeface="Patrick Hand"/>
                <a:sym typeface="Patrick Hand"/>
              </a:rPr>
              <a:t>Visualize trade-offs</a:t>
            </a:r>
            <a:endParaRPr/>
          </a:p>
        </p:txBody>
      </p:sp>
      <p:sp>
        <p:nvSpPr>
          <p:cNvPr id="125" name="Google Shape;125;p17"/>
          <p:cNvSpPr/>
          <p:nvPr/>
        </p:nvSpPr>
        <p:spPr>
          <a:xfrm>
            <a:off x="1404145" y="4794250"/>
            <a:ext cx="5654179" cy="224632"/>
          </a:xfrm>
          <a:prstGeom prst="rect">
            <a:avLst/>
          </a:prstGeom>
          <a:noFill/>
          <a:ln>
            <a:noFill/>
          </a:ln>
        </p:spPr>
        <p:txBody>
          <a:bodyPr spcFirstLastPara="1" wrap="square" lIns="0" tIns="0" rIns="0" bIns="0" anchor="t" anchorCtr="0">
            <a:noAutofit/>
          </a:bodyPr>
          <a:lstStyle/>
          <a:p>
            <a:pPr marL="285739" indent="-285739">
              <a:lnSpc>
                <a:spcPct val="161538"/>
              </a:lnSpc>
              <a:buClr>
                <a:srgbClr val="383838"/>
              </a:buClr>
              <a:buSzPts val="1300"/>
              <a:buFont typeface="Patrick Hand"/>
              <a:buChar char="•"/>
            </a:pPr>
            <a:r>
              <a:rPr lang="en-US" dirty="0">
                <a:solidFill>
                  <a:srgbClr val="383838"/>
                </a:solidFill>
                <a:latin typeface="Patrick Hand"/>
                <a:ea typeface="Patrick Hand"/>
                <a:cs typeface="Patrick Hand"/>
                <a:sym typeface="Patrick Hand"/>
              </a:rPr>
              <a:t>Use confusion matrices</a:t>
            </a:r>
            <a:endParaRPr/>
          </a:p>
        </p:txBody>
      </p:sp>
      <p:pic>
        <p:nvPicPr>
          <p:cNvPr id="126" name="Google Shape;126;p17" descr="preencoded.png"/>
          <p:cNvPicPr preferRelativeResize="0"/>
          <p:nvPr/>
        </p:nvPicPr>
        <p:blipFill rotWithShape="1">
          <a:blip r:embed="rId7">
            <a:alphaModFix/>
          </a:blip>
          <a:srcRect/>
          <a:stretch/>
        </p:blipFill>
        <p:spPr>
          <a:xfrm>
            <a:off x="561677" y="5159276"/>
            <a:ext cx="702072" cy="1312565"/>
          </a:xfrm>
          <a:prstGeom prst="rect">
            <a:avLst/>
          </a:prstGeom>
          <a:noFill/>
          <a:ln>
            <a:noFill/>
          </a:ln>
        </p:spPr>
      </p:pic>
      <p:sp>
        <p:nvSpPr>
          <p:cNvPr id="127" name="Google Shape;127;p17"/>
          <p:cNvSpPr/>
          <p:nvPr/>
        </p:nvSpPr>
        <p:spPr>
          <a:xfrm>
            <a:off x="1404144" y="5299669"/>
            <a:ext cx="4622583" cy="214440"/>
          </a:xfrm>
          <a:prstGeom prst="rect">
            <a:avLst/>
          </a:prstGeom>
          <a:noFill/>
          <a:ln>
            <a:noFill/>
          </a:ln>
        </p:spPr>
        <p:txBody>
          <a:bodyPr spcFirstLastPara="1" wrap="square" lIns="0" tIns="0" rIns="0" bIns="0" anchor="t" anchorCtr="0">
            <a:noAutofit/>
          </a:bodyPr>
          <a:lstStyle/>
          <a:p>
            <a:pPr>
              <a:lnSpc>
                <a:spcPct val="126923"/>
              </a:lnSpc>
              <a:buClr>
                <a:srgbClr val="383838"/>
              </a:buClr>
              <a:buSzPts val="1300"/>
            </a:pPr>
            <a:r>
              <a:rPr lang="en-US" dirty="0">
                <a:solidFill>
                  <a:srgbClr val="383838"/>
                </a:solidFill>
                <a:latin typeface="Patrick Hand"/>
                <a:ea typeface="Patrick Hand"/>
                <a:cs typeface="Patrick Hand"/>
                <a:sym typeface="Patrick Hand"/>
              </a:rPr>
              <a:t>Step 4: Performance Improvement</a:t>
            </a:r>
            <a:endParaRPr/>
          </a:p>
        </p:txBody>
      </p:sp>
      <p:sp>
        <p:nvSpPr>
          <p:cNvPr id="128" name="Google Shape;128;p17"/>
          <p:cNvSpPr/>
          <p:nvPr/>
        </p:nvSpPr>
        <p:spPr>
          <a:xfrm>
            <a:off x="1404145" y="5559326"/>
            <a:ext cx="5654179" cy="224632"/>
          </a:xfrm>
          <a:prstGeom prst="rect">
            <a:avLst/>
          </a:prstGeom>
          <a:noFill/>
          <a:ln>
            <a:noFill/>
          </a:ln>
        </p:spPr>
        <p:txBody>
          <a:bodyPr spcFirstLastPara="1" wrap="square" lIns="0" tIns="0" rIns="0" bIns="0" anchor="t" anchorCtr="0">
            <a:noAutofit/>
          </a:bodyPr>
          <a:lstStyle/>
          <a:p>
            <a:pPr marL="285739" indent="-285739">
              <a:lnSpc>
                <a:spcPct val="161538"/>
              </a:lnSpc>
              <a:buClr>
                <a:srgbClr val="383838"/>
              </a:buClr>
              <a:buSzPts val="1300"/>
              <a:buFont typeface="Patrick Hand"/>
              <a:buChar char="•"/>
            </a:pPr>
            <a:r>
              <a:rPr lang="en-US" dirty="0">
                <a:solidFill>
                  <a:srgbClr val="383838"/>
                </a:solidFill>
                <a:latin typeface="Patrick Hand"/>
                <a:ea typeface="Patrick Hand"/>
                <a:cs typeface="Patrick Hand"/>
                <a:sym typeface="Patrick Hand"/>
              </a:rPr>
              <a:t>Tuning the model</a:t>
            </a:r>
            <a:endParaRPr/>
          </a:p>
        </p:txBody>
      </p:sp>
      <p:sp>
        <p:nvSpPr>
          <p:cNvPr id="129" name="Google Shape;129;p17"/>
          <p:cNvSpPr/>
          <p:nvPr/>
        </p:nvSpPr>
        <p:spPr>
          <a:xfrm>
            <a:off x="1404145" y="5833070"/>
            <a:ext cx="5654179" cy="224632"/>
          </a:xfrm>
          <a:prstGeom prst="rect">
            <a:avLst/>
          </a:prstGeom>
          <a:noFill/>
          <a:ln>
            <a:noFill/>
          </a:ln>
        </p:spPr>
        <p:txBody>
          <a:bodyPr spcFirstLastPara="1" wrap="square" lIns="0" tIns="0" rIns="0" bIns="0" anchor="t" anchorCtr="0">
            <a:noAutofit/>
          </a:bodyPr>
          <a:lstStyle/>
          <a:p>
            <a:pPr marL="285739" indent="-285739">
              <a:lnSpc>
                <a:spcPct val="161538"/>
              </a:lnSpc>
              <a:buClr>
                <a:srgbClr val="383838"/>
              </a:buClr>
              <a:buSzPts val="1300"/>
              <a:buFont typeface="Patrick Hand"/>
              <a:buChar char="•"/>
            </a:pPr>
            <a:r>
              <a:rPr lang="en-US" dirty="0" err="1">
                <a:solidFill>
                  <a:srgbClr val="383838"/>
                </a:solidFill>
                <a:latin typeface="Patrick Hand"/>
                <a:ea typeface="Patrick Hand"/>
                <a:cs typeface="Patrick Hand"/>
                <a:sym typeface="Patrick Hand"/>
              </a:rPr>
              <a:t>Ensembling</a:t>
            </a:r>
            <a:endParaRPr/>
          </a:p>
        </p:txBody>
      </p:sp>
      <p:sp>
        <p:nvSpPr>
          <p:cNvPr id="130" name="Google Shape;130;p17"/>
          <p:cNvSpPr/>
          <p:nvPr/>
        </p:nvSpPr>
        <p:spPr>
          <a:xfrm>
            <a:off x="1404145" y="6106815"/>
            <a:ext cx="5654179" cy="224632"/>
          </a:xfrm>
          <a:prstGeom prst="rect">
            <a:avLst/>
          </a:prstGeom>
          <a:noFill/>
          <a:ln>
            <a:noFill/>
          </a:ln>
        </p:spPr>
        <p:txBody>
          <a:bodyPr spcFirstLastPara="1" wrap="square" lIns="0" tIns="0" rIns="0" bIns="0" anchor="t" anchorCtr="0">
            <a:noAutofit/>
          </a:bodyPr>
          <a:lstStyle/>
          <a:p>
            <a:pPr marL="285739" indent="-285739">
              <a:lnSpc>
                <a:spcPct val="161538"/>
              </a:lnSpc>
              <a:buClr>
                <a:srgbClr val="383838"/>
              </a:buClr>
              <a:buSzPts val="1300"/>
              <a:buFont typeface="Patrick Hand"/>
              <a:buChar char="•"/>
            </a:pPr>
            <a:r>
              <a:rPr lang="en-US" dirty="0">
                <a:solidFill>
                  <a:srgbClr val="383838"/>
                </a:solidFill>
                <a:latin typeface="Patrick Hand"/>
                <a:ea typeface="Patrick Hand"/>
                <a:cs typeface="Patrick Hand"/>
                <a:sym typeface="Patrick Hand"/>
              </a:rPr>
              <a:t>Bagging and boosting</a:t>
            </a:r>
            <a:endParaRPr/>
          </a:p>
        </p:txBody>
      </p:sp>
      <p:pic>
        <p:nvPicPr>
          <p:cNvPr id="2" name="Picture 2" descr="MAPS &amp; DIRECTIONS - Best Private University in Telangana &amp; Andhra Pradesh | KLH  Hyderabad">
            <a:extLst>
              <a:ext uri="{FF2B5EF4-FFF2-40B4-BE49-F238E27FC236}">
                <a16:creationId xmlns:a16="http://schemas.microsoft.com/office/drawing/2014/main" id="{15E967A1-CAD0-3EE0-C52F-C2E3C2B2C37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283562" y="-416953"/>
            <a:ext cx="1908438" cy="141851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18"/>
          <p:cNvSpPr/>
          <p:nvPr/>
        </p:nvSpPr>
        <p:spPr>
          <a:xfrm>
            <a:off x="2190515" y="372991"/>
            <a:ext cx="7632357" cy="503138"/>
          </a:xfrm>
          <a:prstGeom prst="rect">
            <a:avLst/>
          </a:prstGeom>
          <a:noFill/>
          <a:ln>
            <a:noFill/>
          </a:ln>
        </p:spPr>
        <p:txBody>
          <a:bodyPr spcFirstLastPara="1" wrap="square" lIns="0" tIns="0" rIns="0" bIns="0" anchor="t" anchorCtr="0">
            <a:noAutofit/>
          </a:bodyPr>
          <a:lstStyle/>
          <a:p>
            <a:pPr algn="ctr">
              <a:lnSpc>
                <a:spcPct val="125000"/>
              </a:lnSpc>
              <a:buClr>
                <a:srgbClr val="383838"/>
              </a:buClr>
              <a:buSzPts val="3800"/>
            </a:pPr>
            <a:r>
              <a:rPr lang="en-US" sz="3200" dirty="0">
                <a:solidFill>
                  <a:srgbClr val="383838"/>
                </a:solidFill>
                <a:latin typeface="Patrick Hand"/>
                <a:ea typeface="Patrick Hand"/>
                <a:cs typeface="Patrick Hand"/>
                <a:sym typeface="Patrick Hand"/>
              </a:rPr>
              <a:t>Understanding Data Types</a:t>
            </a:r>
            <a:endParaRPr sz="3200"/>
          </a:p>
        </p:txBody>
      </p:sp>
      <p:sp>
        <p:nvSpPr>
          <p:cNvPr id="137" name="Google Shape;137;p18"/>
          <p:cNvSpPr/>
          <p:nvPr/>
        </p:nvSpPr>
        <p:spPr>
          <a:xfrm>
            <a:off x="818915" y="1406978"/>
            <a:ext cx="4182575" cy="269424"/>
          </a:xfrm>
          <a:prstGeom prst="rect">
            <a:avLst/>
          </a:prstGeom>
          <a:noFill/>
          <a:ln>
            <a:noFill/>
          </a:ln>
        </p:spPr>
        <p:txBody>
          <a:bodyPr spcFirstLastPara="1" wrap="square" lIns="0" tIns="0" rIns="0" bIns="0" anchor="t" anchorCtr="0">
            <a:noAutofit/>
          </a:bodyPr>
          <a:lstStyle/>
          <a:p>
            <a:pPr>
              <a:lnSpc>
                <a:spcPct val="126666"/>
              </a:lnSpc>
              <a:buClr>
                <a:srgbClr val="383838"/>
              </a:buClr>
              <a:buSzPts val="2250"/>
            </a:pPr>
            <a:r>
              <a:rPr lang="en-US" sz="1900" b="1" dirty="0">
                <a:solidFill>
                  <a:srgbClr val="383838"/>
                </a:solidFill>
                <a:latin typeface="Patrick Hand"/>
                <a:ea typeface="Patrick Hand"/>
                <a:cs typeface="Patrick Hand"/>
                <a:sym typeface="Patrick Hand"/>
              </a:rPr>
              <a:t>Qualitative (Categorical) Data</a:t>
            </a:r>
            <a:endParaRPr sz="1900" b="1"/>
          </a:p>
        </p:txBody>
      </p:sp>
      <p:sp>
        <p:nvSpPr>
          <p:cNvPr id="138" name="Google Shape;138;p18"/>
          <p:cNvSpPr/>
          <p:nvPr/>
        </p:nvSpPr>
        <p:spPr>
          <a:xfrm>
            <a:off x="805061" y="1923869"/>
            <a:ext cx="5045472" cy="644128"/>
          </a:xfrm>
          <a:prstGeom prst="rect">
            <a:avLst/>
          </a:prstGeom>
          <a:noFill/>
          <a:ln>
            <a:noFill/>
          </a:ln>
        </p:spPr>
        <p:txBody>
          <a:bodyPr spcFirstLastPara="1" wrap="square" lIns="0" tIns="0" rIns="0" bIns="0" anchor="t" anchorCtr="0">
            <a:noAutofit/>
          </a:bodyPr>
          <a:lstStyle/>
          <a:p>
            <a:pPr>
              <a:lnSpc>
                <a:spcPct val="157894"/>
              </a:lnSpc>
              <a:buClr>
                <a:srgbClr val="383838"/>
              </a:buClr>
              <a:buSzPts val="1900"/>
            </a:pPr>
            <a:r>
              <a:rPr lang="en-US" sz="1600" dirty="0">
                <a:solidFill>
                  <a:srgbClr val="383838"/>
                </a:solidFill>
                <a:latin typeface="Patrick Hand"/>
                <a:ea typeface="Patrick Hand"/>
                <a:cs typeface="Patrick Hand"/>
                <a:sym typeface="Patrick Hand"/>
              </a:rPr>
              <a:t>Information about quality that cannot be measured. Examples include blood group (A, B, O, AB), nationality, and gender.</a:t>
            </a:r>
            <a:endParaRPr sz="1600"/>
          </a:p>
        </p:txBody>
      </p:sp>
      <p:sp>
        <p:nvSpPr>
          <p:cNvPr id="139" name="Google Shape;139;p18"/>
          <p:cNvSpPr/>
          <p:nvPr/>
        </p:nvSpPr>
        <p:spPr>
          <a:xfrm>
            <a:off x="805061" y="3157141"/>
            <a:ext cx="4653630" cy="403477"/>
          </a:xfrm>
          <a:prstGeom prst="rect">
            <a:avLst/>
          </a:prstGeom>
          <a:noFill/>
          <a:ln>
            <a:noFill/>
          </a:ln>
        </p:spPr>
        <p:txBody>
          <a:bodyPr spcFirstLastPara="1" wrap="square" lIns="0" tIns="0" rIns="0" bIns="0" anchor="t" anchorCtr="0">
            <a:noAutofit/>
          </a:bodyPr>
          <a:lstStyle/>
          <a:p>
            <a:pPr>
              <a:lnSpc>
                <a:spcPct val="123684"/>
              </a:lnSpc>
              <a:buClr>
                <a:srgbClr val="383838"/>
              </a:buClr>
              <a:buSzPts val="1900"/>
            </a:pPr>
            <a:r>
              <a:rPr lang="en-US" sz="1600" b="1" dirty="0">
                <a:solidFill>
                  <a:srgbClr val="383838"/>
                </a:solidFill>
                <a:latin typeface="Patrick Hand"/>
                <a:ea typeface="Patrick Hand"/>
                <a:cs typeface="Patrick Hand"/>
                <a:sym typeface="Patrick Hand"/>
              </a:rPr>
              <a:t>Nominal Data</a:t>
            </a:r>
            <a:endParaRPr sz="1600" b="1"/>
          </a:p>
        </p:txBody>
      </p:sp>
      <p:sp>
        <p:nvSpPr>
          <p:cNvPr id="140" name="Google Shape;140;p18"/>
          <p:cNvSpPr/>
          <p:nvPr/>
        </p:nvSpPr>
        <p:spPr>
          <a:xfrm>
            <a:off x="805061" y="3609975"/>
            <a:ext cx="5045472" cy="644128"/>
          </a:xfrm>
          <a:prstGeom prst="rect">
            <a:avLst/>
          </a:prstGeom>
          <a:noFill/>
          <a:ln>
            <a:noFill/>
          </a:ln>
        </p:spPr>
        <p:txBody>
          <a:bodyPr spcFirstLastPara="1" wrap="square" lIns="0" tIns="0" rIns="0" bIns="0" anchor="t" anchorCtr="0">
            <a:noAutofit/>
          </a:bodyPr>
          <a:lstStyle/>
          <a:p>
            <a:pPr>
              <a:lnSpc>
                <a:spcPct val="157894"/>
              </a:lnSpc>
              <a:buClr>
                <a:srgbClr val="383838"/>
              </a:buClr>
              <a:buSzPts val="1900"/>
            </a:pPr>
            <a:r>
              <a:rPr lang="en-US" sz="1600" dirty="0">
                <a:solidFill>
                  <a:srgbClr val="383838"/>
                </a:solidFill>
                <a:latin typeface="Patrick Hand"/>
                <a:ea typeface="Patrick Hand"/>
                <a:cs typeface="Patrick Hand"/>
                <a:sym typeface="Patrick Hand"/>
              </a:rPr>
              <a:t>Named values with no numeric value or natural order. Cannot be quantified. Mode can be identified but not mean or median.</a:t>
            </a:r>
            <a:endParaRPr sz="1600"/>
          </a:p>
        </p:txBody>
      </p:sp>
      <p:sp>
        <p:nvSpPr>
          <p:cNvPr id="141" name="Google Shape;141;p18"/>
          <p:cNvSpPr/>
          <p:nvPr/>
        </p:nvSpPr>
        <p:spPr>
          <a:xfrm>
            <a:off x="818915" y="4773974"/>
            <a:ext cx="4875303" cy="421480"/>
          </a:xfrm>
          <a:prstGeom prst="rect">
            <a:avLst/>
          </a:prstGeom>
          <a:noFill/>
          <a:ln>
            <a:noFill/>
          </a:ln>
        </p:spPr>
        <p:txBody>
          <a:bodyPr spcFirstLastPara="1" wrap="square" lIns="0" tIns="0" rIns="0" bIns="0" anchor="t" anchorCtr="0">
            <a:noAutofit/>
          </a:bodyPr>
          <a:lstStyle/>
          <a:p>
            <a:pPr>
              <a:lnSpc>
                <a:spcPct val="123684"/>
              </a:lnSpc>
              <a:buClr>
                <a:srgbClr val="383838"/>
              </a:buClr>
              <a:buSzPts val="1900"/>
            </a:pPr>
            <a:r>
              <a:rPr lang="en-US" sz="1600" b="1" dirty="0">
                <a:solidFill>
                  <a:srgbClr val="383838"/>
                </a:solidFill>
                <a:latin typeface="Patrick Hand"/>
                <a:ea typeface="Patrick Hand"/>
                <a:cs typeface="Patrick Hand"/>
                <a:sym typeface="Patrick Hand"/>
              </a:rPr>
              <a:t>Ordinal Data</a:t>
            </a:r>
            <a:endParaRPr sz="1600" b="1"/>
          </a:p>
        </p:txBody>
      </p:sp>
      <p:sp>
        <p:nvSpPr>
          <p:cNvPr id="142" name="Google Shape;142;p18"/>
          <p:cNvSpPr/>
          <p:nvPr/>
        </p:nvSpPr>
        <p:spPr>
          <a:xfrm>
            <a:off x="805061" y="5115972"/>
            <a:ext cx="5045472" cy="966193"/>
          </a:xfrm>
          <a:prstGeom prst="rect">
            <a:avLst/>
          </a:prstGeom>
          <a:noFill/>
          <a:ln>
            <a:noFill/>
          </a:ln>
        </p:spPr>
        <p:txBody>
          <a:bodyPr spcFirstLastPara="1" wrap="square" lIns="0" tIns="0" rIns="0" bIns="0" anchor="t" anchorCtr="0">
            <a:noAutofit/>
          </a:bodyPr>
          <a:lstStyle/>
          <a:p>
            <a:pPr>
              <a:lnSpc>
                <a:spcPct val="157894"/>
              </a:lnSpc>
              <a:buClr>
                <a:srgbClr val="383838"/>
              </a:buClr>
              <a:buSzPts val="1900"/>
            </a:pPr>
            <a:r>
              <a:rPr lang="en-US" sz="1600" dirty="0">
                <a:solidFill>
                  <a:srgbClr val="383838"/>
                </a:solidFill>
                <a:latin typeface="Patrick Hand"/>
                <a:ea typeface="Patrick Hand"/>
                <a:cs typeface="Patrick Hand"/>
                <a:sym typeface="Patrick Hand"/>
              </a:rPr>
              <a:t>Named values that can be naturally ordered (e.g., customer satisfaction: Very Happy, Happy, Unhappy). Mode and median can be identified, but not mean.</a:t>
            </a:r>
            <a:endParaRPr sz="1600"/>
          </a:p>
        </p:txBody>
      </p:sp>
      <p:sp>
        <p:nvSpPr>
          <p:cNvPr id="143" name="Google Shape;143;p18"/>
          <p:cNvSpPr/>
          <p:nvPr/>
        </p:nvSpPr>
        <p:spPr>
          <a:xfrm>
            <a:off x="6347816" y="1309994"/>
            <a:ext cx="4361747" cy="352551"/>
          </a:xfrm>
          <a:prstGeom prst="rect">
            <a:avLst/>
          </a:prstGeom>
          <a:noFill/>
          <a:ln>
            <a:noFill/>
          </a:ln>
        </p:spPr>
        <p:txBody>
          <a:bodyPr spcFirstLastPara="1" wrap="square" lIns="0" tIns="0" rIns="0" bIns="0" anchor="t" anchorCtr="0">
            <a:noAutofit/>
          </a:bodyPr>
          <a:lstStyle/>
          <a:p>
            <a:pPr>
              <a:lnSpc>
                <a:spcPct val="126666"/>
              </a:lnSpc>
              <a:buClr>
                <a:srgbClr val="383838"/>
              </a:buClr>
              <a:buSzPts val="2250"/>
            </a:pPr>
            <a:r>
              <a:rPr lang="en-US" sz="1900" b="1" dirty="0">
                <a:solidFill>
                  <a:srgbClr val="383838"/>
                </a:solidFill>
                <a:latin typeface="Patrick Hand"/>
                <a:ea typeface="Patrick Hand"/>
                <a:cs typeface="Patrick Hand"/>
                <a:sym typeface="Patrick Hand"/>
              </a:rPr>
              <a:t>Quantitative (Numeric) Data</a:t>
            </a:r>
            <a:endParaRPr sz="1900" b="1"/>
          </a:p>
        </p:txBody>
      </p:sp>
      <p:sp>
        <p:nvSpPr>
          <p:cNvPr id="144" name="Google Shape;144;p18"/>
          <p:cNvSpPr/>
          <p:nvPr/>
        </p:nvSpPr>
        <p:spPr>
          <a:xfrm>
            <a:off x="6333962" y="1840742"/>
            <a:ext cx="5045472" cy="322064"/>
          </a:xfrm>
          <a:prstGeom prst="rect">
            <a:avLst/>
          </a:prstGeom>
          <a:noFill/>
          <a:ln>
            <a:noFill/>
          </a:ln>
        </p:spPr>
        <p:txBody>
          <a:bodyPr spcFirstLastPara="1" wrap="square" lIns="0" tIns="0" rIns="0" bIns="0" anchor="t" anchorCtr="0">
            <a:noAutofit/>
          </a:bodyPr>
          <a:lstStyle/>
          <a:p>
            <a:pPr>
              <a:lnSpc>
                <a:spcPct val="157894"/>
              </a:lnSpc>
              <a:buClr>
                <a:srgbClr val="383838"/>
              </a:buClr>
              <a:buSzPts val="1900"/>
            </a:pPr>
            <a:r>
              <a:rPr lang="en-US" sz="1600" dirty="0">
                <a:solidFill>
                  <a:srgbClr val="383838"/>
                </a:solidFill>
                <a:latin typeface="Patrick Hand"/>
                <a:ea typeface="Patrick Hand"/>
                <a:cs typeface="Patrick Hand"/>
                <a:sym typeface="Patrick Hand"/>
              </a:rPr>
              <a:t>Information about quantity that can be measured using a scale.</a:t>
            </a:r>
            <a:endParaRPr sz="1600"/>
          </a:p>
        </p:txBody>
      </p:sp>
      <p:sp>
        <p:nvSpPr>
          <p:cNvPr id="145" name="Google Shape;145;p18"/>
          <p:cNvSpPr/>
          <p:nvPr/>
        </p:nvSpPr>
        <p:spPr>
          <a:xfrm>
            <a:off x="6347817" y="2668823"/>
            <a:ext cx="2012752" cy="251619"/>
          </a:xfrm>
          <a:prstGeom prst="rect">
            <a:avLst/>
          </a:prstGeom>
          <a:noFill/>
          <a:ln>
            <a:noFill/>
          </a:ln>
        </p:spPr>
        <p:txBody>
          <a:bodyPr spcFirstLastPara="1" wrap="square" lIns="0" tIns="0" rIns="0" bIns="0" anchor="t" anchorCtr="0">
            <a:noAutofit/>
          </a:bodyPr>
          <a:lstStyle/>
          <a:p>
            <a:pPr>
              <a:lnSpc>
                <a:spcPct val="123684"/>
              </a:lnSpc>
              <a:buClr>
                <a:srgbClr val="383838"/>
              </a:buClr>
              <a:buSzPts val="1900"/>
            </a:pPr>
            <a:r>
              <a:rPr lang="en-US" sz="1600" b="1" dirty="0">
                <a:solidFill>
                  <a:srgbClr val="383838"/>
                </a:solidFill>
                <a:latin typeface="Patrick Hand"/>
                <a:ea typeface="Patrick Hand"/>
                <a:cs typeface="Patrick Hand"/>
                <a:sym typeface="Patrick Hand"/>
              </a:rPr>
              <a:t>Interval Data</a:t>
            </a:r>
            <a:endParaRPr sz="1600" b="1"/>
          </a:p>
        </p:txBody>
      </p:sp>
      <p:sp>
        <p:nvSpPr>
          <p:cNvPr id="146" name="Google Shape;146;p18"/>
          <p:cNvSpPr/>
          <p:nvPr/>
        </p:nvSpPr>
        <p:spPr>
          <a:xfrm>
            <a:off x="6306254" y="3024674"/>
            <a:ext cx="5045472" cy="1288257"/>
          </a:xfrm>
          <a:prstGeom prst="rect">
            <a:avLst/>
          </a:prstGeom>
          <a:noFill/>
          <a:ln>
            <a:noFill/>
          </a:ln>
        </p:spPr>
        <p:txBody>
          <a:bodyPr spcFirstLastPara="1" wrap="square" lIns="0" tIns="0" rIns="0" bIns="0" anchor="t" anchorCtr="0">
            <a:noAutofit/>
          </a:bodyPr>
          <a:lstStyle/>
          <a:p>
            <a:pPr>
              <a:lnSpc>
                <a:spcPct val="157894"/>
              </a:lnSpc>
              <a:buClr>
                <a:srgbClr val="383838"/>
              </a:buClr>
              <a:buSzPts val="1900"/>
            </a:pPr>
            <a:r>
              <a:rPr lang="en-US" sz="1600" dirty="0">
                <a:solidFill>
                  <a:srgbClr val="383838"/>
                </a:solidFill>
                <a:latin typeface="Patrick Hand"/>
                <a:ea typeface="Patrick Hand"/>
                <a:cs typeface="Patrick Hand"/>
                <a:sym typeface="Patrick Hand"/>
              </a:rPr>
              <a:t>Numeric data where order and exact differences are known (e.g., Celsius temperature). Addition and subtraction possible. Mean, median, mode, and standard deviation can be calculated. No true zero value.</a:t>
            </a:r>
            <a:endParaRPr sz="1600"/>
          </a:p>
        </p:txBody>
      </p:sp>
      <p:sp>
        <p:nvSpPr>
          <p:cNvPr id="147" name="Google Shape;147;p18"/>
          <p:cNvSpPr/>
          <p:nvPr/>
        </p:nvSpPr>
        <p:spPr>
          <a:xfrm>
            <a:off x="6333963" y="4943637"/>
            <a:ext cx="3585892" cy="404217"/>
          </a:xfrm>
          <a:prstGeom prst="rect">
            <a:avLst/>
          </a:prstGeom>
          <a:noFill/>
          <a:ln>
            <a:noFill/>
          </a:ln>
        </p:spPr>
        <p:txBody>
          <a:bodyPr spcFirstLastPara="1" wrap="square" lIns="0" tIns="0" rIns="0" bIns="0" anchor="t" anchorCtr="0">
            <a:noAutofit/>
          </a:bodyPr>
          <a:lstStyle/>
          <a:p>
            <a:pPr>
              <a:lnSpc>
                <a:spcPct val="123684"/>
              </a:lnSpc>
              <a:buClr>
                <a:srgbClr val="383838"/>
              </a:buClr>
              <a:buSzPts val="1900"/>
            </a:pPr>
            <a:r>
              <a:rPr lang="en-US" sz="1600" b="1" dirty="0">
                <a:solidFill>
                  <a:srgbClr val="383838"/>
                </a:solidFill>
                <a:latin typeface="Patrick Hand"/>
                <a:ea typeface="Patrick Hand"/>
                <a:cs typeface="Patrick Hand"/>
                <a:sym typeface="Patrick Hand"/>
              </a:rPr>
              <a:t>Ratio Data</a:t>
            </a:r>
            <a:endParaRPr sz="1600" b="1"/>
          </a:p>
        </p:txBody>
      </p:sp>
      <p:sp>
        <p:nvSpPr>
          <p:cNvPr id="148" name="Google Shape;148;p18"/>
          <p:cNvSpPr/>
          <p:nvPr/>
        </p:nvSpPr>
        <p:spPr>
          <a:xfrm>
            <a:off x="6347817" y="5230218"/>
            <a:ext cx="5045472" cy="644128"/>
          </a:xfrm>
          <a:prstGeom prst="rect">
            <a:avLst/>
          </a:prstGeom>
          <a:noFill/>
          <a:ln>
            <a:noFill/>
          </a:ln>
        </p:spPr>
        <p:txBody>
          <a:bodyPr spcFirstLastPara="1" wrap="square" lIns="0" tIns="0" rIns="0" bIns="0" anchor="t" anchorCtr="0">
            <a:noAutofit/>
          </a:bodyPr>
          <a:lstStyle/>
          <a:p>
            <a:pPr>
              <a:lnSpc>
                <a:spcPct val="157894"/>
              </a:lnSpc>
              <a:buClr>
                <a:srgbClr val="383838"/>
              </a:buClr>
              <a:buSzPts val="1900"/>
            </a:pPr>
            <a:r>
              <a:rPr lang="en-US" sz="1600" dirty="0">
                <a:solidFill>
                  <a:srgbClr val="383838"/>
                </a:solidFill>
                <a:latin typeface="Patrick Hand"/>
                <a:ea typeface="Patrick Hand"/>
                <a:cs typeface="Patrick Hand"/>
                <a:sym typeface="Patrick Hand"/>
              </a:rPr>
              <a:t>Numeric data with exact measurable values and absolute zero (e.g., height, weight, age, salary). All mathematical operations possible.</a:t>
            </a:r>
            <a:endParaRPr sz="1600"/>
          </a:p>
        </p:txBody>
      </p:sp>
      <p:pic>
        <p:nvPicPr>
          <p:cNvPr id="2" name="Picture 2" descr="MAPS &amp; DIRECTIONS - Best Private University in Telangana &amp; Andhra Pradesh | KLH  Hyderabad">
            <a:extLst>
              <a:ext uri="{FF2B5EF4-FFF2-40B4-BE49-F238E27FC236}">
                <a16:creationId xmlns:a16="http://schemas.microsoft.com/office/drawing/2014/main" id="{CFC6CA6D-F75F-BF85-FCA1-C67AC27076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83562" y="-416953"/>
            <a:ext cx="1908438" cy="141851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5" name="Google Shape;155;p19"/>
          <p:cNvSpPr/>
          <p:nvPr/>
        </p:nvSpPr>
        <p:spPr>
          <a:xfrm>
            <a:off x="787597" y="541437"/>
            <a:ext cx="6555311" cy="483799"/>
          </a:xfrm>
          <a:prstGeom prst="rect">
            <a:avLst/>
          </a:prstGeom>
          <a:noFill/>
          <a:ln>
            <a:noFill/>
          </a:ln>
        </p:spPr>
        <p:txBody>
          <a:bodyPr spcFirstLastPara="1" wrap="square" lIns="0" tIns="0" rIns="0" bIns="0" anchor="t" anchorCtr="0">
            <a:noAutofit/>
          </a:bodyPr>
          <a:lstStyle/>
          <a:p>
            <a:pPr>
              <a:lnSpc>
                <a:spcPct val="125675"/>
              </a:lnSpc>
              <a:buClr>
                <a:srgbClr val="383838"/>
              </a:buClr>
              <a:buSzPts val="3700"/>
            </a:pPr>
            <a:r>
              <a:rPr lang="en-US" sz="3100" dirty="0">
                <a:solidFill>
                  <a:srgbClr val="383838"/>
                </a:solidFill>
                <a:latin typeface="Patrick Hand"/>
                <a:ea typeface="Patrick Hand"/>
                <a:cs typeface="Patrick Hand"/>
                <a:sym typeface="Patrick Hand"/>
              </a:rPr>
              <a:t>Exploring the Auto MPG Dataset</a:t>
            </a:r>
            <a:endParaRPr sz="3100"/>
          </a:p>
        </p:txBody>
      </p:sp>
      <p:sp>
        <p:nvSpPr>
          <p:cNvPr id="156" name="Google Shape;156;p19"/>
          <p:cNvSpPr/>
          <p:nvPr/>
        </p:nvSpPr>
        <p:spPr>
          <a:xfrm>
            <a:off x="466923" y="1324007"/>
            <a:ext cx="6044803" cy="945356"/>
          </a:xfrm>
          <a:prstGeom prst="rect">
            <a:avLst/>
          </a:prstGeom>
          <a:noFill/>
          <a:ln>
            <a:noFill/>
          </a:ln>
        </p:spPr>
        <p:txBody>
          <a:bodyPr spcFirstLastPara="1" wrap="square" lIns="0" tIns="0" rIns="0" bIns="0" anchor="t" anchorCtr="0">
            <a:noAutofit/>
          </a:bodyPr>
          <a:lstStyle/>
          <a:p>
            <a:pPr>
              <a:lnSpc>
                <a:spcPct val="159459"/>
              </a:lnSpc>
              <a:buClr>
                <a:srgbClr val="383838"/>
              </a:buClr>
              <a:buSzPts val="1850"/>
            </a:pPr>
            <a:r>
              <a:rPr lang="en-US" sz="1500" dirty="0">
                <a:solidFill>
                  <a:srgbClr val="383838"/>
                </a:solidFill>
                <a:latin typeface="Patrick Hand"/>
                <a:ea typeface="Patrick Hand"/>
                <a:cs typeface="Patrick Hand"/>
                <a:sym typeface="Patrick Hand"/>
              </a:rPr>
              <a:t>The Auto MPG dataset from UCI Machine Learning Repository serves as our reference example. It contains information about fuel consumption in miles per gallon (mpg) for various vehicles.</a:t>
            </a:r>
            <a:endParaRPr sz="1500" dirty="0"/>
          </a:p>
        </p:txBody>
      </p:sp>
      <p:sp>
        <p:nvSpPr>
          <p:cNvPr id="157" name="Google Shape;157;p19"/>
          <p:cNvSpPr/>
          <p:nvPr/>
        </p:nvSpPr>
        <p:spPr>
          <a:xfrm>
            <a:off x="787599" y="2495747"/>
            <a:ext cx="2828438" cy="2353343"/>
          </a:xfrm>
          <a:prstGeom prst="roundRect">
            <a:avLst>
              <a:gd name="adj" fmla="val 3781"/>
            </a:avLst>
          </a:prstGeom>
          <a:solidFill>
            <a:srgbClr val="F7F7F7"/>
          </a:solidFill>
          <a:ln w="30475" cap="flat" cmpd="sng">
            <a:solidFill>
              <a:srgbClr val="CCCCCC"/>
            </a:solidFill>
            <a:prstDash val="solid"/>
            <a:round/>
            <a:headEnd type="none" w="sm" len="sm"/>
            <a:tailEnd type="none" w="sm" len="sm"/>
          </a:ln>
        </p:spPr>
        <p:txBody>
          <a:bodyPr spcFirstLastPara="1" wrap="square" lIns="76184" tIns="76184" rIns="76184" bIns="76184" anchor="ctr" anchorCtr="0">
            <a:noAutofit/>
          </a:bodyPr>
          <a:lstStyle/>
          <a:p>
            <a:endParaRPr/>
          </a:p>
        </p:txBody>
      </p:sp>
      <p:sp>
        <p:nvSpPr>
          <p:cNvPr id="158" name="Google Shape;158;p19"/>
          <p:cNvSpPr/>
          <p:nvPr/>
        </p:nvSpPr>
        <p:spPr>
          <a:xfrm>
            <a:off x="1009849" y="2717998"/>
            <a:ext cx="1968996" cy="246162"/>
          </a:xfrm>
          <a:prstGeom prst="rect">
            <a:avLst/>
          </a:prstGeom>
          <a:noFill/>
          <a:ln>
            <a:noFill/>
          </a:ln>
        </p:spPr>
        <p:txBody>
          <a:bodyPr spcFirstLastPara="1" wrap="square" lIns="0" tIns="0" rIns="0" bIns="0" anchor="t" anchorCtr="0">
            <a:noAutofit/>
          </a:bodyPr>
          <a:lstStyle/>
          <a:p>
            <a:pPr>
              <a:lnSpc>
                <a:spcPct val="124324"/>
              </a:lnSpc>
              <a:buClr>
                <a:srgbClr val="383838"/>
              </a:buClr>
              <a:buSzPts val="1850"/>
            </a:pPr>
            <a:r>
              <a:rPr lang="en-US" sz="1500" dirty="0">
                <a:solidFill>
                  <a:srgbClr val="383838"/>
                </a:solidFill>
                <a:latin typeface="Patrick Hand"/>
                <a:ea typeface="Patrick Hand"/>
                <a:cs typeface="Patrick Hand"/>
                <a:sym typeface="Patrick Hand"/>
              </a:rPr>
              <a:t>Numeric Attributes</a:t>
            </a:r>
            <a:endParaRPr sz="1500" dirty="0"/>
          </a:p>
        </p:txBody>
      </p:sp>
      <p:sp>
        <p:nvSpPr>
          <p:cNvPr id="159" name="Google Shape;159;p19"/>
          <p:cNvSpPr/>
          <p:nvPr/>
        </p:nvSpPr>
        <p:spPr>
          <a:xfrm>
            <a:off x="1009848" y="3082231"/>
            <a:ext cx="2479477" cy="630238"/>
          </a:xfrm>
          <a:prstGeom prst="rect">
            <a:avLst/>
          </a:prstGeom>
          <a:noFill/>
          <a:ln>
            <a:noFill/>
          </a:ln>
        </p:spPr>
        <p:txBody>
          <a:bodyPr spcFirstLastPara="1" wrap="square" lIns="0" tIns="0" rIns="0" bIns="0" anchor="t" anchorCtr="0">
            <a:noAutofit/>
          </a:bodyPr>
          <a:lstStyle/>
          <a:p>
            <a:pPr>
              <a:lnSpc>
                <a:spcPct val="159459"/>
              </a:lnSpc>
              <a:buClr>
                <a:srgbClr val="383838"/>
              </a:buClr>
              <a:buSzPts val="1850"/>
            </a:pPr>
            <a:r>
              <a:rPr lang="en-US" sz="1500" b="1" dirty="0">
                <a:solidFill>
                  <a:srgbClr val="383838"/>
                </a:solidFill>
                <a:latin typeface="Patrick Hand"/>
                <a:ea typeface="Patrick Hand"/>
                <a:cs typeface="Patrick Hand"/>
                <a:sym typeface="Patrick Hand"/>
              </a:rPr>
              <a:t>Continuous:</a:t>
            </a:r>
            <a:r>
              <a:rPr lang="en-US" sz="1500" dirty="0">
                <a:solidFill>
                  <a:srgbClr val="383838"/>
                </a:solidFill>
                <a:latin typeface="Patrick Hand"/>
                <a:ea typeface="Patrick Hand"/>
                <a:cs typeface="Patrick Hand"/>
                <a:sym typeface="Patrick Hand"/>
              </a:rPr>
              <a:t> mpg, displacement, horsepower, weight, acceleration</a:t>
            </a:r>
            <a:endParaRPr sz="1500"/>
          </a:p>
        </p:txBody>
      </p:sp>
      <p:sp>
        <p:nvSpPr>
          <p:cNvPr id="160" name="Google Shape;160;p19"/>
          <p:cNvSpPr/>
          <p:nvPr/>
        </p:nvSpPr>
        <p:spPr>
          <a:xfrm>
            <a:off x="995993" y="4121484"/>
            <a:ext cx="2479477" cy="630238"/>
          </a:xfrm>
          <a:prstGeom prst="rect">
            <a:avLst/>
          </a:prstGeom>
          <a:noFill/>
          <a:ln>
            <a:noFill/>
          </a:ln>
        </p:spPr>
        <p:txBody>
          <a:bodyPr spcFirstLastPara="1" wrap="square" lIns="0" tIns="0" rIns="0" bIns="0" anchor="t" anchorCtr="0">
            <a:noAutofit/>
          </a:bodyPr>
          <a:lstStyle/>
          <a:p>
            <a:pPr>
              <a:lnSpc>
                <a:spcPct val="159459"/>
              </a:lnSpc>
              <a:buClr>
                <a:srgbClr val="383838"/>
              </a:buClr>
              <a:buSzPts val="1850"/>
            </a:pPr>
            <a:r>
              <a:rPr lang="en-US" sz="1500" b="1" dirty="0">
                <a:solidFill>
                  <a:srgbClr val="383838"/>
                </a:solidFill>
                <a:latin typeface="Patrick Hand"/>
                <a:ea typeface="Patrick Hand"/>
                <a:cs typeface="Patrick Hand"/>
                <a:sym typeface="Patrick Hand"/>
              </a:rPr>
              <a:t>Discrete:</a:t>
            </a:r>
            <a:r>
              <a:rPr lang="en-US" sz="1500" dirty="0">
                <a:solidFill>
                  <a:srgbClr val="383838"/>
                </a:solidFill>
                <a:latin typeface="Patrick Hand"/>
                <a:ea typeface="Patrick Hand"/>
                <a:cs typeface="Patrick Hand"/>
                <a:sym typeface="Patrick Hand"/>
              </a:rPr>
              <a:t> cylinders, model year, origin</a:t>
            </a:r>
            <a:endParaRPr sz="1500"/>
          </a:p>
        </p:txBody>
      </p:sp>
      <p:sp>
        <p:nvSpPr>
          <p:cNvPr id="161" name="Google Shape;161;p19"/>
          <p:cNvSpPr/>
          <p:nvPr/>
        </p:nvSpPr>
        <p:spPr>
          <a:xfrm>
            <a:off x="3908425" y="2495747"/>
            <a:ext cx="2923977" cy="2311779"/>
          </a:xfrm>
          <a:prstGeom prst="roundRect">
            <a:avLst>
              <a:gd name="adj" fmla="val 3781"/>
            </a:avLst>
          </a:prstGeom>
          <a:solidFill>
            <a:srgbClr val="F7F7F7"/>
          </a:solidFill>
          <a:ln w="30475" cap="flat" cmpd="sng">
            <a:solidFill>
              <a:srgbClr val="CCCCCC"/>
            </a:solidFill>
            <a:prstDash val="solid"/>
            <a:round/>
            <a:headEnd type="none" w="sm" len="sm"/>
            <a:tailEnd type="none" w="sm" len="sm"/>
          </a:ln>
        </p:spPr>
        <p:txBody>
          <a:bodyPr spcFirstLastPara="1" wrap="square" lIns="76184" tIns="76184" rIns="76184" bIns="76184" anchor="ctr" anchorCtr="0">
            <a:noAutofit/>
          </a:bodyPr>
          <a:lstStyle/>
          <a:p>
            <a:endParaRPr/>
          </a:p>
        </p:txBody>
      </p:sp>
      <p:sp>
        <p:nvSpPr>
          <p:cNvPr id="162" name="Google Shape;162;p19"/>
          <p:cNvSpPr/>
          <p:nvPr/>
        </p:nvSpPr>
        <p:spPr>
          <a:xfrm>
            <a:off x="4130675" y="2717998"/>
            <a:ext cx="1968996" cy="246162"/>
          </a:xfrm>
          <a:prstGeom prst="rect">
            <a:avLst/>
          </a:prstGeom>
          <a:noFill/>
          <a:ln>
            <a:noFill/>
          </a:ln>
        </p:spPr>
        <p:txBody>
          <a:bodyPr spcFirstLastPara="1" wrap="square" lIns="0" tIns="0" rIns="0" bIns="0" anchor="t" anchorCtr="0">
            <a:noAutofit/>
          </a:bodyPr>
          <a:lstStyle/>
          <a:p>
            <a:pPr>
              <a:lnSpc>
                <a:spcPct val="124324"/>
              </a:lnSpc>
              <a:buClr>
                <a:srgbClr val="383838"/>
              </a:buClr>
              <a:buSzPts val="1850"/>
            </a:pPr>
            <a:r>
              <a:rPr lang="en-US" sz="1500" dirty="0">
                <a:solidFill>
                  <a:srgbClr val="383838"/>
                </a:solidFill>
                <a:latin typeface="Patrick Hand"/>
                <a:ea typeface="Patrick Hand"/>
                <a:cs typeface="Patrick Hand"/>
                <a:sym typeface="Patrick Hand"/>
              </a:rPr>
              <a:t>Categorical Attributes</a:t>
            </a:r>
            <a:endParaRPr sz="1500"/>
          </a:p>
        </p:txBody>
      </p:sp>
      <p:sp>
        <p:nvSpPr>
          <p:cNvPr id="163" name="Google Shape;163;p19"/>
          <p:cNvSpPr/>
          <p:nvPr/>
        </p:nvSpPr>
        <p:spPr>
          <a:xfrm>
            <a:off x="4130675" y="3082231"/>
            <a:ext cx="2479477" cy="315119"/>
          </a:xfrm>
          <a:prstGeom prst="rect">
            <a:avLst/>
          </a:prstGeom>
          <a:noFill/>
          <a:ln>
            <a:noFill/>
          </a:ln>
        </p:spPr>
        <p:txBody>
          <a:bodyPr spcFirstLastPara="1" wrap="square" lIns="0" tIns="0" rIns="0" bIns="0" anchor="t" anchorCtr="0">
            <a:noAutofit/>
          </a:bodyPr>
          <a:lstStyle/>
          <a:p>
            <a:pPr>
              <a:lnSpc>
                <a:spcPct val="159459"/>
              </a:lnSpc>
              <a:buClr>
                <a:srgbClr val="383838"/>
              </a:buClr>
              <a:buSzPts val="1850"/>
            </a:pPr>
            <a:r>
              <a:rPr lang="en-US" sz="1500" b="1" dirty="0">
                <a:solidFill>
                  <a:srgbClr val="383838"/>
                </a:solidFill>
                <a:latin typeface="Patrick Hand"/>
                <a:ea typeface="Patrick Hand"/>
                <a:cs typeface="Patrick Hand"/>
                <a:sym typeface="Patrick Hand"/>
              </a:rPr>
              <a:t>Nominal:</a:t>
            </a:r>
            <a:r>
              <a:rPr lang="en-US" sz="1500" dirty="0">
                <a:solidFill>
                  <a:srgbClr val="383838"/>
                </a:solidFill>
                <a:latin typeface="Patrick Hand"/>
                <a:ea typeface="Patrick Hand"/>
                <a:cs typeface="Patrick Hand"/>
                <a:sym typeface="Patrick Hand"/>
              </a:rPr>
              <a:t> car name</a:t>
            </a:r>
            <a:endParaRPr sz="1500" dirty="0"/>
          </a:p>
        </p:txBody>
      </p:sp>
      <p:sp>
        <p:nvSpPr>
          <p:cNvPr id="164" name="Google Shape;164;p19"/>
          <p:cNvSpPr/>
          <p:nvPr/>
        </p:nvSpPr>
        <p:spPr>
          <a:xfrm>
            <a:off x="746035" y="5032276"/>
            <a:ext cx="6044803" cy="1438969"/>
          </a:xfrm>
          <a:prstGeom prst="roundRect">
            <a:avLst>
              <a:gd name="adj" fmla="val 5747"/>
            </a:avLst>
          </a:prstGeom>
          <a:solidFill>
            <a:srgbClr val="F7F7F7"/>
          </a:solidFill>
          <a:ln w="30475" cap="flat" cmpd="sng">
            <a:solidFill>
              <a:srgbClr val="CCCCCC"/>
            </a:solidFill>
            <a:prstDash val="solid"/>
            <a:round/>
            <a:headEnd type="none" w="sm" len="sm"/>
            <a:tailEnd type="none" w="sm" len="sm"/>
          </a:ln>
        </p:spPr>
        <p:txBody>
          <a:bodyPr spcFirstLastPara="1" wrap="square" lIns="76184" tIns="76184" rIns="76184" bIns="76184" anchor="ctr" anchorCtr="0">
            <a:noAutofit/>
          </a:bodyPr>
          <a:lstStyle/>
          <a:p>
            <a:endParaRPr/>
          </a:p>
        </p:txBody>
      </p:sp>
      <p:sp>
        <p:nvSpPr>
          <p:cNvPr id="165" name="Google Shape;165;p19"/>
          <p:cNvSpPr/>
          <p:nvPr/>
        </p:nvSpPr>
        <p:spPr>
          <a:xfrm>
            <a:off x="1009849" y="5102126"/>
            <a:ext cx="1968996" cy="246162"/>
          </a:xfrm>
          <a:prstGeom prst="rect">
            <a:avLst/>
          </a:prstGeom>
          <a:noFill/>
          <a:ln>
            <a:noFill/>
          </a:ln>
        </p:spPr>
        <p:txBody>
          <a:bodyPr spcFirstLastPara="1" wrap="square" lIns="0" tIns="0" rIns="0" bIns="0" anchor="t" anchorCtr="0">
            <a:noAutofit/>
          </a:bodyPr>
          <a:lstStyle/>
          <a:p>
            <a:pPr>
              <a:lnSpc>
                <a:spcPct val="124324"/>
              </a:lnSpc>
              <a:buClr>
                <a:srgbClr val="383838"/>
              </a:buClr>
              <a:buSzPts val="1850"/>
            </a:pPr>
            <a:r>
              <a:rPr lang="en-US" sz="1500" dirty="0">
                <a:solidFill>
                  <a:srgbClr val="383838"/>
                </a:solidFill>
                <a:latin typeface="Patrick Hand"/>
                <a:ea typeface="Patrick Hand"/>
                <a:cs typeface="Patrick Hand"/>
                <a:sym typeface="Patrick Hand"/>
              </a:rPr>
              <a:t>Target Variable</a:t>
            </a:r>
            <a:endParaRPr sz="1500"/>
          </a:p>
        </p:txBody>
      </p:sp>
      <p:sp>
        <p:nvSpPr>
          <p:cNvPr id="166" name="Google Shape;166;p19"/>
          <p:cNvSpPr/>
          <p:nvPr/>
        </p:nvSpPr>
        <p:spPr>
          <a:xfrm>
            <a:off x="1009849" y="5466358"/>
            <a:ext cx="5600303" cy="630238"/>
          </a:xfrm>
          <a:prstGeom prst="rect">
            <a:avLst/>
          </a:prstGeom>
          <a:noFill/>
          <a:ln>
            <a:noFill/>
          </a:ln>
        </p:spPr>
        <p:txBody>
          <a:bodyPr spcFirstLastPara="1" wrap="square" lIns="0" tIns="0" rIns="0" bIns="0" anchor="t" anchorCtr="0">
            <a:noAutofit/>
          </a:bodyPr>
          <a:lstStyle/>
          <a:p>
            <a:pPr>
              <a:lnSpc>
                <a:spcPct val="159459"/>
              </a:lnSpc>
              <a:buClr>
                <a:srgbClr val="383838"/>
              </a:buClr>
              <a:buSzPts val="1850"/>
            </a:pPr>
            <a:r>
              <a:rPr lang="en-US" sz="1500" dirty="0">
                <a:solidFill>
                  <a:srgbClr val="383838"/>
                </a:solidFill>
                <a:latin typeface="Patrick Hand"/>
                <a:ea typeface="Patrick Hand"/>
                <a:cs typeface="Patrick Hand"/>
                <a:sym typeface="Patrick Hand"/>
              </a:rPr>
              <a:t>The numeric attribute 'mpg' (miles per gallon) is the target attribute for prediction of fuel consumption.</a:t>
            </a:r>
            <a:endParaRPr sz="1500"/>
          </a:p>
        </p:txBody>
      </p:sp>
      <p:pic>
        <p:nvPicPr>
          <p:cNvPr id="2" name="Picture 1">
            <a:extLst>
              <a:ext uri="{FF2B5EF4-FFF2-40B4-BE49-F238E27FC236}">
                <a16:creationId xmlns:a16="http://schemas.microsoft.com/office/drawing/2014/main" id="{756ED5B4-92D6-3E9D-224B-4F22E64E0B54}"/>
              </a:ext>
            </a:extLst>
          </p:cNvPr>
          <p:cNvPicPr>
            <a:picLocks noChangeAspect="1"/>
          </p:cNvPicPr>
          <p:nvPr/>
        </p:nvPicPr>
        <p:blipFill>
          <a:blip r:embed="rId3"/>
          <a:stretch>
            <a:fillRect/>
          </a:stretch>
        </p:blipFill>
        <p:spPr>
          <a:xfrm>
            <a:off x="6483786" y="199008"/>
            <a:ext cx="5708214" cy="6523285"/>
          </a:xfrm>
          <a:prstGeom prst="rect">
            <a:avLst/>
          </a:prstGeom>
        </p:spPr>
      </p:pic>
      <p:pic>
        <p:nvPicPr>
          <p:cNvPr id="3" name="Picture 2" descr="MAPS &amp; DIRECTIONS - Best Private University in Telangana &amp; Andhra Pradesh | KLH  Hyderabad">
            <a:extLst>
              <a:ext uri="{FF2B5EF4-FFF2-40B4-BE49-F238E27FC236}">
                <a16:creationId xmlns:a16="http://schemas.microsoft.com/office/drawing/2014/main" id="{F908E1E4-26FE-EAB9-2D14-009183FD048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417" y="-534220"/>
            <a:ext cx="1908438" cy="141851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0"/>
          <p:cNvSpPr/>
          <p:nvPr/>
        </p:nvSpPr>
        <p:spPr>
          <a:xfrm>
            <a:off x="397908" y="414497"/>
            <a:ext cx="8948539" cy="503138"/>
          </a:xfrm>
          <a:prstGeom prst="rect">
            <a:avLst/>
          </a:prstGeom>
          <a:noFill/>
          <a:ln>
            <a:noFill/>
          </a:ln>
        </p:spPr>
        <p:txBody>
          <a:bodyPr spcFirstLastPara="1" wrap="square" lIns="0" tIns="0" rIns="0" bIns="0" anchor="t" anchorCtr="0">
            <a:noAutofit/>
          </a:bodyPr>
          <a:lstStyle/>
          <a:p>
            <a:pPr>
              <a:lnSpc>
                <a:spcPct val="125000"/>
              </a:lnSpc>
              <a:buClr>
                <a:srgbClr val="383838"/>
              </a:buClr>
              <a:buSzPts val="3800"/>
            </a:pPr>
            <a:r>
              <a:rPr lang="en-US" sz="3600" dirty="0">
                <a:solidFill>
                  <a:srgbClr val="383838"/>
                </a:solidFill>
                <a:latin typeface="Patrick Hand"/>
                <a:ea typeface="Patrick Hand"/>
                <a:cs typeface="Patrick Hand"/>
                <a:sym typeface="Patrick Hand"/>
              </a:rPr>
              <a:t>Central Tendency: Mean vs. Median</a:t>
            </a:r>
            <a:endParaRPr sz="3600" dirty="0"/>
          </a:p>
        </p:txBody>
      </p:sp>
      <p:sp>
        <p:nvSpPr>
          <p:cNvPr id="173" name="Google Shape;173;p20"/>
          <p:cNvSpPr/>
          <p:nvPr/>
        </p:nvSpPr>
        <p:spPr>
          <a:xfrm>
            <a:off x="596950" y="1221642"/>
            <a:ext cx="6276874" cy="644128"/>
          </a:xfrm>
          <a:prstGeom prst="rect">
            <a:avLst/>
          </a:prstGeom>
          <a:noFill/>
          <a:ln>
            <a:noFill/>
          </a:ln>
        </p:spPr>
        <p:txBody>
          <a:bodyPr spcFirstLastPara="1" wrap="square" lIns="0" tIns="0" rIns="0" bIns="0" anchor="t" anchorCtr="0">
            <a:noAutofit/>
          </a:bodyPr>
          <a:lstStyle/>
          <a:p>
            <a:pPr>
              <a:lnSpc>
                <a:spcPct val="157894"/>
              </a:lnSpc>
              <a:buClr>
                <a:srgbClr val="383838"/>
              </a:buClr>
              <a:buSzPts val="1900"/>
            </a:pPr>
            <a:r>
              <a:rPr lang="en-US" dirty="0">
                <a:solidFill>
                  <a:srgbClr val="383838"/>
                </a:solidFill>
                <a:latin typeface="Patrick Hand"/>
                <a:ea typeface="Patrick Hand"/>
                <a:cs typeface="Patrick Hand"/>
                <a:sym typeface="Patrick Hand"/>
              </a:rPr>
              <a:t>Mean and median are measures of central tendency that help understand the central point of data. Mean is the sum of all values divided by count. Median is the middle value in an ordered list. Large deviations between mean and median indicate potential outliers.</a:t>
            </a:r>
            <a:endParaRPr dirty="0"/>
          </a:p>
        </p:txBody>
      </p:sp>
      <p:sp>
        <p:nvSpPr>
          <p:cNvPr id="174" name="Google Shape;174;p20"/>
          <p:cNvSpPr/>
          <p:nvPr/>
        </p:nvSpPr>
        <p:spPr>
          <a:xfrm>
            <a:off x="805061" y="2879559"/>
            <a:ext cx="2456756" cy="664170"/>
          </a:xfrm>
          <a:prstGeom prst="rect">
            <a:avLst/>
          </a:prstGeom>
          <a:noFill/>
          <a:ln>
            <a:noFill/>
          </a:ln>
        </p:spPr>
        <p:txBody>
          <a:bodyPr spcFirstLastPara="1" wrap="square" lIns="0" tIns="0" rIns="0" bIns="0" anchor="t" anchorCtr="0">
            <a:noAutofit/>
          </a:bodyPr>
          <a:lstStyle/>
          <a:p>
            <a:pPr algn="ctr">
              <a:buClr>
                <a:srgbClr val="383838"/>
              </a:buClr>
              <a:buSzPts val="6250"/>
            </a:pPr>
            <a:r>
              <a:rPr lang="en-US" sz="2800" dirty="0">
                <a:solidFill>
                  <a:srgbClr val="383838"/>
                </a:solidFill>
                <a:latin typeface="Patrick Hand"/>
                <a:ea typeface="Patrick Hand"/>
                <a:cs typeface="Patrick Hand"/>
                <a:sym typeface="Patrick Hand"/>
              </a:rPr>
              <a:t>23.51</a:t>
            </a:r>
            <a:endParaRPr sz="2800"/>
          </a:p>
        </p:txBody>
      </p:sp>
      <p:sp>
        <p:nvSpPr>
          <p:cNvPr id="175" name="Google Shape;175;p20"/>
          <p:cNvSpPr/>
          <p:nvPr/>
        </p:nvSpPr>
        <p:spPr>
          <a:xfrm>
            <a:off x="1027013" y="3476585"/>
            <a:ext cx="2012752" cy="251619"/>
          </a:xfrm>
          <a:prstGeom prst="rect">
            <a:avLst/>
          </a:prstGeom>
          <a:noFill/>
          <a:ln>
            <a:noFill/>
          </a:ln>
        </p:spPr>
        <p:txBody>
          <a:bodyPr spcFirstLastPara="1" wrap="square" lIns="0" tIns="0" rIns="0" bIns="0" anchor="t" anchorCtr="0">
            <a:noAutofit/>
          </a:bodyPr>
          <a:lstStyle/>
          <a:p>
            <a:pPr algn="ctr">
              <a:lnSpc>
                <a:spcPct val="123684"/>
              </a:lnSpc>
              <a:buClr>
                <a:srgbClr val="383838"/>
              </a:buClr>
              <a:buSzPts val="1900"/>
            </a:pPr>
            <a:r>
              <a:rPr lang="en-US" dirty="0">
                <a:solidFill>
                  <a:srgbClr val="383838"/>
                </a:solidFill>
                <a:latin typeface="Patrick Hand"/>
                <a:ea typeface="Patrick Hand"/>
                <a:cs typeface="Patrick Hand"/>
                <a:sym typeface="Patrick Hand"/>
              </a:rPr>
              <a:t>MPG Mean</a:t>
            </a:r>
            <a:endParaRPr/>
          </a:p>
        </p:txBody>
      </p:sp>
      <p:sp>
        <p:nvSpPr>
          <p:cNvPr id="176" name="Google Shape;176;p20"/>
          <p:cNvSpPr/>
          <p:nvPr/>
        </p:nvSpPr>
        <p:spPr>
          <a:xfrm>
            <a:off x="805061" y="3848953"/>
            <a:ext cx="2456756" cy="644128"/>
          </a:xfrm>
          <a:prstGeom prst="rect">
            <a:avLst/>
          </a:prstGeom>
          <a:noFill/>
          <a:ln>
            <a:noFill/>
          </a:ln>
        </p:spPr>
        <p:txBody>
          <a:bodyPr spcFirstLastPara="1" wrap="square" lIns="0" tIns="0" rIns="0" bIns="0" anchor="t" anchorCtr="0">
            <a:noAutofit/>
          </a:bodyPr>
          <a:lstStyle/>
          <a:p>
            <a:pPr algn="ctr">
              <a:lnSpc>
                <a:spcPct val="157894"/>
              </a:lnSpc>
              <a:buClr>
                <a:srgbClr val="383838"/>
              </a:buClr>
              <a:buSzPts val="1900"/>
            </a:pPr>
            <a:r>
              <a:rPr lang="en-US" dirty="0">
                <a:solidFill>
                  <a:srgbClr val="383838"/>
                </a:solidFill>
                <a:latin typeface="Patrick Hand"/>
                <a:ea typeface="Patrick Hand"/>
                <a:cs typeface="Patrick Hand"/>
                <a:sym typeface="Patrick Hand"/>
              </a:rPr>
              <a:t>Median: 23 (2.17% deviation - Low)</a:t>
            </a:r>
            <a:endParaRPr dirty="0"/>
          </a:p>
        </p:txBody>
      </p:sp>
      <p:sp>
        <p:nvSpPr>
          <p:cNvPr id="177" name="Google Shape;177;p20"/>
          <p:cNvSpPr/>
          <p:nvPr/>
        </p:nvSpPr>
        <p:spPr>
          <a:xfrm>
            <a:off x="3513336" y="2879559"/>
            <a:ext cx="2456855" cy="664170"/>
          </a:xfrm>
          <a:prstGeom prst="rect">
            <a:avLst/>
          </a:prstGeom>
          <a:noFill/>
          <a:ln>
            <a:noFill/>
          </a:ln>
        </p:spPr>
        <p:txBody>
          <a:bodyPr spcFirstLastPara="1" wrap="square" lIns="0" tIns="0" rIns="0" bIns="0" anchor="t" anchorCtr="0">
            <a:noAutofit/>
          </a:bodyPr>
          <a:lstStyle/>
          <a:p>
            <a:pPr algn="ctr">
              <a:buClr>
                <a:srgbClr val="383838"/>
              </a:buClr>
              <a:buSzPts val="6250"/>
            </a:pPr>
            <a:r>
              <a:rPr lang="en-US" sz="2800" dirty="0">
                <a:solidFill>
                  <a:srgbClr val="383838"/>
                </a:solidFill>
                <a:latin typeface="Patrick Hand"/>
                <a:ea typeface="Patrick Hand"/>
                <a:cs typeface="Patrick Hand"/>
                <a:sym typeface="Patrick Hand"/>
              </a:rPr>
              <a:t>5.455</a:t>
            </a:r>
            <a:endParaRPr sz="2800"/>
          </a:p>
        </p:txBody>
      </p:sp>
      <p:sp>
        <p:nvSpPr>
          <p:cNvPr id="178" name="Google Shape;178;p20"/>
          <p:cNvSpPr/>
          <p:nvPr/>
        </p:nvSpPr>
        <p:spPr>
          <a:xfrm>
            <a:off x="3735387" y="3476585"/>
            <a:ext cx="2012752" cy="251619"/>
          </a:xfrm>
          <a:prstGeom prst="rect">
            <a:avLst/>
          </a:prstGeom>
          <a:noFill/>
          <a:ln>
            <a:noFill/>
          </a:ln>
        </p:spPr>
        <p:txBody>
          <a:bodyPr spcFirstLastPara="1" wrap="square" lIns="0" tIns="0" rIns="0" bIns="0" anchor="t" anchorCtr="0">
            <a:noAutofit/>
          </a:bodyPr>
          <a:lstStyle/>
          <a:p>
            <a:pPr algn="ctr">
              <a:lnSpc>
                <a:spcPct val="123684"/>
              </a:lnSpc>
              <a:buClr>
                <a:srgbClr val="383838"/>
              </a:buClr>
              <a:buSzPts val="1900"/>
            </a:pPr>
            <a:r>
              <a:rPr lang="en-US" dirty="0">
                <a:solidFill>
                  <a:srgbClr val="383838"/>
                </a:solidFill>
                <a:latin typeface="Patrick Hand"/>
                <a:ea typeface="Patrick Hand"/>
                <a:cs typeface="Patrick Hand"/>
                <a:sym typeface="Patrick Hand"/>
              </a:rPr>
              <a:t>Cylinders Mean</a:t>
            </a:r>
            <a:endParaRPr/>
          </a:p>
        </p:txBody>
      </p:sp>
      <p:sp>
        <p:nvSpPr>
          <p:cNvPr id="179" name="Google Shape;179;p20"/>
          <p:cNvSpPr/>
          <p:nvPr/>
        </p:nvSpPr>
        <p:spPr>
          <a:xfrm>
            <a:off x="3513336" y="3848953"/>
            <a:ext cx="2456855" cy="644128"/>
          </a:xfrm>
          <a:prstGeom prst="rect">
            <a:avLst/>
          </a:prstGeom>
          <a:noFill/>
          <a:ln>
            <a:noFill/>
          </a:ln>
        </p:spPr>
        <p:txBody>
          <a:bodyPr spcFirstLastPara="1" wrap="square" lIns="0" tIns="0" rIns="0" bIns="0" anchor="t" anchorCtr="0">
            <a:noAutofit/>
          </a:bodyPr>
          <a:lstStyle/>
          <a:p>
            <a:pPr algn="ctr">
              <a:lnSpc>
                <a:spcPct val="157894"/>
              </a:lnSpc>
              <a:buClr>
                <a:srgbClr val="383838"/>
              </a:buClr>
              <a:buSzPts val="1900"/>
            </a:pPr>
            <a:r>
              <a:rPr lang="en-US" dirty="0">
                <a:solidFill>
                  <a:srgbClr val="383838"/>
                </a:solidFill>
                <a:latin typeface="Patrick Hand"/>
                <a:ea typeface="Patrick Hand"/>
                <a:cs typeface="Patrick Hand"/>
                <a:sym typeface="Patrick Hand"/>
              </a:rPr>
              <a:t>Median: 4 (26.67% deviation - High)</a:t>
            </a:r>
            <a:endParaRPr/>
          </a:p>
        </p:txBody>
      </p:sp>
      <p:sp>
        <p:nvSpPr>
          <p:cNvPr id="180" name="Google Shape;180;p20"/>
          <p:cNvSpPr/>
          <p:nvPr/>
        </p:nvSpPr>
        <p:spPr>
          <a:xfrm>
            <a:off x="6221710" y="2879559"/>
            <a:ext cx="2456855" cy="664170"/>
          </a:xfrm>
          <a:prstGeom prst="rect">
            <a:avLst/>
          </a:prstGeom>
          <a:noFill/>
          <a:ln>
            <a:noFill/>
          </a:ln>
        </p:spPr>
        <p:txBody>
          <a:bodyPr spcFirstLastPara="1" wrap="square" lIns="0" tIns="0" rIns="0" bIns="0" anchor="t" anchorCtr="0">
            <a:noAutofit/>
          </a:bodyPr>
          <a:lstStyle/>
          <a:p>
            <a:pPr algn="ctr">
              <a:buClr>
                <a:srgbClr val="383838"/>
              </a:buClr>
              <a:buSzPts val="6250"/>
            </a:pPr>
            <a:r>
              <a:rPr lang="en-US" sz="2800" dirty="0">
                <a:solidFill>
                  <a:srgbClr val="383838"/>
                </a:solidFill>
                <a:latin typeface="Patrick Hand"/>
                <a:ea typeface="Patrick Hand"/>
                <a:cs typeface="Patrick Hand"/>
                <a:sym typeface="Patrick Hand"/>
              </a:rPr>
              <a:t>193.4</a:t>
            </a:r>
            <a:endParaRPr sz="2800"/>
          </a:p>
        </p:txBody>
      </p:sp>
      <p:sp>
        <p:nvSpPr>
          <p:cNvPr id="181" name="Google Shape;181;p20"/>
          <p:cNvSpPr/>
          <p:nvPr/>
        </p:nvSpPr>
        <p:spPr>
          <a:xfrm>
            <a:off x="6443762" y="3476585"/>
            <a:ext cx="2012752" cy="251619"/>
          </a:xfrm>
          <a:prstGeom prst="rect">
            <a:avLst/>
          </a:prstGeom>
          <a:noFill/>
          <a:ln>
            <a:noFill/>
          </a:ln>
        </p:spPr>
        <p:txBody>
          <a:bodyPr spcFirstLastPara="1" wrap="square" lIns="0" tIns="0" rIns="0" bIns="0" anchor="t" anchorCtr="0">
            <a:noAutofit/>
          </a:bodyPr>
          <a:lstStyle/>
          <a:p>
            <a:pPr algn="ctr">
              <a:lnSpc>
                <a:spcPct val="123684"/>
              </a:lnSpc>
              <a:buClr>
                <a:srgbClr val="383838"/>
              </a:buClr>
              <a:buSzPts val="1900"/>
            </a:pPr>
            <a:r>
              <a:rPr lang="en-US" dirty="0">
                <a:solidFill>
                  <a:srgbClr val="383838"/>
                </a:solidFill>
                <a:latin typeface="Patrick Hand"/>
                <a:ea typeface="Patrick Hand"/>
                <a:cs typeface="Patrick Hand"/>
                <a:sym typeface="Patrick Hand"/>
              </a:rPr>
              <a:t>Displacement Mean</a:t>
            </a:r>
            <a:endParaRPr/>
          </a:p>
        </p:txBody>
      </p:sp>
      <p:sp>
        <p:nvSpPr>
          <p:cNvPr id="182" name="Google Shape;182;p20"/>
          <p:cNvSpPr/>
          <p:nvPr/>
        </p:nvSpPr>
        <p:spPr>
          <a:xfrm>
            <a:off x="6221710" y="3848953"/>
            <a:ext cx="2456855" cy="644128"/>
          </a:xfrm>
          <a:prstGeom prst="rect">
            <a:avLst/>
          </a:prstGeom>
          <a:noFill/>
          <a:ln>
            <a:noFill/>
          </a:ln>
        </p:spPr>
        <p:txBody>
          <a:bodyPr spcFirstLastPara="1" wrap="square" lIns="0" tIns="0" rIns="0" bIns="0" anchor="t" anchorCtr="0">
            <a:noAutofit/>
          </a:bodyPr>
          <a:lstStyle/>
          <a:p>
            <a:pPr algn="ctr">
              <a:lnSpc>
                <a:spcPct val="157894"/>
              </a:lnSpc>
              <a:buClr>
                <a:srgbClr val="383838"/>
              </a:buClr>
              <a:buSzPts val="1900"/>
            </a:pPr>
            <a:r>
              <a:rPr lang="en-US" dirty="0">
                <a:solidFill>
                  <a:srgbClr val="383838"/>
                </a:solidFill>
                <a:latin typeface="Patrick Hand"/>
                <a:ea typeface="Patrick Hand"/>
                <a:cs typeface="Patrick Hand"/>
                <a:sym typeface="Patrick Hand"/>
              </a:rPr>
              <a:t>Median: 148.5 (23.22% deviation - High)</a:t>
            </a:r>
            <a:endParaRPr/>
          </a:p>
        </p:txBody>
      </p:sp>
      <p:sp>
        <p:nvSpPr>
          <p:cNvPr id="183" name="Google Shape;183;p20"/>
          <p:cNvSpPr/>
          <p:nvPr/>
        </p:nvSpPr>
        <p:spPr>
          <a:xfrm>
            <a:off x="8930084" y="2879559"/>
            <a:ext cx="2456855" cy="664170"/>
          </a:xfrm>
          <a:prstGeom prst="rect">
            <a:avLst/>
          </a:prstGeom>
          <a:noFill/>
          <a:ln>
            <a:noFill/>
          </a:ln>
        </p:spPr>
        <p:txBody>
          <a:bodyPr spcFirstLastPara="1" wrap="square" lIns="0" tIns="0" rIns="0" bIns="0" anchor="t" anchorCtr="0">
            <a:noAutofit/>
          </a:bodyPr>
          <a:lstStyle/>
          <a:p>
            <a:pPr algn="ctr">
              <a:buClr>
                <a:srgbClr val="383838"/>
              </a:buClr>
              <a:buSzPts val="6250"/>
            </a:pPr>
            <a:r>
              <a:rPr lang="en-US" sz="2800" dirty="0">
                <a:solidFill>
                  <a:srgbClr val="383838"/>
                </a:solidFill>
                <a:latin typeface="Patrick Hand"/>
                <a:ea typeface="Patrick Hand"/>
                <a:cs typeface="Patrick Hand"/>
                <a:sym typeface="Patrick Hand"/>
              </a:rPr>
              <a:t>2970</a:t>
            </a:r>
            <a:endParaRPr sz="2800"/>
          </a:p>
        </p:txBody>
      </p:sp>
      <p:sp>
        <p:nvSpPr>
          <p:cNvPr id="184" name="Google Shape;184;p20"/>
          <p:cNvSpPr/>
          <p:nvPr/>
        </p:nvSpPr>
        <p:spPr>
          <a:xfrm>
            <a:off x="9152136" y="3476585"/>
            <a:ext cx="2012752" cy="251619"/>
          </a:xfrm>
          <a:prstGeom prst="rect">
            <a:avLst/>
          </a:prstGeom>
          <a:noFill/>
          <a:ln>
            <a:noFill/>
          </a:ln>
        </p:spPr>
        <p:txBody>
          <a:bodyPr spcFirstLastPara="1" wrap="square" lIns="0" tIns="0" rIns="0" bIns="0" anchor="t" anchorCtr="0">
            <a:noAutofit/>
          </a:bodyPr>
          <a:lstStyle/>
          <a:p>
            <a:pPr algn="ctr">
              <a:lnSpc>
                <a:spcPct val="123684"/>
              </a:lnSpc>
              <a:buClr>
                <a:srgbClr val="383838"/>
              </a:buClr>
              <a:buSzPts val="1900"/>
            </a:pPr>
            <a:r>
              <a:rPr lang="en-US" dirty="0">
                <a:solidFill>
                  <a:srgbClr val="383838"/>
                </a:solidFill>
                <a:latin typeface="Patrick Hand"/>
                <a:ea typeface="Patrick Hand"/>
                <a:cs typeface="Patrick Hand"/>
                <a:sym typeface="Patrick Hand"/>
              </a:rPr>
              <a:t>Weight Mean</a:t>
            </a:r>
            <a:endParaRPr/>
          </a:p>
        </p:txBody>
      </p:sp>
      <p:sp>
        <p:nvSpPr>
          <p:cNvPr id="185" name="Google Shape;185;p20"/>
          <p:cNvSpPr/>
          <p:nvPr/>
        </p:nvSpPr>
        <p:spPr>
          <a:xfrm>
            <a:off x="8930084" y="3848953"/>
            <a:ext cx="2456855" cy="644128"/>
          </a:xfrm>
          <a:prstGeom prst="rect">
            <a:avLst/>
          </a:prstGeom>
          <a:noFill/>
          <a:ln>
            <a:noFill/>
          </a:ln>
        </p:spPr>
        <p:txBody>
          <a:bodyPr spcFirstLastPara="1" wrap="square" lIns="0" tIns="0" rIns="0" bIns="0" anchor="t" anchorCtr="0">
            <a:noAutofit/>
          </a:bodyPr>
          <a:lstStyle/>
          <a:p>
            <a:pPr algn="ctr">
              <a:lnSpc>
                <a:spcPct val="157894"/>
              </a:lnSpc>
              <a:buClr>
                <a:srgbClr val="383838"/>
              </a:buClr>
              <a:buSzPts val="1900"/>
            </a:pPr>
            <a:r>
              <a:rPr lang="en-US" dirty="0">
                <a:solidFill>
                  <a:srgbClr val="383838"/>
                </a:solidFill>
                <a:latin typeface="Patrick Hand"/>
                <a:ea typeface="Patrick Hand"/>
                <a:cs typeface="Patrick Hand"/>
                <a:sym typeface="Patrick Hand"/>
              </a:rPr>
              <a:t>Median: 2804 (5.59% deviation - Low)</a:t>
            </a:r>
            <a:endParaRPr/>
          </a:p>
        </p:txBody>
      </p:sp>
      <p:sp>
        <p:nvSpPr>
          <p:cNvPr id="186" name="Google Shape;186;p20"/>
          <p:cNvSpPr/>
          <p:nvPr/>
        </p:nvSpPr>
        <p:spPr>
          <a:xfrm>
            <a:off x="805061" y="4719498"/>
            <a:ext cx="10581878" cy="1177330"/>
          </a:xfrm>
          <a:prstGeom prst="roundRect">
            <a:avLst>
              <a:gd name="adj" fmla="val 7181"/>
            </a:avLst>
          </a:prstGeom>
          <a:solidFill>
            <a:srgbClr val="D9D9D9"/>
          </a:solidFill>
          <a:ln>
            <a:noFill/>
          </a:ln>
        </p:spPr>
        <p:txBody>
          <a:bodyPr spcFirstLastPara="1" wrap="square" lIns="76184" tIns="76184" rIns="76184" bIns="76184" anchor="ctr" anchorCtr="0">
            <a:noAutofit/>
          </a:bodyPr>
          <a:lstStyle/>
          <a:p>
            <a:endParaRPr sz="2000"/>
          </a:p>
        </p:txBody>
      </p:sp>
      <p:pic>
        <p:nvPicPr>
          <p:cNvPr id="187" name="Google Shape;187;p20" descr="preencoded.png"/>
          <p:cNvPicPr preferRelativeResize="0"/>
          <p:nvPr/>
        </p:nvPicPr>
        <p:blipFill rotWithShape="1">
          <a:blip r:embed="rId3">
            <a:alphaModFix/>
          </a:blip>
          <a:srcRect/>
          <a:stretch/>
        </p:blipFill>
        <p:spPr>
          <a:xfrm>
            <a:off x="1006277" y="5023505"/>
            <a:ext cx="251519" cy="201216"/>
          </a:xfrm>
          <a:prstGeom prst="rect">
            <a:avLst/>
          </a:prstGeom>
          <a:noFill/>
          <a:ln>
            <a:noFill/>
          </a:ln>
        </p:spPr>
      </p:pic>
      <p:sp>
        <p:nvSpPr>
          <p:cNvPr id="188" name="Google Shape;188;p20"/>
          <p:cNvSpPr/>
          <p:nvPr/>
        </p:nvSpPr>
        <p:spPr>
          <a:xfrm>
            <a:off x="1459012" y="4971018"/>
            <a:ext cx="9726712" cy="644128"/>
          </a:xfrm>
          <a:prstGeom prst="rect">
            <a:avLst/>
          </a:prstGeom>
          <a:noFill/>
          <a:ln>
            <a:noFill/>
          </a:ln>
        </p:spPr>
        <p:txBody>
          <a:bodyPr spcFirstLastPara="1" wrap="square" lIns="0" tIns="0" rIns="0" bIns="0" anchor="t" anchorCtr="0">
            <a:noAutofit/>
          </a:bodyPr>
          <a:lstStyle/>
          <a:p>
            <a:pPr>
              <a:lnSpc>
                <a:spcPct val="157894"/>
              </a:lnSpc>
              <a:buClr>
                <a:srgbClr val="000000"/>
              </a:buClr>
              <a:buSzPts val="1900"/>
            </a:pPr>
            <a:r>
              <a:rPr lang="en-US" b="1" dirty="0">
                <a:solidFill>
                  <a:srgbClr val="000000"/>
                </a:solidFill>
                <a:latin typeface="Patrick Hand"/>
                <a:ea typeface="Patrick Hand"/>
                <a:cs typeface="Patrick Hand"/>
                <a:sym typeface="Patrick Hand"/>
              </a:rPr>
              <a:t>Data Quality Issue:</a:t>
            </a:r>
            <a:r>
              <a:rPr lang="en-US" dirty="0">
                <a:solidFill>
                  <a:srgbClr val="000000"/>
                </a:solidFill>
                <a:latin typeface="Patrick Hand"/>
                <a:ea typeface="Patrick Hand"/>
                <a:cs typeface="Patrick Hand"/>
                <a:sym typeface="Patrick Hand"/>
              </a:rPr>
              <a:t> The 'horsepower' attribute has 6 missing values, preventing mean and median calculation. These missing values must be remediated before exploration can continue.</a:t>
            </a:r>
            <a:endParaRPr/>
          </a:p>
        </p:txBody>
      </p:sp>
      <p:pic>
        <p:nvPicPr>
          <p:cNvPr id="2" name="Picture 1">
            <a:extLst>
              <a:ext uri="{FF2B5EF4-FFF2-40B4-BE49-F238E27FC236}">
                <a16:creationId xmlns:a16="http://schemas.microsoft.com/office/drawing/2014/main" id="{978B6197-8707-110A-3BAB-DC5BC285E90A}"/>
              </a:ext>
            </a:extLst>
          </p:cNvPr>
          <p:cNvPicPr>
            <a:picLocks noChangeAspect="1"/>
          </p:cNvPicPr>
          <p:nvPr/>
        </p:nvPicPr>
        <p:blipFill>
          <a:blip r:embed="rId4"/>
          <a:stretch>
            <a:fillRect/>
          </a:stretch>
        </p:blipFill>
        <p:spPr>
          <a:xfrm>
            <a:off x="7159232" y="361600"/>
            <a:ext cx="5032768" cy="2291542"/>
          </a:xfrm>
          <a:prstGeom prst="rect">
            <a:avLst/>
          </a:prstGeom>
        </p:spPr>
      </p:pic>
      <p:pic>
        <p:nvPicPr>
          <p:cNvPr id="3" name="Picture 2">
            <a:extLst>
              <a:ext uri="{FF2B5EF4-FFF2-40B4-BE49-F238E27FC236}">
                <a16:creationId xmlns:a16="http://schemas.microsoft.com/office/drawing/2014/main" id="{B7E0EC05-C824-075D-E104-C421EE70C8E7}"/>
              </a:ext>
            </a:extLst>
          </p:cNvPr>
          <p:cNvPicPr>
            <a:picLocks noChangeAspect="1"/>
          </p:cNvPicPr>
          <p:nvPr/>
        </p:nvPicPr>
        <p:blipFill>
          <a:blip r:embed="rId5"/>
          <a:stretch>
            <a:fillRect/>
          </a:stretch>
        </p:blipFill>
        <p:spPr>
          <a:xfrm>
            <a:off x="7972883" y="6142108"/>
            <a:ext cx="3414056" cy="472481"/>
          </a:xfrm>
          <a:prstGeom prst="rect">
            <a:avLst/>
          </a:prstGeom>
        </p:spPr>
      </p:pic>
      <p:pic>
        <p:nvPicPr>
          <p:cNvPr id="4" name="Picture 2" descr="MAPS &amp; DIRECTIONS - Best Private University in Telangana &amp; Andhra Pradesh | KLH  Hyderabad">
            <a:extLst>
              <a:ext uri="{FF2B5EF4-FFF2-40B4-BE49-F238E27FC236}">
                <a16:creationId xmlns:a16="http://schemas.microsoft.com/office/drawing/2014/main" id="{CD9E5800-EB8D-D891-DFC7-4DC6C9C3835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283562" y="-603568"/>
            <a:ext cx="1908438" cy="141851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21"/>
          <p:cNvSpPr/>
          <p:nvPr/>
        </p:nvSpPr>
        <p:spPr>
          <a:xfrm>
            <a:off x="874334" y="326421"/>
            <a:ext cx="9946066" cy="503138"/>
          </a:xfrm>
          <a:prstGeom prst="rect">
            <a:avLst/>
          </a:prstGeom>
          <a:noFill/>
          <a:ln>
            <a:noFill/>
          </a:ln>
        </p:spPr>
        <p:txBody>
          <a:bodyPr spcFirstLastPara="1" wrap="square" lIns="0" tIns="0" rIns="0" bIns="0" anchor="t" anchorCtr="0">
            <a:noAutofit/>
          </a:bodyPr>
          <a:lstStyle/>
          <a:p>
            <a:pPr algn="ctr">
              <a:lnSpc>
                <a:spcPct val="125000"/>
              </a:lnSpc>
              <a:buClr>
                <a:srgbClr val="383838"/>
              </a:buClr>
              <a:buSzPts val="3800"/>
            </a:pPr>
            <a:r>
              <a:rPr lang="en-US" sz="3600" dirty="0">
                <a:solidFill>
                  <a:srgbClr val="383838"/>
                </a:solidFill>
                <a:latin typeface="Patrick Hand"/>
                <a:ea typeface="Patrick Hand"/>
                <a:cs typeface="Patrick Hand"/>
                <a:sym typeface="Patrick Hand"/>
              </a:rPr>
              <a:t>Understanding Data Spread and Position</a:t>
            </a:r>
            <a:endParaRPr sz="3600"/>
          </a:p>
        </p:txBody>
      </p:sp>
      <p:sp>
        <p:nvSpPr>
          <p:cNvPr id="195" name="Google Shape;195;p21"/>
          <p:cNvSpPr/>
          <p:nvPr/>
        </p:nvSpPr>
        <p:spPr>
          <a:xfrm>
            <a:off x="805061" y="1208008"/>
            <a:ext cx="4141012" cy="232866"/>
          </a:xfrm>
          <a:prstGeom prst="rect">
            <a:avLst/>
          </a:prstGeom>
          <a:noFill/>
          <a:ln>
            <a:noFill/>
          </a:ln>
        </p:spPr>
        <p:txBody>
          <a:bodyPr spcFirstLastPara="1" wrap="square" lIns="0" tIns="0" rIns="0" bIns="0" anchor="t" anchorCtr="0">
            <a:noAutofit/>
          </a:bodyPr>
          <a:lstStyle/>
          <a:p>
            <a:pPr>
              <a:lnSpc>
                <a:spcPct val="123684"/>
              </a:lnSpc>
              <a:buClr>
                <a:srgbClr val="383838"/>
              </a:buClr>
              <a:buSzPts val="1900"/>
            </a:pPr>
            <a:r>
              <a:rPr lang="en-US" b="1" dirty="0">
                <a:solidFill>
                  <a:srgbClr val="383838"/>
                </a:solidFill>
                <a:latin typeface="Patrick Hand"/>
                <a:ea typeface="Patrick Hand"/>
                <a:cs typeface="Patrick Hand"/>
                <a:sym typeface="Patrick Hand"/>
              </a:rPr>
              <a:t>Measuring Dispersion</a:t>
            </a:r>
            <a:endParaRPr b="1"/>
          </a:p>
        </p:txBody>
      </p:sp>
      <p:sp>
        <p:nvSpPr>
          <p:cNvPr id="196" name="Google Shape;196;p21"/>
          <p:cNvSpPr/>
          <p:nvPr/>
        </p:nvSpPr>
        <p:spPr>
          <a:xfrm>
            <a:off x="749643" y="1563860"/>
            <a:ext cx="6152753" cy="966193"/>
          </a:xfrm>
          <a:prstGeom prst="rect">
            <a:avLst/>
          </a:prstGeom>
          <a:noFill/>
          <a:ln>
            <a:noFill/>
          </a:ln>
        </p:spPr>
        <p:txBody>
          <a:bodyPr spcFirstLastPara="1" wrap="square" lIns="0" tIns="0" rIns="0" bIns="0" anchor="t" anchorCtr="0">
            <a:noAutofit/>
          </a:bodyPr>
          <a:lstStyle/>
          <a:p>
            <a:pPr>
              <a:lnSpc>
                <a:spcPct val="157894"/>
              </a:lnSpc>
              <a:buClr>
                <a:srgbClr val="383838"/>
              </a:buClr>
              <a:buSzPts val="1900"/>
            </a:pPr>
            <a:r>
              <a:rPr lang="en-US" dirty="0">
                <a:solidFill>
                  <a:srgbClr val="383838"/>
                </a:solidFill>
                <a:latin typeface="Patrick Hand"/>
                <a:ea typeface="Patrick Hand"/>
                <a:cs typeface="Patrick Hand"/>
                <a:sym typeface="Patrick Hand"/>
              </a:rPr>
              <a:t>Variance and standard deviation measure how spread out data values are. Larger values indicate more dispersion. Variance is calculated as the average of squared differences from the mean.</a:t>
            </a:r>
            <a:endParaRPr/>
          </a:p>
        </p:txBody>
      </p:sp>
      <p:sp>
        <p:nvSpPr>
          <p:cNvPr id="197" name="Google Shape;197;p21"/>
          <p:cNvSpPr/>
          <p:nvPr/>
        </p:nvSpPr>
        <p:spPr>
          <a:xfrm>
            <a:off x="805060" y="3368576"/>
            <a:ext cx="4833739" cy="289024"/>
          </a:xfrm>
          <a:prstGeom prst="rect">
            <a:avLst/>
          </a:prstGeom>
          <a:noFill/>
          <a:ln>
            <a:noFill/>
          </a:ln>
        </p:spPr>
        <p:txBody>
          <a:bodyPr spcFirstLastPara="1" wrap="square" lIns="0" tIns="0" rIns="0" bIns="0" anchor="t" anchorCtr="0">
            <a:noAutofit/>
          </a:bodyPr>
          <a:lstStyle/>
          <a:p>
            <a:pPr>
              <a:lnSpc>
                <a:spcPct val="123684"/>
              </a:lnSpc>
              <a:buClr>
                <a:srgbClr val="383838"/>
              </a:buClr>
              <a:buSzPts val="1900"/>
            </a:pPr>
            <a:r>
              <a:rPr lang="en-US" b="1" dirty="0">
                <a:solidFill>
                  <a:srgbClr val="383838"/>
                </a:solidFill>
                <a:latin typeface="Patrick Hand"/>
                <a:ea typeface="Patrick Hand"/>
                <a:cs typeface="Patrick Hand"/>
                <a:sym typeface="Patrick Hand"/>
              </a:rPr>
              <a:t>Quartiles and Position</a:t>
            </a:r>
            <a:endParaRPr b="1" dirty="0"/>
          </a:p>
        </p:txBody>
      </p:sp>
      <p:sp>
        <p:nvSpPr>
          <p:cNvPr id="198" name="Google Shape;198;p21"/>
          <p:cNvSpPr/>
          <p:nvPr/>
        </p:nvSpPr>
        <p:spPr>
          <a:xfrm>
            <a:off x="805061" y="3821410"/>
            <a:ext cx="6152753" cy="322064"/>
          </a:xfrm>
          <a:prstGeom prst="rect">
            <a:avLst/>
          </a:prstGeom>
          <a:noFill/>
          <a:ln>
            <a:noFill/>
          </a:ln>
        </p:spPr>
        <p:txBody>
          <a:bodyPr spcFirstLastPara="1" wrap="square" lIns="0" tIns="0" rIns="0" bIns="0" anchor="t" anchorCtr="0">
            <a:noAutofit/>
          </a:bodyPr>
          <a:lstStyle/>
          <a:p>
            <a:pPr>
              <a:lnSpc>
                <a:spcPct val="157894"/>
              </a:lnSpc>
              <a:buClr>
                <a:srgbClr val="383838"/>
              </a:buClr>
              <a:buSzPts val="1900"/>
            </a:pPr>
            <a:r>
              <a:rPr lang="en-US" dirty="0">
                <a:solidFill>
                  <a:srgbClr val="383838"/>
                </a:solidFill>
                <a:latin typeface="Patrick Hand"/>
                <a:ea typeface="Patrick Hand"/>
                <a:cs typeface="Patrick Hand"/>
                <a:sym typeface="Patrick Hand"/>
              </a:rPr>
              <a:t>Data arranged in order can be divided into quartiles:</a:t>
            </a:r>
            <a:endParaRPr dirty="0"/>
          </a:p>
        </p:txBody>
      </p:sp>
      <p:sp>
        <p:nvSpPr>
          <p:cNvPr id="199" name="Google Shape;199;p21"/>
          <p:cNvSpPr/>
          <p:nvPr/>
        </p:nvSpPr>
        <p:spPr>
          <a:xfrm>
            <a:off x="805061" y="4324549"/>
            <a:ext cx="6152753" cy="322064"/>
          </a:xfrm>
          <a:prstGeom prst="rect">
            <a:avLst/>
          </a:prstGeom>
          <a:noFill/>
          <a:ln>
            <a:noFill/>
          </a:ln>
        </p:spPr>
        <p:txBody>
          <a:bodyPr spcFirstLastPara="1" wrap="square" lIns="0" tIns="0" rIns="0" bIns="0" anchor="t" anchorCtr="0">
            <a:noAutofit/>
          </a:bodyPr>
          <a:lstStyle/>
          <a:p>
            <a:pPr>
              <a:lnSpc>
                <a:spcPct val="157894"/>
              </a:lnSpc>
              <a:buClr>
                <a:srgbClr val="383838"/>
              </a:buClr>
              <a:buSzPts val="1900"/>
            </a:pPr>
            <a:r>
              <a:rPr lang="en-US" b="1" dirty="0">
                <a:solidFill>
                  <a:srgbClr val="383838"/>
                </a:solidFill>
                <a:latin typeface="Patrick Hand"/>
                <a:ea typeface="Patrick Hand"/>
                <a:cs typeface="Patrick Hand"/>
                <a:sym typeface="Patrick Hand"/>
              </a:rPr>
              <a:t>Q1 (First Quartile):</a:t>
            </a:r>
            <a:r>
              <a:rPr lang="en-US" dirty="0">
                <a:solidFill>
                  <a:srgbClr val="383838"/>
                </a:solidFill>
                <a:latin typeface="Patrick Hand"/>
                <a:ea typeface="Patrick Hand"/>
                <a:cs typeface="Patrick Hand"/>
                <a:sym typeface="Patrick Hand"/>
              </a:rPr>
              <a:t> Median of first half</a:t>
            </a:r>
            <a:endParaRPr dirty="0"/>
          </a:p>
        </p:txBody>
      </p:sp>
      <p:sp>
        <p:nvSpPr>
          <p:cNvPr id="200" name="Google Shape;200;p21"/>
          <p:cNvSpPr/>
          <p:nvPr/>
        </p:nvSpPr>
        <p:spPr>
          <a:xfrm>
            <a:off x="805061" y="4717058"/>
            <a:ext cx="6152753" cy="322064"/>
          </a:xfrm>
          <a:prstGeom prst="rect">
            <a:avLst/>
          </a:prstGeom>
          <a:noFill/>
          <a:ln>
            <a:noFill/>
          </a:ln>
        </p:spPr>
        <p:txBody>
          <a:bodyPr spcFirstLastPara="1" wrap="square" lIns="0" tIns="0" rIns="0" bIns="0" anchor="t" anchorCtr="0">
            <a:noAutofit/>
          </a:bodyPr>
          <a:lstStyle/>
          <a:p>
            <a:pPr>
              <a:lnSpc>
                <a:spcPct val="157894"/>
              </a:lnSpc>
              <a:buClr>
                <a:srgbClr val="383838"/>
              </a:buClr>
              <a:buSzPts val="1900"/>
            </a:pPr>
            <a:r>
              <a:rPr lang="en-US" b="1" dirty="0">
                <a:solidFill>
                  <a:srgbClr val="383838"/>
                </a:solidFill>
                <a:latin typeface="Patrick Hand"/>
                <a:ea typeface="Patrick Hand"/>
                <a:cs typeface="Patrick Hand"/>
                <a:sym typeface="Patrick Hand"/>
              </a:rPr>
              <a:t>Q2 (Median):</a:t>
            </a:r>
            <a:r>
              <a:rPr lang="en-US" dirty="0">
                <a:solidFill>
                  <a:srgbClr val="383838"/>
                </a:solidFill>
                <a:latin typeface="Patrick Hand"/>
                <a:ea typeface="Patrick Hand"/>
                <a:cs typeface="Patrick Hand"/>
                <a:sym typeface="Patrick Hand"/>
              </a:rPr>
              <a:t> Central value</a:t>
            </a:r>
            <a:endParaRPr dirty="0"/>
          </a:p>
        </p:txBody>
      </p:sp>
      <p:sp>
        <p:nvSpPr>
          <p:cNvPr id="201" name="Google Shape;201;p21"/>
          <p:cNvSpPr/>
          <p:nvPr/>
        </p:nvSpPr>
        <p:spPr>
          <a:xfrm>
            <a:off x="805061" y="5109568"/>
            <a:ext cx="6152753" cy="322064"/>
          </a:xfrm>
          <a:prstGeom prst="rect">
            <a:avLst/>
          </a:prstGeom>
          <a:noFill/>
          <a:ln>
            <a:noFill/>
          </a:ln>
        </p:spPr>
        <p:txBody>
          <a:bodyPr spcFirstLastPara="1" wrap="square" lIns="0" tIns="0" rIns="0" bIns="0" anchor="t" anchorCtr="0">
            <a:noAutofit/>
          </a:bodyPr>
          <a:lstStyle/>
          <a:p>
            <a:pPr>
              <a:lnSpc>
                <a:spcPct val="157894"/>
              </a:lnSpc>
              <a:buClr>
                <a:srgbClr val="383838"/>
              </a:buClr>
              <a:buSzPts val="1900"/>
            </a:pPr>
            <a:r>
              <a:rPr lang="en-US" b="1" dirty="0">
                <a:solidFill>
                  <a:srgbClr val="383838"/>
                </a:solidFill>
                <a:latin typeface="Patrick Hand"/>
                <a:ea typeface="Patrick Hand"/>
                <a:cs typeface="Patrick Hand"/>
                <a:sym typeface="Patrick Hand"/>
              </a:rPr>
              <a:t>Q3 (Third Quartile):</a:t>
            </a:r>
            <a:r>
              <a:rPr lang="en-US" dirty="0">
                <a:solidFill>
                  <a:srgbClr val="383838"/>
                </a:solidFill>
                <a:latin typeface="Patrick Hand"/>
                <a:ea typeface="Patrick Hand"/>
                <a:cs typeface="Patrick Hand"/>
                <a:sym typeface="Patrick Hand"/>
              </a:rPr>
              <a:t> Median of second half</a:t>
            </a:r>
            <a:endParaRPr dirty="0"/>
          </a:p>
        </p:txBody>
      </p:sp>
      <p:sp>
        <p:nvSpPr>
          <p:cNvPr id="202" name="Google Shape;202;p21"/>
          <p:cNvSpPr/>
          <p:nvPr/>
        </p:nvSpPr>
        <p:spPr>
          <a:xfrm>
            <a:off x="805061" y="5612706"/>
            <a:ext cx="6152753" cy="322064"/>
          </a:xfrm>
          <a:prstGeom prst="rect">
            <a:avLst/>
          </a:prstGeom>
          <a:noFill/>
          <a:ln>
            <a:noFill/>
          </a:ln>
        </p:spPr>
        <p:txBody>
          <a:bodyPr spcFirstLastPara="1" wrap="square" lIns="0" tIns="0" rIns="0" bIns="0" anchor="t" anchorCtr="0">
            <a:noAutofit/>
          </a:bodyPr>
          <a:lstStyle/>
          <a:p>
            <a:pPr>
              <a:lnSpc>
                <a:spcPct val="157894"/>
              </a:lnSpc>
              <a:buClr>
                <a:srgbClr val="383838"/>
              </a:buClr>
              <a:buSzPts val="1900"/>
            </a:pPr>
            <a:r>
              <a:rPr lang="en-US" dirty="0">
                <a:solidFill>
                  <a:srgbClr val="383838"/>
                </a:solidFill>
                <a:latin typeface="Patrick Hand"/>
                <a:ea typeface="Patrick Hand"/>
                <a:cs typeface="Patrick Hand"/>
                <a:sym typeface="Patrick Hand"/>
              </a:rPr>
              <a:t>The five-number summary includes minimum, Q1, median, Q3, and maximum values.</a:t>
            </a:r>
            <a:endParaRPr dirty="0"/>
          </a:p>
        </p:txBody>
      </p:sp>
      <p:pic>
        <p:nvPicPr>
          <p:cNvPr id="203" name="Google Shape;203;p21" descr="preencoded.png"/>
          <p:cNvPicPr preferRelativeResize="0"/>
          <p:nvPr/>
        </p:nvPicPr>
        <p:blipFill rotWithShape="1">
          <a:blip r:embed="rId3" cstate="print">
            <a:alphaModFix/>
          </a:blip>
          <a:srcRect/>
          <a:stretch/>
        </p:blipFill>
        <p:spPr>
          <a:xfrm>
            <a:off x="7399681" y="858982"/>
            <a:ext cx="4030319" cy="4765963"/>
          </a:xfrm>
          <a:prstGeom prst="rect">
            <a:avLst/>
          </a:prstGeom>
          <a:noFill/>
          <a:ln>
            <a:noFill/>
          </a:ln>
        </p:spPr>
      </p:pic>
      <p:pic>
        <p:nvPicPr>
          <p:cNvPr id="2" name="Picture 2" descr="MAPS &amp; DIRECTIONS - Best Private University in Telangana &amp; Andhra Pradesh | KLH  Hyderabad">
            <a:extLst>
              <a:ext uri="{FF2B5EF4-FFF2-40B4-BE49-F238E27FC236}">
                <a16:creationId xmlns:a16="http://schemas.microsoft.com/office/drawing/2014/main" id="{962A911B-8FE0-70A4-23EC-7B882881FE8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83562" y="-416953"/>
            <a:ext cx="1908438" cy="141851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53B6DEA-07D3-48CB-E803-CB6021778172}"/>
              </a:ext>
            </a:extLst>
          </p:cNvPr>
          <p:cNvPicPr>
            <a:picLocks noChangeAspect="1"/>
          </p:cNvPicPr>
          <p:nvPr/>
        </p:nvPicPr>
        <p:blipFill>
          <a:blip r:embed="rId2"/>
          <a:stretch>
            <a:fillRect/>
          </a:stretch>
        </p:blipFill>
        <p:spPr>
          <a:xfrm>
            <a:off x="864208" y="5274344"/>
            <a:ext cx="4549534" cy="1181202"/>
          </a:xfrm>
          <a:prstGeom prst="rect">
            <a:avLst/>
          </a:prstGeom>
        </p:spPr>
      </p:pic>
      <p:sp>
        <p:nvSpPr>
          <p:cNvPr id="3" name="TextBox 2">
            <a:extLst>
              <a:ext uri="{FF2B5EF4-FFF2-40B4-BE49-F238E27FC236}">
                <a16:creationId xmlns:a16="http://schemas.microsoft.com/office/drawing/2014/main" id="{21E9A685-3C19-6D74-61EE-630CFFCB877B}"/>
              </a:ext>
            </a:extLst>
          </p:cNvPr>
          <p:cNvSpPr txBox="1"/>
          <p:nvPr/>
        </p:nvSpPr>
        <p:spPr>
          <a:xfrm>
            <a:off x="466530" y="234503"/>
            <a:ext cx="7007290" cy="461665"/>
          </a:xfrm>
          <a:prstGeom prst="rect">
            <a:avLst/>
          </a:prstGeom>
          <a:noFill/>
        </p:spPr>
        <p:txBody>
          <a:bodyPr wrap="square" rtlCol="0">
            <a:spAutoFit/>
          </a:bodyPr>
          <a:lstStyle/>
          <a:p>
            <a:r>
              <a:rPr lang="en-US" sz="2400" b="1" dirty="0"/>
              <a:t>Measuring Dispersion Example:</a:t>
            </a:r>
            <a:endParaRPr lang="en-IN" sz="2400" b="1" dirty="0"/>
          </a:p>
        </p:txBody>
      </p:sp>
      <p:sp>
        <p:nvSpPr>
          <p:cNvPr id="5" name="TextBox 4">
            <a:extLst>
              <a:ext uri="{FF2B5EF4-FFF2-40B4-BE49-F238E27FC236}">
                <a16:creationId xmlns:a16="http://schemas.microsoft.com/office/drawing/2014/main" id="{EDA415E3-E13E-05FD-7505-BF4BCF1E63BF}"/>
              </a:ext>
            </a:extLst>
          </p:cNvPr>
          <p:cNvSpPr txBox="1"/>
          <p:nvPr/>
        </p:nvSpPr>
        <p:spPr>
          <a:xfrm>
            <a:off x="249592" y="965411"/>
            <a:ext cx="10956471" cy="923330"/>
          </a:xfrm>
          <a:prstGeom prst="rect">
            <a:avLst/>
          </a:prstGeom>
          <a:noFill/>
        </p:spPr>
        <p:txBody>
          <a:bodyPr wrap="square">
            <a:spAutoFit/>
          </a:bodyPr>
          <a:lstStyle/>
          <a:p>
            <a:r>
              <a:rPr lang="en-US" dirty="0"/>
              <a:t>To measure the extent of dispersion of a data, or to find out how much the different values of a data are spread out, the variance of the data is measured. Larger value of variance or standard deviation indicates more dispersion in the data and vice versa.</a:t>
            </a:r>
            <a:endParaRPr lang="en-IN" dirty="0"/>
          </a:p>
        </p:txBody>
      </p:sp>
      <p:pic>
        <p:nvPicPr>
          <p:cNvPr id="6" name="Picture 5">
            <a:extLst>
              <a:ext uri="{FF2B5EF4-FFF2-40B4-BE49-F238E27FC236}">
                <a16:creationId xmlns:a16="http://schemas.microsoft.com/office/drawing/2014/main" id="{7BDA37C6-1B60-A119-990A-346335B38AF4}"/>
              </a:ext>
            </a:extLst>
          </p:cNvPr>
          <p:cNvPicPr>
            <a:picLocks noChangeAspect="1"/>
          </p:cNvPicPr>
          <p:nvPr/>
        </p:nvPicPr>
        <p:blipFill>
          <a:blip r:embed="rId3"/>
          <a:stretch>
            <a:fillRect/>
          </a:stretch>
        </p:blipFill>
        <p:spPr>
          <a:xfrm>
            <a:off x="317240" y="1812179"/>
            <a:ext cx="6027576" cy="3077062"/>
          </a:xfrm>
          <a:prstGeom prst="rect">
            <a:avLst/>
          </a:prstGeom>
        </p:spPr>
      </p:pic>
      <p:pic>
        <p:nvPicPr>
          <p:cNvPr id="7" name="Picture 6">
            <a:extLst>
              <a:ext uri="{FF2B5EF4-FFF2-40B4-BE49-F238E27FC236}">
                <a16:creationId xmlns:a16="http://schemas.microsoft.com/office/drawing/2014/main" id="{225E8210-E462-4E27-0FE7-D77C894162B9}"/>
              </a:ext>
            </a:extLst>
          </p:cNvPr>
          <p:cNvPicPr>
            <a:picLocks noChangeAspect="1"/>
          </p:cNvPicPr>
          <p:nvPr/>
        </p:nvPicPr>
        <p:blipFill>
          <a:blip r:embed="rId4"/>
          <a:stretch>
            <a:fillRect/>
          </a:stretch>
        </p:blipFill>
        <p:spPr>
          <a:xfrm>
            <a:off x="6592871" y="1710417"/>
            <a:ext cx="5588244" cy="4913080"/>
          </a:xfrm>
          <a:prstGeom prst="rect">
            <a:avLst/>
          </a:prstGeom>
        </p:spPr>
      </p:pic>
      <p:pic>
        <p:nvPicPr>
          <p:cNvPr id="8" name="Picture 2" descr="MAPS &amp; DIRECTIONS - Best Private University in Telangana &amp; Andhra Pradesh | KLH  Hyderabad">
            <a:extLst>
              <a:ext uri="{FF2B5EF4-FFF2-40B4-BE49-F238E27FC236}">
                <a16:creationId xmlns:a16="http://schemas.microsoft.com/office/drawing/2014/main" id="{84C7CA14-5A28-1C4F-E260-36ADCC9B194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283562" y="-416953"/>
            <a:ext cx="1908438" cy="14185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088937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63E9FC2-2376-B9D4-0DA6-34F7AE13F885}"/>
              </a:ext>
            </a:extLst>
          </p:cNvPr>
          <p:cNvSpPr txBox="1"/>
          <p:nvPr/>
        </p:nvSpPr>
        <p:spPr>
          <a:xfrm>
            <a:off x="389553" y="146571"/>
            <a:ext cx="6097554" cy="646331"/>
          </a:xfrm>
          <a:prstGeom prst="rect">
            <a:avLst/>
          </a:prstGeom>
          <a:noFill/>
        </p:spPr>
        <p:txBody>
          <a:bodyPr wrap="square">
            <a:spAutoFit/>
          </a:bodyPr>
          <a:lstStyle/>
          <a:p>
            <a:r>
              <a:rPr lang="en-IN" b="1" dirty="0"/>
              <a:t>Measuring data value position Example</a:t>
            </a:r>
          </a:p>
          <a:p>
            <a:endParaRPr lang="en-IN" dirty="0"/>
          </a:p>
        </p:txBody>
      </p:sp>
      <p:sp>
        <p:nvSpPr>
          <p:cNvPr id="5" name="TextBox 4">
            <a:extLst>
              <a:ext uri="{FF2B5EF4-FFF2-40B4-BE49-F238E27FC236}">
                <a16:creationId xmlns:a16="http://schemas.microsoft.com/office/drawing/2014/main" id="{EB95E936-B729-DA5A-81ED-1376B56B425E}"/>
              </a:ext>
            </a:extLst>
          </p:cNvPr>
          <p:cNvSpPr txBox="1"/>
          <p:nvPr/>
        </p:nvSpPr>
        <p:spPr>
          <a:xfrm>
            <a:off x="520181" y="883117"/>
            <a:ext cx="9239639" cy="1754326"/>
          </a:xfrm>
          <a:prstGeom prst="rect">
            <a:avLst/>
          </a:prstGeom>
          <a:noFill/>
        </p:spPr>
        <p:txBody>
          <a:bodyPr wrap="square">
            <a:spAutoFit/>
          </a:bodyPr>
          <a:lstStyle/>
          <a:p>
            <a:pPr>
              <a:buNone/>
            </a:pPr>
            <a:r>
              <a:rPr lang="en-US" dirty="0"/>
              <a:t>Every dataset can be summarized using </a:t>
            </a:r>
            <a:r>
              <a:rPr lang="en-US" b="1" dirty="0"/>
              <a:t>five key values</a:t>
            </a:r>
            <a:r>
              <a:rPr lang="en-US" dirty="0"/>
              <a:t>, called the </a:t>
            </a:r>
            <a:r>
              <a:rPr lang="en-US" b="1" dirty="0"/>
              <a:t>five-number summary</a:t>
            </a:r>
            <a:r>
              <a:rPr lang="en-US" dirty="0"/>
              <a:t>:</a:t>
            </a:r>
          </a:p>
          <a:p>
            <a:pPr>
              <a:buFont typeface="+mj-lt"/>
              <a:buAutoNum type="arabicPeriod"/>
            </a:pPr>
            <a:r>
              <a:rPr lang="en-US" b="1" dirty="0"/>
              <a:t>Minimum</a:t>
            </a:r>
            <a:r>
              <a:rPr lang="en-US" dirty="0"/>
              <a:t> – smallest value</a:t>
            </a:r>
          </a:p>
          <a:p>
            <a:pPr>
              <a:buFont typeface="+mj-lt"/>
              <a:buAutoNum type="arabicPeriod"/>
            </a:pPr>
            <a:r>
              <a:rPr lang="en-US" b="1" dirty="0"/>
              <a:t>First Quartile (Q1)</a:t>
            </a:r>
            <a:r>
              <a:rPr lang="en-US" dirty="0"/>
              <a:t> – middle of the </a:t>
            </a:r>
            <a:r>
              <a:rPr lang="en-US" b="1" dirty="0"/>
              <a:t>first half</a:t>
            </a:r>
            <a:endParaRPr lang="en-US" dirty="0"/>
          </a:p>
          <a:p>
            <a:pPr>
              <a:buFont typeface="+mj-lt"/>
              <a:buAutoNum type="arabicPeriod"/>
            </a:pPr>
            <a:r>
              <a:rPr lang="en-US" b="1" dirty="0"/>
              <a:t>Median (Q2)</a:t>
            </a:r>
            <a:r>
              <a:rPr lang="en-US" dirty="0"/>
              <a:t> – middle of the entire data</a:t>
            </a:r>
          </a:p>
          <a:p>
            <a:pPr>
              <a:buFont typeface="+mj-lt"/>
              <a:buAutoNum type="arabicPeriod"/>
            </a:pPr>
            <a:r>
              <a:rPr lang="en-US" b="1" dirty="0"/>
              <a:t>Third Quartile (Q3)</a:t>
            </a:r>
            <a:r>
              <a:rPr lang="en-US" dirty="0"/>
              <a:t> – middle of the </a:t>
            </a:r>
            <a:r>
              <a:rPr lang="en-US" b="1" dirty="0"/>
              <a:t>second half</a:t>
            </a:r>
            <a:endParaRPr lang="en-US" dirty="0"/>
          </a:p>
          <a:p>
            <a:pPr>
              <a:buFont typeface="+mj-lt"/>
              <a:buAutoNum type="arabicPeriod"/>
            </a:pPr>
            <a:r>
              <a:rPr lang="en-US" b="1" dirty="0"/>
              <a:t>Maximum</a:t>
            </a:r>
            <a:r>
              <a:rPr lang="en-US" dirty="0"/>
              <a:t> – largest value</a:t>
            </a:r>
          </a:p>
        </p:txBody>
      </p:sp>
      <p:sp>
        <p:nvSpPr>
          <p:cNvPr id="7" name="TextBox 6">
            <a:extLst>
              <a:ext uri="{FF2B5EF4-FFF2-40B4-BE49-F238E27FC236}">
                <a16:creationId xmlns:a16="http://schemas.microsoft.com/office/drawing/2014/main" id="{C12C57D2-7EF0-28E3-74FB-FB17C9DCF966}"/>
              </a:ext>
            </a:extLst>
          </p:cNvPr>
          <p:cNvSpPr txBox="1"/>
          <p:nvPr/>
        </p:nvSpPr>
        <p:spPr>
          <a:xfrm>
            <a:off x="622819" y="3059668"/>
            <a:ext cx="6097554" cy="369332"/>
          </a:xfrm>
          <a:prstGeom prst="rect">
            <a:avLst/>
          </a:prstGeom>
          <a:noFill/>
        </p:spPr>
        <p:txBody>
          <a:bodyPr wrap="square">
            <a:spAutoFit/>
          </a:bodyPr>
          <a:lstStyle/>
          <a:p>
            <a:r>
              <a:rPr lang="en-IN" dirty="0"/>
              <a:t>Let Data be (in Sorted Order):   2, 4, 6, 8, 10, 12, 14</a:t>
            </a:r>
          </a:p>
        </p:txBody>
      </p:sp>
      <p:sp>
        <p:nvSpPr>
          <p:cNvPr id="9" name="TextBox 8">
            <a:extLst>
              <a:ext uri="{FF2B5EF4-FFF2-40B4-BE49-F238E27FC236}">
                <a16:creationId xmlns:a16="http://schemas.microsoft.com/office/drawing/2014/main" id="{D0B4EC0F-F77C-A8E5-8F82-7E117FEFDEB7}"/>
              </a:ext>
            </a:extLst>
          </p:cNvPr>
          <p:cNvSpPr txBox="1"/>
          <p:nvPr/>
        </p:nvSpPr>
        <p:spPr>
          <a:xfrm>
            <a:off x="622819" y="3620393"/>
            <a:ext cx="6244512" cy="1200329"/>
          </a:xfrm>
          <a:prstGeom prst="rect">
            <a:avLst/>
          </a:prstGeom>
          <a:noFill/>
        </p:spPr>
        <p:txBody>
          <a:bodyPr wrap="square">
            <a:spAutoFit/>
          </a:bodyPr>
          <a:lstStyle/>
          <a:p>
            <a:pPr>
              <a:buNone/>
            </a:pPr>
            <a:r>
              <a:rPr lang="en-US" b="1" dirty="0"/>
              <a:t>Step-by-step:</a:t>
            </a:r>
          </a:p>
          <a:p>
            <a:pPr>
              <a:buFont typeface="Arial" panose="020B0604020202020204" pitchFamily="34" charset="0"/>
              <a:buChar char="•"/>
            </a:pPr>
            <a:r>
              <a:rPr lang="en-US" b="1" dirty="0"/>
              <a:t>Median (Q2)</a:t>
            </a:r>
            <a:r>
              <a:rPr lang="en-US" dirty="0"/>
              <a:t> = 8</a:t>
            </a:r>
          </a:p>
          <a:p>
            <a:pPr>
              <a:buFont typeface="Arial" panose="020B0604020202020204" pitchFamily="34" charset="0"/>
              <a:buChar char="•"/>
            </a:pPr>
            <a:r>
              <a:rPr lang="en-US" dirty="0"/>
              <a:t>Lower half = </a:t>
            </a:r>
            <a:r>
              <a:rPr lang="en-US" dirty="0">
                <a:latin typeface="Courier New" panose="02070309020205020404" pitchFamily="49" charset="0"/>
              </a:rPr>
              <a:t>2, 4, 6</a:t>
            </a:r>
            <a:r>
              <a:rPr lang="en-US" dirty="0"/>
              <a:t> → </a:t>
            </a:r>
            <a:r>
              <a:rPr lang="en-US" b="1" dirty="0"/>
              <a:t>Q1 = 4</a:t>
            </a:r>
            <a:endParaRPr lang="en-US" dirty="0"/>
          </a:p>
          <a:p>
            <a:pPr>
              <a:buFont typeface="Arial" panose="020B0604020202020204" pitchFamily="34" charset="0"/>
              <a:buChar char="•"/>
            </a:pPr>
            <a:r>
              <a:rPr lang="en-US" dirty="0"/>
              <a:t>Upper half = </a:t>
            </a:r>
            <a:r>
              <a:rPr lang="en-US" dirty="0">
                <a:latin typeface="Courier New" panose="02070309020205020404" pitchFamily="49" charset="0"/>
              </a:rPr>
              <a:t>10, 12, 14</a:t>
            </a:r>
            <a:r>
              <a:rPr lang="en-US" dirty="0"/>
              <a:t> → </a:t>
            </a:r>
            <a:r>
              <a:rPr lang="en-US" b="1" dirty="0"/>
              <a:t>Q3 = 12</a:t>
            </a:r>
            <a:endParaRPr lang="en-US" dirty="0"/>
          </a:p>
        </p:txBody>
      </p:sp>
      <p:sp>
        <p:nvSpPr>
          <p:cNvPr id="11" name="TextBox 10">
            <a:extLst>
              <a:ext uri="{FF2B5EF4-FFF2-40B4-BE49-F238E27FC236}">
                <a16:creationId xmlns:a16="http://schemas.microsoft.com/office/drawing/2014/main" id="{44774811-F661-922C-B45B-925A381345CE}"/>
              </a:ext>
            </a:extLst>
          </p:cNvPr>
          <p:cNvSpPr txBox="1"/>
          <p:nvPr/>
        </p:nvSpPr>
        <p:spPr>
          <a:xfrm>
            <a:off x="6711043" y="3429000"/>
            <a:ext cx="4336402" cy="1754326"/>
          </a:xfrm>
          <a:prstGeom prst="rect">
            <a:avLst/>
          </a:prstGeom>
          <a:noFill/>
        </p:spPr>
        <p:txBody>
          <a:bodyPr wrap="square">
            <a:spAutoFit/>
          </a:bodyPr>
          <a:lstStyle/>
          <a:p>
            <a:r>
              <a:rPr lang="en-IN" dirty="0"/>
              <a:t>Five Number Summary</a:t>
            </a:r>
          </a:p>
          <a:p>
            <a:r>
              <a:rPr lang="en-IN" dirty="0"/>
              <a:t>Min = 2</a:t>
            </a:r>
          </a:p>
          <a:p>
            <a:r>
              <a:rPr lang="en-IN" dirty="0"/>
              <a:t>Q1  = 4</a:t>
            </a:r>
          </a:p>
          <a:p>
            <a:r>
              <a:rPr lang="en-IN" dirty="0"/>
              <a:t>Q2  = 8</a:t>
            </a:r>
          </a:p>
          <a:p>
            <a:r>
              <a:rPr lang="en-IN" dirty="0"/>
              <a:t>Q3  = 12</a:t>
            </a:r>
          </a:p>
          <a:p>
            <a:r>
              <a:rPr lang="en-IN" dirty="0"/>
              <a:t>Max = 14</a:t>
            </a:r>
          </a:p>
        </p:txBody>
      </p:sp>
      <p:pic>
        <p:nvPicPr>
          <p:cNvPr id="12" name="Picture 2" descr="MAPS &amp; DIRECTIONS - Best Private University in Telangana &amp; Andhra Pradesh | KLH  Hyderabad">
            <a:extLst>
              <a:ext uri="{FF2B5EF4-FFF2-40B4-BE49-F238E27FC236}">
                <a16:creationId xmlns:a16="http://schemas.microsoft.com/office/drawing/2014/main" id="{6F20E96F-BFCB-1CCA-2479-8B37AEE24C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83562" y="-416953"/>
            <a:ext cx="1908438" cy="14185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23601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pic>
        <p:nvPicPr>
          <p:cNvPr id="209" name="Google Shape;209;p22" descr="preencoded.png"/>
          <p:cNvPicPr preferRelativeResize="0"/>
          <p:nvPr/>
        </p:nvPicPr>
        <p:blipFill rotWithShape="1">
          <a:blip r:embed="rId3" cstate="print">
            <a:alphaModFix/>
          </a:blip>
          <a:srcRect/>
          <a:stretch/>
        </p:blipFill>
        <p:spPr>
          <a:xfrm>
            <a:off x="0" y="0"/>
            <a:ext cx="4572000" cy="6860481"/>
          </a:xfrm>
          <a:prstGeom prst="rect">
            <a:avLst/>
          </a:prstGeom>
          <a:noFill/>
          <a:ln>
            <a:noFill/>
          </a:ln>
        </p:spPr>
      </p:pic>
      <p:sp>
        <p:nvSpPr>
          <p:cNvPr id="210" name="Google Shape;210;p22"/>
          <p:cNvSpPr/>
          <p:nvPr/>
        </p:nvSpPr>
        <p:spPr>
          <a:xfrm>
            <a:off x="1330036" y="0"/>
            <a:ext cx="9220516" cy="943570"/>
          </a:xfrm>
          <a:prstGeom prst="rect">
            <a:avLst/>
          </a:prstGeom>
          <a:noFill/>
          <a:ln>
            <a:noFill/>
          </a:ln>
        </p:spPr>
        <p:txBody>
          <a:bodyPr spcFirstLastPara="1" wrap="square" lIns="0" tIns="0" rIns="0" bIns="0" anchor="t" anchorCtr="0">
            <a:noAutofit/>
          </a:bodyPr>
          <a:lstStyle/>
          <a:p>
            <a:pPr algn="ctr">
              <a:lnSpc>
                <a:spcPct val="125352"/>
              </a:lnSpc>
              <a:buClr>
                <a:srgbClr val="383838"/>
              </a:buClr>
              <a:buSzPts val="3550"/>
            </a:pPr>
            <a:r>
              <a:rPr lang="en-US" sz="3000" dirty="0">
                <a:solidFill>
                  <a:srgbClr val="383838"/>
                </a:solidFill>
                <a:latin typeface="Patrick Hand"/>
                <a:ea typeface="Patrick Hand"/>
                <a:cs typeface="Patrick Hand"/>
                <a:sym typeface="Patrick Hand"/>
              </a:rPr>
              <a:t>Visualizing Data with Box Plots and Histograms</a:t>
            </a:r>
            <a:endParaRPr sz="3000"/>
          </a:p>
        </p:txBody>
      </p:sp>
      <p:sp>
        <p:nvSpPr>
          <p:cNvPr id="211" name="Google Shape;211;p22"/>
          <p:cNvSpPr/>
          <p:nvPr/>
        </p:nvSpPr>
        <p:spPr>
          <a:xfrm>
            <a:off x="5326757" y="1080410"/>
            <a:ext cx="6110486" cy="1644749"/>
          </a:xfrm>
          <a:prstGeom prst="roundRect">
            <a:avLst>
              <a:gd name="adj" fmla="val 4819"/>
            </a:avLst>
          </a:prstGeom>
          <a:solidFill>
            <a:srgbClr val="E6E6E6"/>
          </a:solidFill>
          <a:ln w="9525" cap="flat" cmpd="sng">
            <a:solidFill>
              <a:srgbClr val="CCCCCC"/>
            </a:solidFill>
            <a:prstDash val="solid"/>
            <a:round/>
            <a:headEnd type="none" w="sm" len="sm"/>
            <a:tailEnd type="none" w="sm" len="sm"/>
          </a:ln>
        </p:spPr>
        <p:txBody>
          <a:bodyPr spcFirstLastPara="1" wrap="square" lIns="76184" tIns="76184" rIns="76184" bIns="76184" anchor="ctr" anchorCtr="0">
            <a:noAutofit/>
          </a:bodyPr>
          <a:lstStyle/>
          <a:p>
            <a:endParaRPr/>
          </a:p>
        </p:txBody>
      </p:sp>
      <p:sp>
        <p:nvSpPr>
          <p:cNvPr id="212" name="Google Shape;212;p22"/>
          <p:cNvSpPr/>
          <p:nvPr/>
        </p:nvSpPr>
        <p:spPr>
          <a:xfrm>
            <a:off x="5410886" y="665775"/>
            <a:ext cx="1886943" cy="235843"/>
          </a:xfrm>
          <a:prstGeom prst="rect">
            <a:avLst/>
          </a:prstGeom>
          <a:noFill/>
          <a:ln>
            <a:noFill/>
          </a:ln>
        </p:spPr>
        <p:txBody>
          <a:bodyPr spcFirstLastPara="1" wrap="square" lIns="0" tIns="0" rIns="0" bIns="0" anchor="t" anchorCtr="0">
            <a:noAutofit/>
          </a:bodyPr>
          <a:lstStyle/>
          <a:p>
            <a:pPr>
              <a:lnSpc>
                <a:spcPct val="125714"/>
              </a:lnSpc>
              <a:buClr>
                <a:srgbClr val="383838"/>
              </a:buClr>
              <a:buSzPts val="1750"/>
            </a:pPr>
            <a:r>
              <a:rPr lang="en-US" sz="1500" b="1" dirty="0">
                <a:solidFill>
                  <a:srgbClr val="383838"/>
                </a:solidFill>
                <a:latin typeface="Patrick Hand"/>
                <a:ea typeface="Patrick Hand"/>
                <a:cs typeface="Patrick Hand"/>
                <a:sym typeface="Patrick Hand"/>
              </a:rPr>
              <a:t>Box Plots</a:t>
            </a:r>
            <a:endParaRPr sz="1500" b="1"/>
          </a:p>
        </p:txBody>
      </p:sp>
      <p:sp>
        <p:nvSpPr>
          <p:cNvPr id="213" name="Google Shape;213;p22"/>
          <p:cNvSpPr/>
          <p:nvPr/>
        </p:nvSpPr>
        <p:spPr>
          <a:xfrm>
            <a:off x="5424740" y="1153373"/>
            <a:ext cx="5720557" cy="905768"/>
          </a:xfrm>
          <a:prstGeom prst="rect">
            <a:avLst/>
          </a:prstGeom>
          <a:noFill/>
          <a:ln>
            <a:noFill/>
          </a:ln>
        </p:spPr>
        <p:txBody>
          <a:bodyPr spcFirstLastPara="1" wrap="square" lIns="0" tIns="0" rIns="0" bIns="0" anchor="t" anchorCtr="0">
            <a:noAutofit/>
          </a:bodyPr>
          <a:lstStyle/>
          <a:p>
            <a:pPr>
              <a:lnSpc>
                <a:spcPct val="162857"/>
              </a:lnSpc>
              <a:buClr>
                <a:srgbClr val="383838"/>
              </a:buClr>
              <a:buSzPts val="1750"/>
            </a:pPr>
            <a:r>
              <a:rPr lang="en-US" sz="1500" dirty="0">
                <a:solidFill>
                  <a:srgbClr val="383838"/>
                </a:solidFill>
                <a:latin typeface="Patrick Hand"/>
                <a:ea typeface="Patrick Hand"/>
                <a:cs typeface="Patrick Hand"/>
                <a:sym typeface="Patrick Hand"/>
              </a:rPr>
              <a:t>Box plots visualize the five-number summary. The box spans Q1 to Q3 (IQR), with a band showing the median. Whiskers extend to 1.5 × IQR. Points beyond whiskers are outliers requiring special consideration.</a:t>
            </a:r>
            <a:endParaRPr sz="1500" dirty="0"/>
          </a:p>
        </p:txBody>
      </p:sp>
      <p:sp>
        <p:nvSpPr>
          <p:cNvPr id="214" name="Google Shape;214;p22"/>
          <p:cNvSpPr/>
          <p:nvPr/>
        </p:nvSpPr>
        <p:spPr>
          <a:xfrm>
            <a:off x="5326757" y="3343267"/>
            <a:ext cx="6110486" cy="1644749"/>
          </a:xfrm>
          <a:prstGeom prst="roundRect">
            <a:avLst>
              <a:gd name="adj" fmla="val 4819"/>
            </a:avLst>
          </a:prstGeom>
          <a:solidFill>
            <a:srgbClr val="E6E6E6"/>
          </a:solidFill>
          <a:ln w="9525" cap="flat" cmpd="sng">
            <a:solidFill>
              <a:srgbClr val="CCCCCC"/>
            </a:solidFill>
            <a:prstDash val="solid"/>
            <a:round/>
            <a:headEnd type="none" w="sm" len="sm"/>
            <a:tailEnd type="none" w="sm" len="sm"/>
          </a:ln>
        </p:spPr>
        <p:txBody>
          <a:bodyPr spcFirstLastPara="1" wrap="square" lIns="76184" tIns="76184" rIns="76184" bIns="76184" anchor="ctr" anchorCtr="0">
            <a:noAutofit/>
          </a:bodyPr>
          <a:lstStyle/>
          <a:p>
            <a:endParaRPr/>
          </a:p>
        </p:txBody>
      </p:sp>
      <p:sp>
        <p:nvSpPr>
          <p:cNvPr id="215" name="Google Shape;215;p22"/>
          <p:cNvSpPr/>
          <p:nvPr/>
        </p:nvSpPr>
        <p:spPr>
          <a:xfrm>
            <a:off x="5521722" y="2942485"/>
            <a:ext cx="1886943" cy="235843"/>
          </a:xfrm>
          <a:prstGeom prst="rect">
            <a:avLst/>
          </a:prstGeom>
          <a:noFill/>
          <a:ln>
            <a:noFill/>
          </a:ln>
        </p:spPr>
        <p:txBody>
          <a:bodyPr spcFirstLastPara="1" wrap="square" lIns="0" tIns="0" rIns="0" bIns="0" anchor="t" anchorCtr="0">
            <a:noAutofit/>
          </a:bodyPr>
          <a:lstStyle/>
          <a:p>
            <a:pPr>
              <a:lnSpc>
                <a:spcPct val="125714"/>
              </a:lnSpc>
              <a:buClr>
                <a:srgbClr val="383838"/>
              </a:buClr>
              <a:buSzPts val="1750"/>
            </a:pPr>
            <a:r>
              <a:rPr lang="en-US" sz="1500" b="1" dirty="0">
                <a:solidFill>
                  <a:srgbClr val="383838"/>
                </a:solidFill>
                <a:latin typeface="Patrick Hand"/>
                <a:ea typeface="Patrick Hand"/>
                <a:cs typeface="Patrick Hand"/>
                <a:sym typeface="Patrick Hand"/>
              </a:rPr>
              <a:t>Histograms</a:t>
            </a:r>
            <a:endParaRPr sz="1500" b="1"/>
          </a:p>
        </p:txBody>
      </p:sp>
      <p:sp>
        <p:nvSpPr>
          <p:cNvPr id="216" name="Google Shape;216;p22"/>
          <p:cNvSpPr/>
          <p:nvPr/>
        </p:nvSpPr>
        <p:spPr>
          <a:xfrm>
            <a:off x="5521722" y="3291537"/>
            <a:ext cx="5720557" cy="905768"/>
          </a:xfrm>
          <a:prstGeom prst="rect">
            <a:avLst/>
          </a:prstGeom>
          <a:noFill/>
          <a:ln>
            <a:noFill/>
          </a:ln>
        </p:spPr>
        <p:txBody>
          <a:bodyPr spcFirstLastPara="1" wrap="square" lIns="0" tIns="0" rIns="0" bIns="0" anchor="t" anchorCtr="0">
            <a:noAutofit/>
          </a:bodyPr>
          <a:lstStyle/>
          <a:p>
            <a:pPr>
              <a:lnSpc>
                <a:spcPct val="162857"/>
              </a:lnSpc>
              <a:buClr>
                <a:srgbClr val="383838"/>
              </a:buClr>
              <a:buSzPts val="1750"/>
            </a:pPr>
            <a:r>
              <a:rPr lang="en-US" sz="1500" dirty="0">
                <a:solidFill>
                  <a:srgbClr val="383838"/>
                </a:solidFill>
                <a:latin typeface="Patrick Hand"/>
                <a:ea typeface="Patrick Hand"/>
                <a:cs typeface="Patrick Hand"/>
                <a:sym typeface="Patrick Hand"/>
              </a:rPr>
              <a:t>Histograms show data distribution across intervals (bins). Bar heights reflect frequency of values in each range. Shapes reveal patterns: right-skewed, left-skewed, symmetric, uniform, or multimodal distributions.</a:t>
            </a:r>
            <a:endParaRPr sz="1500" dirty="0"/>
          </a:p>
        </p:txBody>
      </p:sp>
      <p:sp>
        <p:nvSpPr>
          <p:cNvPr id="217" name="Google Shape;217;p22"/>
          <p:cNvSpPr/>
          <p:nvPr/>
        </p:nvSpPr>
        <p:spPr>
          <a:xfrm>
            <a:off x="5326757" y="5338790"/>
            <a:ext cx="6110486" cy="905768"/>
          </a:xfrm>
          <a:prstGeom prst="rect">
            <a:avLst/>
          </a:prstGeom>
          <a:noFill/>
          <a:ln>
            <a:noFill/>
          </a:ln>
        </p:spPr>
        <p:txBody>
          <a:bodyPr spcFirstLastPara="1" wrap="square" lIns="0" tIns="0" rIns="0" bIns="0" anchor="t" anchorCtr="0">
            <a:noAutofit/>
          </a:bodyPr>
          <a:lstStyle/>
          <a:p>
            <a:pPr>
              <a:lnSpc>
                <a:spcPct val="162857"/>
              </a:lnSpc>
              <a:buClr>
                <a:srgbClr val="383838"/>
              </a:buClr>
              <a:buSzPts val="1750"/>
            </a:pPr>
            <a:r>
              <a:rPr lang="en-US" sz="1500" dirty="0">
                <a:solidFill>
                  <a:srgbClr val="383838"/>
                </a:solidFill>
                <a:latin typeface="Patrick Hand"/>
                <a:ea typeface="Patrick Hand"/>
                <a:cs typeface="Patrick Hand"/>
                <a:sym typeface="Patrick Hand"/>
              </a:rPr>
              <a:t>These visualization tools are essential for data exploration, helping identify patterns, outliers, and distribution characteristics that inform model selection and preprocessing decisions.</a:t>
            </a:r>
            <a:endParaRPr sz="1500" dirty="0"/>
          </a:p>
        </p:txBody>
      </p:sp>
      <p:pic>
        <p:nvPicPr>
          <p:cNvPr id="2" name="Picture 2" descr="MAPS &amp; DIRECTIONS - Best Private University in Telangana &amp; Andhra Pradesh | KLH  Hyderabad">
            <a:extLst>
              <a:ext uri="{FF2B5EF4-FFF2-40B4-BE49-F238E27FC236}">
                <a16:creationId xmlns:a16="http://schemas.microsoft.com/office/drawing/2014/main" id="{50356B57-63D3-2660-7FA7-D73955CB9E0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83562" y="-416953"/>
            <a:ext cx="1908438" cy="141851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DFA209D-BA82-A906-A69F-2D683DC2DF9D}"/>
              </a:ext>
            </a:extLst>
          </p:cNvPr>
          <p:cNvPicPr>
            <a:picLocks noChangeAspect="1"/>
          </p:cNvPicPr>
          <p:nvPr/>
        </p:nvPicPr>
        <p:blipFill>
          <a:blip r:embed="rId2"/>
          <a:stretch>
            <a:fillRect/>
          </a:stretch>
        </p:blipFill>
        <p:spPr>
          <a:xfrm>
            <a:off x="454404" y="851639"/>
            <a:ext cx="5311600" cy="4054191"/>
          </a:xfrm>
          <a:prstGeom prst="rect">
            <a:avLst/>
          </a:prstGeom>
        </p:spPr>
      </p:pic>
      <p:pic>
        <p:nvPicPr>
          <p:cNvPr id="4" name="Picture 3">
            <a:extLst>
              <a:ext uri="{FF2B5EF4-FFF2-40B4-BE49-F238E27FC236}">
                <a16:creationId xmlns:a16="http://schemas.microsoft.com/office/drawing/2014/main" id="{46916EE6-164C-4042-B756-CF759BDF8243}"/>
              </a:ext>
            </a:extLst>
          </p:cNvPr>
          <p:cNvPicPr>
            <a:picLocks noChangeAspect="1"/>
          </p:cNvPicPr>
          <p:nvPr/>
        </p:nvPicPr>
        <p:blipFill>
          <a:blip r:embed="rId3"/>
          <a:stretch>
            <a:fillRect/>
          </a:stretch>
        </p:blipFill>
        <p:spPr>
          <a:xfrm>
            <a:off x="6189755" y="1057397"/>
            <a:ext cx="5547841" cy="3848433"/>
          </a:xfrm>
          <a:prstGeom prst="rect">
            <a:avLst/>
          </a:prstGeom>
        </p:spPr>
      </p:pic>
      <p:pic>
        <p:nvPicPr>
          <p:cNvPr id="5" name="Picture 2" descr="MAPS &amp; DIRECTIONS - Best Private University in Telangana &amp; Andhra Pradesh | KLH  Hyderabad">
            <a:extLst>
              <a:ext uri="{FF2B5EF4-FFF2-40B4-BE49-F238E27FC236}">
                <a16:creationId xmlns:a16="http://schemas.microsoft.com/office/drawing/2014/main" id="{F7E64D6F-BA56-A443-D270-E0A793836A7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83562" y="-416953"/>
            <a:ext cx="1908438" cy="14185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535990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0436" y="2408238"/>
            <a:ext cx="10972800" cy="1143000"/>
          </a:xfrm>
        </p:spPr>
        <p:txBody>
          <a:bodyPr>
            <a:noAutofit/>
          </a:bodyPr>
          <a:lstStyle/>
          <a:p>
            <a:r>
              <a:rPr lang="en-US" sz="7200" b="1" dirty="0">
                <a:solidFill>
                  <a:srgbClr val="7030A0"/>
                </a:solidFill>
              </a:rPr>
              <a:t>SUMMARY</a:t>
            </a:r>
          </a:p>
        </p:txBody>
      </p:sp>
      <p:pic>
        <p:nvPicPr>
          <p:cNvPr id="3" name="Picture 2" descr="MAPS &amp; DIRECTIONS - Best Private University in Telangana &amp; Andhra Pradesh | KLH  Hyderabad">
            <a:extLst>
              <a:ext uri="{FF2B5EF4-FFF2-40B4-BE49-F238E27FC236}">
                <a16:creationId xmlns:a16="http://schemas.microsoft.com/office/drawing/2014/main" id="{7B1B04EF-8966-54FF-DF2C-D39110C5D8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83562" y="-416953"/>
            <a:ext cx="1908438" cy="141851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E792BE84-3448-2348-B352-CD5BC083E5FD}"/>
              </a:ext>
            </a:extLst>
          </p:cNvPr>
          <p:cNvSpPr>
            <a:spLocks noGrp="1"/>
          </p:cNvSpPr>
          <p:nvPr>
            <p:ph idx="1"/>
          </p:nvPr>
        </p:nvSpPr>
        <p:spPr>
          <a:xfrm>
            <a:off x="1230784" y="1744991"/>
            <a:ext cx="9975272" cy="331123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None/>
            </a:pPr>
            <a:endParaRPr lang="en-US" sz="2400" dirty="0">
              <a:latin typeface="Poppins" pitchFamily="2" charset="77"/>
              <a:cs typeface="Poppins" pitchFamily="2" charset="77"/>
            </a:endParaRPr>
          </a:p>
          <a:p>
            <a:pPr marL="0" indent="0" algn="ctr">
              <a:buNone/>
            </a:pPr>
            <a:endParaRPr lang="en-US" sz="2400" b="1" dirty="0">
              <a:latin typeface="Poppins" pitchFamily="2" charset="77"/>
              <a:cs typeface="Poppins" pitchFamily="2" charset="77"/>
            </a:endParaRPr>
          </a:p>
          <a:p>
            <a:pPr marL="0" indent="0" algn="ctr">
              <a:buNone/>
            </a:pPr>
            <a:r>
              <a:rPr lang="en-US" sz="3200" b="1" dirty="0">
                <a:latin typeface="Times New Roman" panose="02020603050405020304" pitchFamily="18" charset="0"/>
                <a:cs typeface="Times New Roman" panose="02020603050405020304" pitchFamily="18" charset="0"/>
              </a:rPr>
              <a:t>THANK YOU!</a:t>
            </a: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marL="0" indent="0" algn="ctr">
              <a:buNone/>
            </a:pPr>
            <a:endParaRPr lang="en-US" sz="2400" dirty="0">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5" name="Picture 2" descr="KL Deemed to be University Logo"/>
          <p:cNvPicPr>
            <a:picLocks noChangeAspect="1" noChangeArrowheads="1"/>
          </p:cNvPicPr>
          <p:nvPr/>
        </p:nvPicPr>
        <p:blipFill>
          <a:blip r:embed="rId2"/>
          <a:srcRect/>
          <a:stretch>
            <a:fillRect/>
          </a:stretch>
        </p:blipFill>
        <p:spPr bwMode="auto">
          <a:xfrm>
            <a:off x="5126606" y="3343511"/>
            <a:ext cx="3235570" cy="1083212"/>
          </a:xfrm>
          <a:prstGeom prst="rect">
            <a:avLst/>
          </a:prstGeom>
          <a:noFill/>
        </p:spPr>
      </p:pic>
      <p:pic>
        <p:nvPicPr>
          <p:cNvPr id="2" name="Picture 2" descr="MAPS &amp; DIRECTIONS - Best Private University in Telangana &amp; Andhra Pradesh | KLH  Hyderabad">
            <a:extLst>
              <a:ext uri="{FF2B5EF4-FFF2-40B4-BE49-F238E27FC236}">
                <a16:creationId xmlns:a16="http://schemas.microsoft.com/office/drawing/2014/main" id="{67A632FC-1D3B-583F-2024-FAB4F2096D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83562" y="-416953"/>
            <a:ext cx="1908438" cy="14185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45295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1319</TotalTime>
  <Words>1223</Words>
  <Application>Microsoft Office PowerPoint</Application>
  <PresentationFormat>Widescreen</PresentationFormat>
  <Paragraphs>136</Paragraphs>
  <Slides>17</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Arial</vt:lpstr>
      <vt:lpstr>Calibri</vt:lpstr>
      <vt:lpstr>Courier New</vt:lpstr>
      <vt:lpstr>Gill Sans MT</vt:lpstr>
      <vt:lpstr>Patrick Hand</vt:lpstr>
      <vt:lpstr>Poppins</vt:lpstr>
      <vt:lpstr>Times New Roman</vt:lpstr>
      <vt:lpstr>Office Theme</vt:lpstr>
      <vt:lpstr>PowerPoint Presentation</vt:lpstr>
      <vt:lpstr>RECAP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SUMMARY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 Manika Prasuna</dc:creator>
  <cp:lastModifiedBy>Jyothsna Datti</cp:lastModifiedBy>
  <cp:revision>123</cp:revision>
  <dcterms:created xsi:type="dcterms:W3CDTF">2025-05-12T05:57:37Z</dcterms:created>
  <dcterms:modified xsi:type="dcterms:W3CDTF">2025-12-16T08:29:43Z</dcterms:modified>
</cp:coreProperties>
</file>