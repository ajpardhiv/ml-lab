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72" r:id="rId3"/>
    <p:sldId id="306" r:id="rId4"/>
    <p:sldId id="307" r:id="rId5"/>
    <p:sldId id="308" r:id="rId6"/>
    <p:sldId id="309" r:id="rId7"/>
    <p:sldId id="310" r:id="rId8"/>
    <p:sldId id="311" r:id="rId9"/>
    <p:sldId id="315" r:id="rId10"/>
    <p:sldId id="312" r:id="rId11"/>
    <p:sldId id="313" r:id="rId12"/>
    <p:sldId id="314" r:id="rId13"/>
    <p:sldId id="30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-65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D1FEA-7D88-4351-B4E9-2BC90989004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44A2A-1EBD-4913-A3DC-265B3E2359F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6848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833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2666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1655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44128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770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301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8836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353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9855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3697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A3636-4462-45DC-BB00-FF6375F9F6C0}" type="datetimeFigureOut">
              <a:rPr lang="en-IN" smtClean="0"/>
              <a:pPr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F3EC4-EDD9-42C1-AC18-D944FC4FABD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5301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xmlns="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E3F2F65-8282-9C7E-CEBC-B3FCF09DF9DC}"/>
              </a:ext>
            </a:extLst>
          </p:cNvPr>
          <p:cNvSpPr txBox="1"/>
          <p:nvPr/>
        </p:nvSpPr>
        <p:spPr>
          <a:xfrm>
            <a:off x="1239388" y="6785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/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</a:t>
            </a:r>
            <a:r>
              <a:rPr kumimoji="0" lang="en-US" sz="40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LEARNING</a:t>
            </a:r>
          </a:p>
          <a:p>
            <a:pPr algn="ctr"/>
            <a:r>
              <a:rPr lang="en-US" sz="4000" b="1" cap="all" dirty="0" smtClean="0">
                <a:solidFill>
                  <a:schemeClr val="accent2">
                    <a:lumMod val="50000"/>
                  </a:schemeClr>
                </a:solidFill>
                <a:latin typeface="Gill Sans MT"/>
                <a:ea typeface="+mj-ea"/>
                <a:cs typeface="+mj-cs"/>
              </a:rPr>
              <a:t>24Ad2204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2010671-249C-340E-19B5-2BA72FEB1F0C}"/>
              </a:ext>
            </a:extLst>
          </p:cNvPr>
          <p:cNvSpPr txBox="1"/>
          <p:nvPr/>
        </p:nvSpPr>
        <p:spPr>
          <a:xfrm>
            <a:off x="1280952" y="3331245"/>
            <a:ext cx="96578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cap="all" dirty="0" smtClean="0">
                <a:latin typeface="Gill Sans MT"/>
              </a:rPr>
              <a:t>Experment-2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154C2E2-EACF-1BFE-CD6E-44DC30D77DEC}"/>
              </a:ext>
            </a:extLst>
          </p:cNvPr>
          <p:cNvSpPr txBox="1"/>
          <p:nvPr/>
        </p:nvSpPr>
        <p:spPr>
          <a:xfrm>
            <a:off x="3041725" y="3252402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FFFF"/>
                </a:solidFill>
              </a:rPr>
              <a:t>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8817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E33D8F-40FF-4A07-76CF-6CCF467CD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xmlns="" id="{C11BF32E-6C59-974F-E412-B00047849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CA0FD01-E79E-40A0-F2BA-B06CD41D1FB5}"/>
              </a:ext>
            </a:extLst>
          </p:cNvPr>
          <p:cNvSpPr txBox="1"/>
          <p:nvPr/>
        </p:nvSpPr>
        <p:spPr>
          <a:xfrm>
            <a:off x="687779" y="1551381"/>
            <a:ext cx="108748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# </a:t>
            </a:r>
            <a:r>
              <a:rPr lang="en-IN" sz="2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en-IN" sz="28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IMPLEMENT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K-FOLD CROSS-VALIDATION AND BOOTSTRAP SAMPLING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4B7FAF-057A-DD72-CF66-8394AED578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898D44A-639B-FA19-DEBE-FD8B71C6B137}"/>
              </a:ext>
            </a:extLst>
          </p:cNvPr>
          <p:cNvSpPr txBox="1"/>
          <p:nvPr/>
        </p:nvSpPr>
        <p:spPr>
          <a:xfrm>
            <a:off x="3043518" y="3261532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FFFF"/>
                </a:solidFill>
              </a:rPr>
              <a:t>Algorithm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787236" y="4031673"/>
            <a:ext cx="9168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Relates to CO1 </a:t>
            </a:r>
            <a:r>
              <a:rPr lang="en-US" sz="2400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Concepts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Preparing </a:t>
            </a:r>
            <a:r>
              <a:rPr lang="en-US" sz="24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 model: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K-Fold Cross-validation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ensures our evaluation is robust despite data quality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issues.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3731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AF67B6-6C8F-6380-1CE9-C8FB76EE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Pre-Lab Concepts &amp;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F088C-100E-04B6-1288-9FBE66BB8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890" y="945238"/>
            <a:ext cx="10356273" cy="5067634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is the purpose of k-Fold Cross-Validation?</a:t>
            </a:r>
            <a:endParaRPr lang="en-IN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Instead of splitting your data into just one training set and one test set, you split it into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equal parts (folds).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then train the model </a:t>
            </a:r>
            <a:r>
              <a:rPr 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times, each time using a different fold as the test set and the remaining folds as the training set.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average the results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all </a:t>
            </a:r>
            <a:r>
              <a:rPr 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tests.  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uses all data for both training and testing (just not at the same time), giving a more reliable and stable performance estimate than a single random train/test split.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xmlns="" id="{C7350DE0-A129-D765-C633-261E69816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73788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05AB02-A487-B6C8-A1CD-931F79D5C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110"/>
            <a:ext cx="10515600" cy="5304127"/>
          </a:xfrm>
        </p:spPr>
        <p:txBody>
          <a:bodyPr>
            <a:normAutofit fontScale="85000" lnSpcReduction="20000"/>
          </a:bodyPr>
          <a:lstStyle/>
          <a:p>
            <a:pPr marL="457200" indent="-457200" algn="just">
              <a:lnSpc>
                <a:spcPct val="120000"/>
              </a:lnSpc>
              <a:buFont typeface="+mj-lt"/>
              <a:buAutoNum type="arabicParenR" startAt="2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Bootstrap sampling work? 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0" algn="just">
              <a:lnSpc>
                <a:spcPct val="120000"/>
              </a:lnSpc>
              <a:buNone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sampling is a straightforward resampling technique used to estimate statistics (like the mean or median) of a population when you only have one sample.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3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 bias-variance tradeoff in model evaluation?</a:t>
            </a: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bias-variance tradeoff is a key concept about the balance a model must strike between two types of errors: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Bias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Error from overly simplistic assumptions. High bias means the model misses important patterns (underfitting).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Variance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Error from being too sensitive to training data. High variance means the model learns noise and performs poorly on new data (overfitting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Tradeoff: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can't minimize both at the same time. As you make a model more complex to reduce bias, its variance tends to increase, and vice-versa.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Simple Model: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High Bias, Low Variance (Consistently wrong)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Complex Model: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Low Bias, High Variance (Inconsistent—good on training data, bad on new data)</a:t>
            </a:r>
          </a:p>
          <a:p>
            <a:r>
              <a:rPr lang="en-US" sz="24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The goal is to find the sweet spot where total error is minimized, creating a model that generalizes well to unseen data.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2" descr="KL University - Wikipedia">
            <a:extLst>
              <a:ext uri="{FF2B5EF4-FFF2-40B4-BE49-F238E27FC236}">
                <a16:creationId xmlns:a16="http://schemas.microsoft.com/office/drawing/2014/main" xmlns="" id="{A9121A1F-5D97-6BE6-6B8B-F07FC29FC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3DAF67B6-6C8F-6380-1CE9-C8FB76EE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54" y="0"/>
            <a:ext cx="9968345" cy="886691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Pre-Lab Concepts &amp; 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272937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3DAF67B6-6C8F-6380-1CE9-C8FB76EEB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017"/>
            <a:ext cx="10515600" cy="770948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Pre-Lab Concepts &amp;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FF088C-100E-04B6-1288-9FBE66BB8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54" y="1136073"/>
            <a:ext cx="5181600" cy="5043053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Font typeface="+mj-lt"/>
              <a:buAutoNum type="arabicPeriod" startAt="4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to split data into k folds.</a:t>
            </a:r>
            <a:endParaRPr lang="en-US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from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KFold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Create example data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=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np.arange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(100)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data  # Features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= data * 2  # Target (example)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1800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KFold</a:t>
            </a:r>
            <a:r>
              <a:rPr lang="en-US" sz="1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kf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KFold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n_splits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=5, shuffle=True,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data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folds = []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train_index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test_index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kf.split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(X):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X[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train_index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X[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test_index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y[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train_index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], y[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test_index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folds.append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f"Train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train_index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)}, Test: {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test_index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)}")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144491" y="1091333"/>
            <a:ext cx="5181600" cy="4976957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How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do you calculate confidence intervals using Bootstrap?</a:t>
            </a:r>
          </a:p>
          <a:p>
            <a:pPr marL="234950" indent="-23495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Resample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 replacement from your original data many times (e.g., 1000–10,000 times), each sample the same size as the original.</a:t>
            </a:r>
          </a:p>
          <a:p>
            <a:pPr marL="234950" indent="-23495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Compute your statistic (mean, median, proportion, etc.) for each resample.</a:t>
            </a:r>
          </a:p>
          <a:p>
            <a:pPr marL="234950" indent="-23495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the distribution of these bootstrap statistics to get the confidence interval.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xmlns="" id="{C7350DE0-A129-D765-C633-261E69816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73788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4E45D3-C9A0-9C00-342B-637A80A9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836" y="235527"/>
            <a:ext cx="6913419" cy="1163782"/>
          </a:xfrm>
        </p:spPr>
        <p:txBody>
          <a:bodyPr>
            <a:noAutofit/>
          </a:bodyPr>
          <a:lstStyle/>
          <a:p>
            <a:pPr lvl="0"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In-Lab Program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   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295779-DB60-2552-9D2B-40EC10C2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491" y="1094509"/>
            <a:ext cx="10515600" cy="5013181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Write a Python program to: </a:t>
            </a:r>
          </a:p>
          <a:p>
            <a:pPr marL="234950" indent="-234950" algn="just">
              <a:lnSpc>
                <a:spcPct val="20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Load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dataset (e.g., Iris). </a:t>
            </a:r>
          </a:p>
          <a:p>
            <a:pPr marL="234950" indent="-234950" algn="just">
              <a:lnSpc>
                <a:spcPct val="20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Implement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k-Fold Cross-Validation for k-NN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classifier.</a:t>
            </a:r>
          </a:p>
          <a:p>
            <a:pPr marL="234950" indent="-234950" algn="just">
              <a:lnSpc>
                <a:spcPct val="20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Calculate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print average accuracy across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folds.</a:t>
            </a:r>
          </a:p>
          <a:p>
            <a:pPr marL="234950" indent="-234950" algn="just">
              <a:lnSpc>
                <a:spcPct val="20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Implement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Bootstrap sampling for linear regression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parameters.</a:t>
            </a:r>
          </a:p>
          <a:p>
            <a:pPr marL="234950" indent="-234950" algn="just">
              <a:lnSpc>
                <a:spcPct val="20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Plot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confidence intervals for regression coefficients.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xmlns="" id="{1FC81081-422A-1142-E803-7BF9B18C1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236064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4E45D3-C9A0-9C00-342B-637A80A9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836" y="166255"/>
            <a:ext cx="9296400" cy="1163782"/>
          </a:xfrm>
        </p:spPr>
        <p:txBody>
          <a:bodyPr>
            <a:noAutofit/>
          </a:bodyPr>
          <a:lstStyle/>
          <a:p>
            <a:pPr lvl="0"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In-Lab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295779-DB60-2552-9D2B-40EC10C2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837" y="900546"/>
            <a:ext cx="10446327" cy="5749636"/>
          </a:xfrm>
        </p:spPr>
        <p:txBody>
          <a:bodyPr numCol="2">
            <a:noAutofit/>
          </a:bodyPr>
          <a:lstStyle/>
          <a:p>
            <a:pPr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numpy</a:t>
            </a:r>
            <a:r>
              <a:rPr lang="en-US" sz="1800" dirty="0" smtClean="0"/>
              <a:t> as </a:t>
            </a:r>
            <a:r>
              <a:rPr lang="en-US" sz="1800" dirty="0" err="1" smtClean="0"/>
              <a:t>np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import </a:t>
            </a:r>
            <a:r>
              <a:rPr lang="en-US" sz="1800" dirty="0" err="1" smtClean="0"/>
              <a:t>matplotlib.pyplot</a:t>
            </a:r>
            <a:r>
              <a:rPr lang="en-US" sz="1800" dirty="0" smtClean="0"/>
              <a:t> as </a:t>
            </a:r>
            <a:r>
              <a:rPr lang="en-US" sz="1800" dirty="0" err="1" smtClean="0"/>
              <a:t>plt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sklearn.datasets</a:t>
            </a:r>
            <a:r>
              <a:rPr lang="en-US" sz="1800" dirty="0" smtClean="0"/>
              <a:t> import </a:t>
            </a:r>
            <a:r>
              <a:rPr lang="en-US" sz="1800" dirty="0" err="1" smtClean="0"/>
              <a:t>load_iris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sklearn.neighbors</a:t>
            </a:r>
            <a:r>
              <a:rPr lang="en-US" sz="1800" dirty="0" smtClean="0"/>
              <a:t> import </a:t>
            </a:r>
            <a:r>
              <a:rPr lang="en-US" sz="1800" dirty="0" err="1" smtClean="0"/>
              <a:t>KNeighborsClassifier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sklearn.linear_model</a:t>
            </a:r>
            <a:r>
              <a:rPr lang="en-US" sz="1800" dirty="0" smtClean="0"/>
              <a:t> import </a:t>
            </a:r>
            <a:r>
              <a:rPr lang="en-US" sz="1800" dirty="0" err="1" smtClean="0"/>
              <a:t>LinearRegression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sklearn.metrics</a:t>
            </a:r>
            <a:r>
              <a:rPr lang="en-US" sz="1800" dirty="0" smtClean="0"/>
              <a:t> import </a:t>
            </a:r>
            <a:r>
              <a:rPr lang="en-US" sz="1800" dirty="0" err="1" smtClean="0"/>
              <a:t>accuracy_score</a:t>
            </a: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 # Load dataset</a:t>
            </a:r>
          </a:p>
          <a:p>
            <a:pPr>
              <a:buNone/>
            </a:pPr>
            <a:r>
              <a:rPr lang="en-US" sz="1800" dirty="0" smtClean="0"/>
              <a:t>iris = </a:t>
            </a:r>
            <a:r>
              <a:rPr lang="en-US" sz="1800" dirty="0" err="1" smtClean="0"/>
              <a:t>load_iris</a:t>
            </a:r>
            <a:r>
              <a:rPr lang="en-US" sz="1800" dirty="0" smtClean="0"/>
              <a:t>()</a:t>
            </a:r>
          </a:p>
          <a:p>
            <a:pPr>
              <a:buNone/>
            </a:pPr>
            <a:r>
              <a:rPr lang="en-US" sz="1800" dirty="0" smtClean="0"/>
              <a:t>X, y = </a:t>
            </a:r>
            <a:r>
              <a:rPr lang="en-US" sz="1800" dirty="0" err="1" smtClean="0"/>
              <a:t>iris.data</a:t>
            </a:r>
            <a:r>
              <a:rPr lang="en-US" sz="1800" dirty="0" smtClean="0"/>
              <a:t>, </a:t>
            </a:r>
            <a:r>
              <a:rPr lang="en-US" sz="1800" dirty="0" err="1" smtClean="0"/>
              <a:t>iris.target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 # 1. k-Fold Cross-Validation for k-NN</a:t>
            </a:r>
          </a:p>
          <a:p>
            <a:pPr>
              <a:buNone/>
            </a:pPr>
            <a:r>
              <a:rPr lang="en-US" sz="1800" dirty="0" smtClean="0"/>
              <a:t>def </a:t>
            </a:r>
            <a:r>
              <a:rPr lang="en-US" sz="1800" dirty="0" err="1" smtClean="0"/>
              <a:t>k_fold_cv</a:t>
            </a:r>
            <a:r>
              <a:rPr lang="en-US" sz="1800" dirty="0" smtClean="0"/>
              <a:t>(X, y, k=5, </a:t>
            </a:r>
            <a:r>
              <a:rPr lang="en-US" sz="1800" dirty="0" err="1" smtClean="0"/>
              <a:t>n_neighbors</a:t>
            </a:r>
            <a:r>
              <a:rPr lang="en-US" sz="1800" dirty="0" smtClean="0"/>
              <a:t>=3):</a:t>
            </a:r>
          </a:p>
          <a:p>
            <a:pPr>
              <a:buNone/>
            </a:pPr>
            <a:r>
              <a:rPr lang="en-US" sz="1800" dirty="0" smtClean="0"/>
              <a:t>    </a:t>
            </a:r>
            <a:r>
              <a:rPr lang="en-US" sz="1800" dirty="0" err="1" smtClean="0"/>
              <a:t>fold_size</a:t>
            </a:r>
            <a:r>
              <a:rPr lang="en-US" sz="1800" dirty="0" smtClean="0"/>
              <a:t> = </a:t>
            </a:r>
            <a:r>
              <a:rPr lang="en-US" sz="1800" dirty="0" err="1" smtClean="0"/>
              <a:t>len</a:t>
            </a:r>
            <a:r>
              <a:rPr lang="en-US" sz="1800" dirty="0" smtClean="0"/>
              <a:t>(X) // k</a:t>
            </a:r>
          </a:p>
          <a:p>
            <a:pPr>
              <a:buNone/>
            </a:pPr>
            <a:r>
              <a:rPr lang="en-US" sz="1800" dirty="0" smtClean="0"/>
              <a:t>    accuracies = []</a:t>
            </a:r>
          </a:p>
          <a:p>
            <a:pPr>
              <a:buNone/>
            </a:pPr>
            <a:r>
              <a:rPr lang="en-US" sz="1800" dirty="0" smtClean="0"/>
              <a:t>    </a:t>
            </a:r>
          </a:p>
          <a:p>
            <a:pPr>
              <a:buNone/>
            </a:pPr>
            <a:r>
              <a:rPr lang="en-US" sz="1800" dirty="0" smtClean="0"/>
              <a:t>    for </a:t>
            </a:r>
            <a:r>
              <a:rPr lang="en-US" sz="1800" dirty="0" err="1" smtClean="0"/>
              <a:t>i</a:t>
            </a:r>
            <a:r>
              <a:rPr lang="en-US" sz="1800" dirty="0" smtClean="0"/>
              <a:t> in range(k):</a:t>
            </a:r>
          </a:p>
          <a:p>
            <a:pPr>
              <a:buNone/>
            </a:pPr>
            <a:r>
              <a:rPr lang="en-US" sz="1800" dirty="0" smtClean="0"/>
              <a:t>        start, end = </a:t>
            </a:r>
            <a:r>
              <a:rPr lang="en-US" sz="1800" dirty="0" err="1" smtClean="0"/>
              <a:t>i</a:t>
            </a:r>
            <a:r>
              <a:rPr lang="en-US" sz="1800" dirty="0" smtClean="0"/>
              <a:t> * </a:t>
            </a:r>
            <a:r>
              <a:rPr lang="en-US" sz="1800" dirty="0" err="1" smtClean="0"/>
              <a:t>fold_size</a:t>
            </a:r>
            <a:r>
              <a:rPr lang="en-US" sz="1800" dirty="0" smtClean="0"/>
              <a:t>, (</a:t>
            </a:r>
            <a:r>
              <a:rPr lang="en-US" sz="1800" dirty="0" err="1" smtClean="0"/>
              <a:t>i</a:t>
            </a:r>
            <a:r>
              <a:rPr lang="en-US" sz="1800" dirty="0" smtClean="0"/>
              <a:t> + 1) * </a:t>
            </a:r>
            <a:r>
              <a:rPr lang="en-US" sz="1800" dirty="0" err="1" smtClean="0"/>
              <a:t>fold_size</a:t>
            </a:r>
            <a:endParaRPr lang="en-US" sz="1800" dirty="0" smtClean="0"/>
          </a:p>
          <a:p>
            <a:pPr>
              <a:buNone/>
            </a:pPr>
            <a:r>
              <a:rPr lang="en-US" sz="1800" dirty="0" smtClean="0"/>
              <a:t>        </a:t>
            </a:r>
            <a:r>
              <a:rPr lang="en-US" sz="1800" dirty="0" err="1" smtClean="0"/>
              <a:t>X_test</a:t>
            </a:r>
            <a:r>
              <a:rPr lang="en-US" sz="1800" dirty="0" smtClean="0"/>
              <a:t>, </a:t>
            </a:r>
            <a:r>
              <a:rPr lang="en-US" sz="1800" dirty="0" err="1" smtClean="0"/>
              <a:t>y_test</a:t>
            </a:r>
            <a:r>
              <a:rPr lang="en-US" sz="1800" dirty="0" smtClean="0"/>
              <a:t> = X[</a:t>
            </a:r>
            <a:r>
              <a:rPr lang="en-US" sz="1800" dirty="0" err="1" smtClean="0"/>
              <a:t>start:end</a:t>
            </a:r>
            <a:r>
              <a:rPr lang="en-US" sz="1800" dirty="0" smtClean="0"/>
              <a:t>], y[</a:t>
            </a:r>
            <a:r>
              <a:rPr lang="en-US" sz="1800" dirty="0" err="1" smtClean="0"/>
              <a:t>start:end</a:t>
            </a:r>
            <a:r>
              <a:rPr lang="en-US" sz="1800" dirty="0" smtClean="0"/>
              <a:t>]</a:t>
            </a:r>
          </a:p>
          <a:p>
            <a:pPr>
              <a:buNone/>
            </a:pPr>
            <a:r>
              <a:rPr lang="en-US" sz="1800" dirty="0" smtClean="0"/>
              <a:t>        </a:t>
            </a:r>
            <a:r>
              <a:rPr lang="en-US" sz="1800" dirty="0" err="1" smtClean="0"/>
              <a:t>X_train</a:t>
            </a:r>
            <a:r>
              <a:rPr lang="en-US" sz="1800" dirty="0" smtClean="0"/>
              <a:t> = </a:t>
            </a:r>
            <a:r>
              <a:rPr lang="en-US" sz="1800" dirty="0" err="1" smtClean="0"/>
              <a:t>np.vstack</a:t>
            </a:r>
            <a:r>
              <a:rPr lang="en-US" sz="1800" dirty="0" smtClean="0"/>
              <a:t>([X[:start], X[end:]])</a:t>
            </a:r>
          </a:p>
          <a:p>
            <a:pPr>
              <a:buNone/>
            </a:pPr>
            <a:r>
              <a:rPr lang="en-US" sz="1800" dirty="0" smtClean="0"/>
              <a:t>        </a:t>
            </a:r>
            <a:r>
              <a:rPr lang="en-US" sz="1800" dirty="0" err="1" smtClean="0"/>
              <a:t>y_train</a:t>
            </a:r>
            <a:r>
              <a:rPr lang="en-US" sz="1800" dirty="0" smtClean="0"/>
              <a:t> = </a:t>
            </a:r>
            <a:r>
              <a:rPr lang="en-US" sz="1800" dirty="0" err="1" smtClean="0"/>
              <a:t>np.hstack</a:t>
            </a:r>
            <a:r>
              <a:rPr lang="en-US" sz="1800" dirty="0" smtClean="0"/>
              <a:t>([y[:start], y[end:]])</a:t>
            </a:r>
          </a:p>
          <a:p>
            <a:pPr>
              <a:buNone/>
            </a:pPr>
            <a:r>
              <a:rPr lang="en-US" sz="1800" dirty="0" smtClean="0"/>
              <a:t>        </a:t>
            </a:r>
          </a:p>
          <a:p>
            <a:pPr>
              <a:buNone/>
            </a:pPr>
            <a:r>
              <a:rPr lang="en-US" sz="1800" dirty="0" smtClean="0"/>
              <a:t>        </a:t>
            </a:r>
            <a:r>
              <a:rPr lang="en-US" sz="1800" dirty="0" err="1" smtClean="0"/>
              <a:t>knn</a:t>
            </a:r>
            <a:r>
              <a:rPr lang="en-US" sz="1800" dirty="0" smtClean="0"/>
              <a:t> = </a:t>
            </a:r>
            <a:r>
              <a:rPr lang="en-US" sz="1800" dirty="0" err="1" smtClean="0"/>
              <a:t>KNeighborsClassifier</a:t>
            </a:r>
            <a:r>
              <a:rPr lang="en-US" sz="1800" dirty="0" smtClean="0"/>
              <a:t>(</a:t>
            </a:r>
            <a:r>
              <a:rPr lang="en-US" sz="1800" dirty="0" err="1" smtClean="0"/>
              <a:t>n_neighbors</a:t>
            </a:r>
            <a:r>
              <a:rPr lang="en-US" sz="1800" dirty="0" smtClean="0"/>
              <a:t>=</a:t>
            </a:r>
            <a:r>
              <a:rPr lang="en-US" sz="1800" dirty="0" err="1" smtClean="0"/>
              <a:t>n_neighbors</a:t>
            </a:r>
            <a:r>
              <a:rPr lang="en-US" sz="1800" dirty="0" smtClean="0"/>
              <a:t>)</a:t>
            </a:r>
          </a:p>
          <a:p>
            <a:pPr>
              <a:buNone/>
            </a:pPr>
            <a:r>
              <a:rPr lang="en-US" sz="1800" dirty="0" smtClean="0"/>
              <a:t>        knn.fit(</a:t>
            </a:r>
            <a:r>
              <a:rPr lang="en-US" sz="1800" dirty="0" err="1" smtClean="0"/>
              <a:t>X_train</a:t>
            </a:r>
            <a:r>
              <a:rPr lang="en-US" sz="1800" dirty="0" smtClean="0"/>
              <a:t>, </a:t>
            </a:r>
            <a:r>
              <a:rPr lang="en-US" sz="1800" dirty="0" err="1" smtClean="0"/>
              <a:t>y_train</a:t>
            </a:r>
            <a:r>
              <a:rPr lang="en-US" sz="1800" dirty="0" smtClean="0"/>
              <a:t>)</a:t>
            </a:r>
          </a:p>
          <a:p>
            <a:pPr>
              <a:buNone/>
            </a:pPr>
            <a:r>
              <a:rPr lang="en-US" sz="1800" dirty="0" smtClean="0"/>
              <a:t>        </a:t>
            </a:r>
            <a:r>
              <a:rPr lang="en-US" sz="1800" dirty="0" err="1" smtClean="0"/>
              <a:t>y_pred</a:t>
            </a:r>
            <a:r>
              <a:rPr lang="en-US" sz="1800" dirty="0" smtClean="0"/>
              <a:t> = </a:t>
            </a:r>
            <a:r>
              <a:rPr lang="en-US" sz="1800" dirty="0" err="1" smtClean="0"/>
              <a:t>knn.predict</a:t>
            </a:r>
            <a:r>
              <a:rPr lang="en-US" sz="1800" dirty="0" smtClean="0"/>
              <a:t>(</a:t>
            </a:r>
            <a:r>
              <a:rPr lang="en-US" sz="1800" dirty="0" err="1" smtClean="0"/>
              <a:t>X_test</a:t>
            </a:r>
            <a:r>
              <a:rPr lang="en-US" sz="1800" dirty="0" smtClean="0"/>
              <a:t>)</a:t>
            </a:r>
          </a:p>
          <a:p>
            <a:pPr>
              <a:buNone/>
            </a:pPr>
            <a:r>
              <a:rPr lang="en-US" sz="1800" dirty="0" smtClean="0"/>
              <a:t>        </a:t>
            </a:r>
            <a:r>
              <a:rPr lang="en-US" sz="1800" dirty="0" err="1" smtClean="0"/>
              <a:t>accuracies.append</a:t>
            </a:r>
            <a:r>
              <a:rPr lang="en-US" sz="1800" dirty="0" smtClean="0"/>
              <a:t>(</a:t>
            </a:r>
            <a:r>
              <a:rPr lang="en-US" sz="1800" dirty="0" err="1" smtClean="0"/>
              <a:t>accuracy_score</a:t>
            </a:r>
            <a:r>
              <a:rPr lang="en-US" sz="1800" dirty="0" smtClean="0"/>
              <a:t>(</a:t>
            </a:r>
            <a:r>
              <a:rPr lang="en-US" sz="1800" dirty="0" err="1" smtClean="0"/>
              <a:t>y_test</a:t>
            </a:r>
            <a:r>
              <a:rPr lang="en-US" sz="1800" dirty="0" smtClean="0"/>
              <a:t>, </a:t>
            </a:r>
            <a:r>
              <a:rPr lang="en-US" sz="1800" dirty="0" err="1" smtClean="0"/>
              <a:t>y_pred</a:t>
            </a:r>
            <a:r>
              <a:rPr lang="en-US" sz="1800" dirty="0" smtClean="0"/>
              <a:t>))</a:t>
            </a:r>
          </a:p>
          <a:p>
            <a:pPr>
              <a:buNone/>
            </a:pPr>
            <a:r>
              <a:rPr lang="en-US" sz="1800" dirty="0" smtClean="0"/>
              <a:t>    </a:t>
            </a:r>
          </a:p>
          <a:p>
            <a:pPr>
              <a:buNone/>
            </a:pPr>
            <a:r>
              <a:rPr lang="en-US" sz="1800" dirty="0" smtClean="0"/>
              <a:t>    return </a:t>
            </a:r>
            <a:r>
              <a:rPr lang="en-US" sz="1800" dirty="0" err="1" smtClean="0"/>
              <a:t>np.mean</a:t>
            </a:r>
            <a:r>
              <a:rPr lang="en-US" sz="1800" dirty="0" smtClean="0"/>
              <a:t>(accuracies)</a:t>
            </a:r>
          </a:p>
          <a:p>
            <a:pPr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xmlns="" id="{1FC81081-422A-1142-E803-7BF9B18C1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236064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4E45D3-C9A0-9C00-342B-637A80A9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836" y="166255"/>
            <a:ext cx="9296400" cy="1163782"/>
          </a:xfrm>
        </p:spPr>
        <p:txBody>
          <a:bodyPr>
            <a:noAutofit/>
          </a:bodyPr>
          <a:lstStyle/>
          <a:p>
            <a:pPr lvl="0"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In-Lab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295779-DB60-2552-9D2B-40EC10C2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109" y="900546"/>
            <a:ext cx="10446327" cy="5015345"/>
          </a:xfrm>
        </p:spPr>
        <p:txBody>
          <a:bodyPr numCol="2">
            <a:no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# </a:t>
            </a:r>
            <a:r>
              <a:rPr lang="en-US" sz="2000" dirty="0" smtClean="0">
                <a:solidFill>
                  <a:srgbClr val="FF0000"/>
                </a:solidFill>
              </a:rPr>
              <a:t>Run k-Fold CV</a:t>
            </a:r>
          </a:p>
          <a:p>
            <a:pPr>
              <a:buNone/>
            </a:pPr>
            <a:r>
              <a:rPr lang="en-US" sz="2000" dirty="0" err="1" smtClean="0"/>
              <a:t>avg_accuracy</a:t>
            </a:r>
            <a:r>
              <a:rPr lang="en-US" sz="2000" dirty="0" smtClean="0"/>
              <a:t> = </a:t>
            </a:r>
            <a:r>
              <a:rPr lang="en-US" sz="2000" dirty="0" err="1" smtClean="0"/>
              <a:t>k_fold_cv</a:t>
            </a:r>
            <a:r>
              <a:rPr lang="en-US" sz="2000" dirty="0" smtClean="0"/>
              <a:t>(X, y, k=5)</a:t>
            </a:r>
          </a:p>
          <a:p>
            <a:pPr>
              <a:buNone/>
            </a:pPr>
            <a:r>
              <a:rPr lang="en-US" sz="2000" dirty="0" smtClean="0"/>
              <a:t>print(</a:t>
            </a:r>
            <a:r>
              <a:rPr lang="en-US" sz="2000" dirty="0" err="1" smtClean="0"/>
              <a:t>f"Average</a:t>
            </a:r>
            <a:r>
              <a:rPr lang="en-US" sz="2000" dirty="0" smtClean="0"/>
              <a:t> k-NN accuracy (k-Fold CV): {avg_accuracy:.3f}")</a:t>
            </a:r>
          </a:p>
          <a:p>
            <a:pPr>
              <a:buNone/>
            </a:pPr>
            <a:r>
              <a:rPr lang="en-US" sz="2000" dirty="0" smtClean="0"/>
              <a:t> 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# 2. Bootstrap for Linear Regression</a:t>
            </a:r>
          </a:p>
          <a:p>
            <a:pPr>
              <a:buNone/>
            </a:pPr>
            <a:r>
              <a:rPr lang="en-US" sz="2000" dirty="0" smtClean="0"/>
              <a:t>def </a:t>
            </a:r>
            <a:r>
              <a:rPr lang="en-US" sz="2000" dirty="0" err="1" smtClean="0"/>
              <a:t>bootstrap_regression</a:t>
            </a:r>
            <a:r>
              <a:rPr lang="en-US" sz="2000" dirty="0" smtClean="0"/>
              <a:t>(X, y, </a:t>
            </a:r>
            <a:r>
              <a:rPr lang="en-US" sz="2000" dirty="0" err="1" smtClean="0"/>
              <a:t>n_bootstraps</a:t>
            </a:r>
            <a:r>
              <a:rPr lang="en-US" sz="2000" dirty="0" smtClean="0"/>
              <a:t>=1000):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n_samples</a:t>
            </a:r>
            <a:r>
              <a:rPr lang="en-US" sz="2000" dirty="0" smtClean="0"/>
              <a:t> = </a:t>
            </a:r>
            <a:r>
              <a:rPr lang="en-US" sz="2000" dirty="0" err="1" smtClean="0"/>
              <a:t>len</a:t>
            </a:r>
            <a:r>
              <a:rPr lang="en-US" sz="2000" dirty="0" smtClean="0"/>
              <a:t>(X)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dirty="0" err="1" smtClean="0"/>
              <a:t>coefs</a:t>
            </a:r>
            <a:r>
              <a:rPr lang="en-US" sz="2000" dirty="0" smtClean="0"/>
              <a:t> = </a:t>
            </a:r>
            <a:r>
              <a:rPr lang="en-US" sz="2000" dirty="0" smtClean="0"/>
              <a:t>[]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for _ in range(</a:t>
            </a:r>
            <a:r>
              <a:rPr lang="en-US" sz="2000" dirty="0" err="1" smtClean="0"/>
              <a:t>n_bootstraps</a:t>
            </a:r>
            <a:r>
              <a:rPr lang="en-US" sz="2000" dirty="0" smtClean="0"/>
              <a:t>):</a:t>
            </a:r>
          </a:p>
          <a:p>
            <a:pPr>
              <a:buNone/>
            </a:pPr>
            <a:r>
              <a:rPr lang="en-US" sz="2000" dirty="0" smtClean="0"/>
              <a:t>        indices = </a:t>
            </a:r>
            <a:r>
              <a:rPr lang="en-US" sz="2000" dirty="0" err="1" smtClean="0"/>
              <a:t>np.random.choice</a:t>
            </a:r>
            <a:r>
              <a:rPr lang="en-US" sz="2000" dirty="0" smtClean="0"/>
              <a:t>(</a:t>
            </a:r>
            <a:r>
              <a:rPr lang="en-US" sz="2000" dirty="0" err="1" smtClean="0"/>
              <a:t>n_samples</a:t>
            </a:r>
            <a:r>
              <a:rPr lang="en-US" sz="2000" dirty="0" smtClean="0"/>
              <a:t>, </a:t>
            </a:r>
            <a:r>
              <a:rPr lang="en-US" sz="2000" dirty="0" err="1" smtClean="0"/>
              <a:t>n_samples</a:t>
            </a:r>
            <a:r>
              <a:rPr lang="en-US" sz="2000" dirty="0" smtClean="0"/>
              <a:t>, replace=True)</a:t>
            </a:r>
          </a:p>
          <a:p>
            <a:pPr>
              <a:buNone/>
            </a:pPr>
            <a:r>
              <a:rPr lang="en-US" sz="2000" dirty="0" smtClean="0"/>
              <a:t>        </a:t>
            </a:r>
            <a:r>
              <a:rPr lang="en-US" sz="2000" dirty="0" err="1" smtClean="0"/>
              <a:t>X_boot</a:t>
            </a:r>
            <a:r>
              <a:rPr lang="en-US" sz="2000" dirty="0" smtClean="0"/>
              <a:t> = X[indices]</a:t>
            </a:r>
          </a:p>
          <a:p>
            <a:pPr>
              <a:buNone/>
            </a:pPr>
            <a:r>
              <a:rPr lang="en-US" sz="2000" dirty="0" smtClean="0"/>
              <a:t>        </a:t>
            </a:r>
            <a:r>
              <a:rPr lang="en-US" sz="2000" dirty="0" err="1" smtClean="0"/>
              <a:t>y_boot</a:t>
            </a:r>
            <a:r>
              <a:rPr lang="en-US" sz="2000" dirty="0" smtClean="0"/>
              <a:t> = y[indices]</a:t>
            </a:r>
          </a:p>
          <a:p>
            <a:pPr>
              <a:buNone/>
            </a:pPr>
            <a:r>
              <a:rPr lang="en-US" sz="2000" dirty="0" smtClean="0"/>
              <a:t>        </a:t>
            </a:r>
            <a:r>
              <a:rPr lang="en-US" sz="2000" dirty="0" smtClean="0"/>
              <a:t>model </a:t>
            </a:r>
            <a:r>
              <a:rPr lang="en-US" sz="2000" dirty="0" smtClean="0"/>
              <a:t>= </a:t>
            </a:r>
            <a:r>
              <a:rPr lang="en-US" sz="2000" dirty="0" err="1" smtClean="0"/>
              <a:t>LinearRegression</a:t>
            </a:r>
            <a:r>
              <a:rPr lang="en-US" sz="2000" dirty="0" smtClean="0"/>
              <a:t>()</a:t>
            </a:r>
          </a:p>
          <a:p>
            <a:pPr>
              <a:buNone/>
            </a:pPr>
            <a:r>
              <a:rPr lang="en-US" sz="2000" dirty="0" smtClean="0"/>
              <a:t>        model.fit(</a:t>
            </a:r>
            <a:r>
              <a:rPr lang="en-US" sz="2000" dirty="0" err="1" smtClean="0"/>
              <a:t>X_boot</a:t>
            </a:r>
            <a:r>
              <a:rPr lang="en-US" sz="2000" dirty="0" smtClean="0"/>
              <a:t>, </a:t>
            </a:r>
            <a:r>
              <a:rPr lang="en-US" sz="2000" dirty="0" err="1" smtClean="0"/>
              <a:t>y_boot</a:t>
            </a:r>
            <a:r>
              <a:rPr lang="en-US" sz="2000" dirty="0" smtClean="0"/>
              <a:t>)</a:t>
            </a:r>
          </a:p>
          <a:p>
            <a:pPr>
              <a:buNone/>
            </a:pPr>
            <a:r>
              <a:rPr lang="en-US" sz="2000" dirty="0" smtClean="0"/>
              <a:t>        </a:t>
            </a:r>
            <a:r>
              <a:rPr lang="en-US" sz="2000" dirty="0" err="1" smtClean="0"/>
              <a:t>coefs.append</a:t>
            </a:r>
            <a:r>
              <a:rPr lang="en-US" sz="2000" dirty="0" smtClean="0"/>
              <a:t>(</a:t>
            </a:r>
            <a:r>
              <a:rPr lang="en-US" sz="2000" dirty="0" err="1" smtClean="0"/>
              <a:t>model.coef</a:t>
            </a:r>
            <a:r>
              <a:rPr lang="en-US" sz="2000" dirty="0" smtClean="0"/>
              <a:t>_)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dirty="0" smtClean="0"/>
              <a:t>   return </a:t>
            </a:r>
            <a:r>
              <a:rPr lang="en-US" sz="2000" dirty="0" err="1" smtClean="0"/>
              <a:t>np.array</a:t>
            </a:r>
            <a:r>
              <a:rPr lang="en-US" sz="2000" dirty="0" smtClean="0"/>
              <a:t>(</a:t>
            </a:r>
            <a:r>
              <a:rPr lang="en-US" sz="2000" dirty="0" err="1" smtClean="0"/>
              <a:t>coefs</a:t>
            </a:r>
            <a:r>
              <a:rPr lang="en-US" sz="2000" dirty="0" smtClean="0"/>
              <a:t>)</a:t>
            </a:r>
          </a:p>
          <a:p>
            <a:pPr>
              <a:buNone/>
            </a:pPr>
            <a:r>
              <a:rPr lang="en-US" sz="2000" dirty="0" smtClean="0"/>
              <a:t> 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# Prepare data for regression (using first two features)</a:t>
            </a:r>
          </a:p>
          <a:p>
            <a:pPr>
              <a:buNone/>
            </a:pPr>
            <a:r>
              <a:rPr lang="en-US" sz="2000" dirty="0" err="1" smtClean="0"/>
              <a:t>X_reg</a:t>
            </a:r>
            <a:r>
              <a:rPr lang="en-US" sz="2000" dirty="0" smtClean="0"/>
              <a:t> = X[:, :2]</a:t>
            </a:r>
          </a:p>
          <a:p>
            <a:pPr>
              <a:buNone/>
            </a:pPr>
            <a:r>
              <a:rPr lang="en-US" sz="2000" dirty="0" err="1" smtClean="0"/>
              <a:t>y_reg</a:t>
            </a:r>
            <a:r>
              <a:rPr lang="en-US" sz="2000" dirty="0" smtClean="0"/>
              <a:t> = X[:, 2]  # Predict third feature from first two</a:t>
            </a:r>
          </a:p>
          <a:p>
            <a:pPr>
              <a:buNone/>
            </a:pPr>
            <a:r>
              <a:rPr lang="en-US" sz="2000" dirty="0" smtClean="0"/>
              <a:t> 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# Run bootstrap</a:t>
            </a:r>
          </a:p>
          <a:p>
            <a:pPr>
              <a:buNone/>
            </a:pPr>
            <a:r>
              <a:rPr lang="en-US" sz="2000" dirty="0" err="1" smtClean="0"/>
              <a:t>coefs</a:t>
            </a:r>
            <a:r>
              <a:rPr lang="en-US" sz="2000" dirty="0" smtClean="0"/>
              <a:t> = </a:t>
            </a:r>
            <a:r>
              <a:rPr lang="en-US" sz="2000" dirty="0" err="1" smtClean="0"/>
              <a:t>bootstrap_regression</a:t>
            </a:r>
            <a:r>
              <a:rPr lang="en-US" sz="2000" dirty="0" smtClean="0"/>
              <a:t>(</a:t>
            </a:r>
            <a:r>
              <a:rPr lang="en-US" sz="2000" dirty="0" err="1" smtClean="0"/>
              <a:t>X_reg</a:t>
            </a:r>
            <a:r>
              <a:rPr lang="en-US" sz="2000" dirty="0" smtClean="0"/>
              <a:t>, </a:t>
            </a:r>
            <a:r>
              <a:rPr lang="en-US" sz="2000" dirty="0" err="1" smtClean="0"/>
              <a:t>y_reg</a:t>
            </a:r>
            <a:r>
              <a:rPr lang="en-US" sz="2000" dirty="0" smtClean="0"/>
              <a:t>, </a:t>
            </a:r>
            <a:r>
              <a:rPr lang="en-US" sz="2000" dirty="0" err="1" smtClean="0"/>
              <a:t>n_bootstraps</a:t>
            </a:r>
            <a:r>
              <a:rPr lang="en-US" sz="2000" dirty="0" smtClean="0"/>
              <a:t>=500)</a:t>
            </a:r>
          </a:p>
          <a:p>
            <a:pPr>
              <a:spcBef>
                <a:spcPts val="600"/>
              </a:spcBef>
              <a:buNone/>
            </a:pPr>
            <a:endParaRPr lang="en-US" sz="2000" dirty="0" smtClean="0"/>
          </a:p>
          <a:p>
            <a:pPr>
              <a:buNone/>
            </a:pPr>
            <a:endParaRPr lang="en-US" sz="1600" dirty="0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xmlns="" id="{1FC81081-422A-1142-E803-7BF9B18C1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236064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4E45D3-C9A0-9C00-342B-637A80A9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836" y="166255"/>
            <a:ext cx="9296400" cy="1163782"/>
          </a:xfrm>
        </p:spPr>
        <p:txBody>
          <a:bodyPr>
            <a:noAutofit/>
          </a:bodyPr>
          <a:lstStyle/>
          <a:p>
            <a:pPr lvl="0"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In-Lab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295779-DB60-2552-9D2B-40EC10C2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109" y="900546"/>
            <a:ext cx="10446327" cy="5195454"/>
          </a:xfrm>
        </p:spPr>
        <p:txBody>
          <a:bodyPr numCol="2">
            <a:noAutofit/>
          </a:bodyPr>
          <a:lstStyle/>
          <a:p>
            <a:pPr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# </a:t>
            </a:r>
            <a:r>
              <a:rPr lang="en-US" sz="1800" dirty="0" smtClean="0">
                <a:solidFill>
                  <a:srgbClr val="FF0000"/>
                </a:solidFill>
              </a:rPr>
              <a:t>3. Plot confidence intervals</a:t>
            </a:r>
          </a:p>
          <a:p>
            <a:pPr>
              <a:buNone/>
            </a:pPr>
            <a:r>
              <a:rPr lang="en-US" sz="1800" dirty="0" err="1" smtClean="0"/>
              <a:t>plt.figure</a:t>
            </a:r>
            <a:r>
              <a:rPr lang="en-US" sz="1800" dirty="0" smtClean="0"/>
              <a:t>(</a:t>
            </a:r>
            <a:r>
              <a:rPr lang="en-US" sz="1800" dirty="0" err="1" smtClean="0"/>
              <a:t>figsize</a:t>
            </a:r>
            <a:r>
              <a:rPr lang="en-US" sz="1800" dirty="0" smtClean="0"/>
              <a:t>=(10, 4))</a:t>
            </a:r>
          </a:p>
          <a:p>
            <a:pPr>
              <a:buNone/>
            </a:pPr>
            <a:r>
              <a:rPr lang="en-US" sz="1800" dirty="0" smtClean="0"/>
              <a:t> </a:t>
            </a:r>
            <a:r>
              <a:rPr lang="en-US" sz="1800" dirty="0" err="1" smtClean="0"/>
              <a:t>plt.subplot</a:t>
            </a:r>
            <a:r>
              <a:rPr lang="en-US" sz="1800" dirty="0" smtClean="0"/>
              <a:t>(1</a:t>
            </a:r>
            <a:r>
              <a:rPr lang="en-US" sz="1800" dirty="0" smtClean="0"/>
              <a:t>, 2, 1)</a:t>
            </a:r>
          </a:p>
          <a:p>
            <a:pPr>
              <a:buNone/>
            </a:pPr>
            <a:r>
              <a:rPr lang="en-US" sz="1800" dirty="0" err="1" smtClean="0"/>
              <a:t>plt.hist</a:t>
            </a:r>
            <a:r>
              <a:rPr lang="en-US" sz="1800" dirty="0" smtClean="0"/>
              <a:t>(</a:t>
            </a:r>
            <a:r>
              <a:rPr lang="en-US" sz="1800" dirty="0" err="1" smtClean="0"/>
              <a:t>coefs</a:t>
            </a:r>
            <a:r>
              <a:rPr lang="en-US" sz="1800" dirty="0" smtClean="0"/>
              <a:t>[:, 0], bins=30, alpha=0.7, </a:t>
            </a:r>
            <a:r>
              <a:rPr lang="en-US" sz="1800" dirty="0" err="1" smtClean="0"/>
              <a:t>edgecolor</a:t>
            </a:r>
            <a:r>
              <a:rPr lang="en-US" sz="1800" dirty="0" smtClean="0"/>
              <a:t>='black')</a:t>
            </a:r>
          </a:p>
          <a:p>
            <a:pPr>
              <a:buNone/>
            </a:pPr>
            <a:r>
              <a:rPr lang="en-US" sz="1800" dirty="0" err="1" smtClean="0"/>
              <a:t>plt.axvline</a:t>
            </a:r>
            <a:r>
              <a:rPr lang="en-US" sz="1800" dirty="0" smtClean="0"/>
              <a:t>(</a:t>
            </a:r>
            <a:r>
              <a:rPr lang="en-US" sz="1800" dirty="0" err="1" smtClean="0"/>
              <a:t>np.percentile</a:t>
            </a:r>
            <a:r>
              <a:rPr lang="en-US" sz="1800" dirty="0" smtClean="0"/>
              <a:t>(</a:t>
            </a:r>
            <a:r>
              <a:rPr lang="en-US" sz="1800" dirty="0" err="1" smtClean="0"/>
              <a:t>coefs</a:t>
            </a:r>
            <a:r>
              <a:rPr lang="en-US" sz="1800" dirty="0" smtClean="0"/>
              <a:t>[:, 0], 2.5), color='red', </a:t>
            </a:r>
            <a:r>
              <a:rPr lang="en-US" sz="1800" dirty="0" err="1" smtClean="0"/>
              <a:t>linestyle</a:t>
            </a:r>
            <a:r>
              <a:rPr lang="en-US" sz="1800" dirty="0" smtClean="0"/>
              <a:t>='--')</a:t>
            </a:r>
          </a:p>
          <a:p>
            <a:pPr>
              <a:buNone/>
            </a:pPr>
            <a:r>
              <a:rPr lang="en-US" sz="1800" dirty="0" err="1" smtClean="0"/>
              <a:t>plt.axvline</a:t>
            </a:r>
            <a:r>
              <a:rPr lang="en-US" sz="1800" dirty="0" smtClean="0"/>
              <a:t>(</a:t>
            </a:r>
            <a:r>
              <a:rPr lang="en-US" sz="1800" dirty="0" err="1" smtClean="0"/>
              <a:t>np.percentile</a:t>
            </a:r>
            <a:r>
              <a:rPr lang="en-US" sz="1800" dirty="0" smtClean="0"/>
              <a:t>(</a:t>
            </a:r>
            <a:r>
              <a:rPr lang="en-US" sz="1800" dirty="0" err="1" smtClean="0"/>
              <a:t>coefs</a:t>
            </a:r>
            <a:r>
              <a:rPr lang="en-US" sz="1800" dirty="0" smtClean="0"/>
              <a:t>[:, 0], 97.5), color='red', </a:t>
            </a:r>
            <a:r>
              <a:rPr lang="en-US" sz="1800" dirty="0" err="1" smtClean="0"/>
              <a:t>linestyle</a:t>
            </a:r>
            <a:r>
              <a:rPr lang="en-US" sz="1800" dirty="0" smtClean="0"/>
              <a:t>='--')</a:t>
            </a:r>
          </a:p>
          <a:p>
            <a:pPr>
              <a:buNone/>
            </a:pPr>
            <a:r>
              <a:rPr lang="en-US" sz="1800" dirty="0" err="1" smtClean="0"/>
              <a:t>plt.title</a:t>
            </a:r>
            <a:r>
              <a:rPr lang="en-US" sz="1800" dirty="0" smtClean="0"/>
              <a:t>('Coefficient 1 (95% CI)')</a:t>
            </a:r>
          </a:p>
          <a:p>
            <a:pPr>
              <a:buNone/>
            </a:pPr>
            <a:r>
              <a:rPr lang="en-US" sz="1800" dirty="0" err="1" smtClean="0"/>
              <a:t>plt.xlabel</a:t>
            </a:r>
            <a:r>
              <a:rPr lang="en-US" sz="1800" dirty="0" smtClean="0"/>
              <a:t>('Value')</a:t>
            </a:r>
          </a:p>
          <a:p>
            <a:pPr>
              <a:buNone/>
            </a:pPr>
            <a:r>
              <a:rPr lang="en-US" sz="1800" dirty="0" smtClean="0"/>
              <a:t> </a:t>
            </a:r>
            <a:r>
              <a:rPr lang="en-US" sz="1800" dirty="0" err="1" smtClean="0"/>
              <a:t>plt.subplot</a:t>
            </a:r>
            <a:r>
              <a:rPr lang="en-US" sz="1800" dirty="0" smtClean="0"/>
              <a:t>(1</a:t>
            </a:r>
            <a:r>
              <a:rPr lang="en-US" sz="1800" dirty="0" smtClean="0"/>
              <a:t>, 2, 2)</a:t>
            </a:r>
          </a:p>
          <a:p>
            <a:pPr>
              <a:buNone/>
            </a:pPr>
            <a:r>
              <a:rPr lang="en-US" sz="1800" dirty="0" err="1" smtClean="0"/>
              <a:t>plt.hist</a:t>
            </a:r>
            <a:r>
              <a:rPr lang="en-US" sz="1800" dirty="0" smtClean="0"/>
              <a:t>(</a:t>
            </a:r>
            <a:r>
              <a:rPr lang="en-US" sz="1800" dirty="0" err="1" smtClean="0"/>
              <a:t>coefs</a:t>
            </a:r>
            <a:r>
              <a:rPr lang="en-US" sz="1800" dirty="0" smtClean="0"/>
              <a:t>[:, 1], bins=30, alpha=0.7, </a:t>
            </a:r>
            <a:r>
              <a:rPr lang="en-US" sz="1800" dirty="0" err="1" smtClean="0"/>
              <a:t>edgecolor</a:t>
            </a:r>
            <a:r>
              <a:rPr lang="en-US" sz="1800" dirty="0" smtClean="0"/>
              <a:t>='black')</a:t>
            </a:r>
          </a:p>
          <a:p>
            <a:pPr>
              <a:buNone/>
            </a:pPr>
            <a:r>
              <a:rPr lang="en-US" sz="1800" dirty="0" err="1" smtClean="0"/>
              <a:t>plt.axvline</a:t>
            </a:r>
            <a:r>
              <a:rPr lang="en-US" sz="1800" dirty="0" smtClean="0"/>
              <a:t>(</a:t>
            </a:r>
            <a:r>
              <a:rPr lang="en-US" sz="1800" dirty="0" err="1" smtClean="0"/>
              <a:t>np.percentile</a:t>
            </a:r>
            <a:r>
              <a:rPr lang="en-US" sz="1800" dirty="0" smtClean="0"/>
              <a:t>(</a:t>
            </a:r>
            <a:r>
              <a:rPr lang="en-US" sz="1800" dirty="0" err="1" smtClean="0"/>
              <a:t>coefs</a:t>
            </a:r>
            <a:r>
              <a:rPr lang="en-US" sz="1800" dirty="0" smtClean="0"/>
              <a:t>[:, 1], 2.5), color='red', </a:t>
            </a:r>
            <a:r>
              <a:rPr lang="en-US" sz="1800" dirty="0" err="1" smtClean="0"/>
              <a:t>linestyle</a:t>
            </a:r>
            <a:r>
              <a:rPr lang="en-US" sz="1800" dirty="0" smtClean="0"/>
              <a:t>='--')</a:t>
            </a:r>
          </a:p>
          <a:p>
            <a:pPr>
              <a:buNone/>
            </a:pPr>
            <a:r>
              <a:rPr lang="en-US" sz="1800" dirty="0" err="1" smtClean="0"/>
              <a:t>plt.axvline</a:t>
            </a:r>
            <a:r>
              <a:rPr lang="en-US" sz="1800" dirty="0" smtClean="0"/>
              <a:t>(</a:t>
            </a:r>
            <a:r>
              <a:rPr lang="en-US" sz="1800" dirty="0" err="1" smtClean="0"/>
              <a:t>np.percentile</a:t>
            </a:r>
            <a:r>
              <a:rPr lang="en-US" sz="1800" dirty="0" smtClean="0"/>
              <a:t>(</a:t>
            </a:r>
            <a:r>
              <a:rPr lang="en-US" sz="1800" dirty="0" err="1" smtClean="0"/>
              <a:t>coefs</a:t>
            </a:r>
            <a:r>
              <a:rPr lang="en-US" sz="1800" dirty="0" smtClean="0"/>
              <a:t>[:, 1], 97.5), color='red', </a:t>
            </a:r>
            <a:r>
              <a:rPr lang="en-US" sz="1800" dirty="0" err="1" smtClean="0"/>
              <a:t>linestyle</a:t>
            </a:r>
            <a:r>
              <a:rPr lang="en-US" sz="1800" dirty="0" smtClean="0"/>
              <a:t>='--')</a:t>
            </a:r>
          </a:p>
          <a:p>
            <a:pPr>
              <a:buNone/>
            </a:pPr>
            <a:r>
              <a:rPr lang="en-US" sz="1800" dirty="0" err="1" smtClean="0"/>
              <a:t>plt.title</a:t>
            </a:r>
            <a:r>
              <a:rPr lang="en-US" sz="1800" dirty="0" smtClean="0"/>
              <a:t>('Coefficient 2 (95% CI)')</a:t>
            </a:r>
          </a:p>
          <a:p>
            <a:pPr>
              <a:buNone/>
            </a:pPr>
            <a:r>
              <a:rPr lang="en-US" sz="1800" dirty="0" err="1" smtClean="0"/>
              <a:t>plt.xlabel</a:t>
            </a:r>
            <a:r>
              <a:rPr lang="en-US" sz="1800" dirty="0" smtClean="0"/>
              <a:t>('Value')</a:t>
            </a:r>
          </a:p>
          <a:p>
            <a:pPr>
              <a:buNone/>
            </a:pPr>
            <a:r>
              <a:rPr lang="en-US" sz="1800" dirty="0" smtClean="0"/>
              <a:t> </a:t>
            </a:r>
            <a:r>
              <a:rPr lang="en-US" sz="1800" dirty="0" err="1" smtClean="0"/>
              <a:t>plt.tight_layout</a:t>
            </a:r>
            <a:r>
              <a:rPr lang="en-US" sz="1800" dirty="0" smtClean="0"/>
              <a:t>()</a:t>
            </a:r>
          </a:p>
          <a:p>
            <a:pPr>
              <a:buNone/>
            </a:pPr>
            <a:r>
              <a:rPr lang="en-US" sz="1800" dirty="0" err="1" smtClean="0"/>
              <a:t>plt.show</a:t>
            </a:r>
            <a:r>
              <a:rPr lang="en-US" sz="1800" dirty="0" smtClean="0"/>
              <a:t>()</a:t>
            </a:r>
          </a:p>
          <a:p>
            <a:pPr>
              <a:buNone/>
            </a:pPr>
            <a:r>
              <a:rPr lang="en-US" sz="1800" dirty="0" smtClean="0"/>
              <a:t> </a:t>
            </a:r>
          </a:p>
          <a:p>
            <a:pPr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# Print summary</a:t>
            </a:r>
          </a:p>
          <a:p>
            <a:pPr>
              <a:buNone/>
            </a:pPr>
            <a:r>
              <a:rPr lang="en-US" sz="1800" dirty="0" smtClean="0"/>
              <a:t>print(f"\</a:t>
            </a:r>
            <a:r>
              <a:rPr lang="en-US" sz="1800" dirty="0" err="1" smtClean="0"/>
              <a:t>nBootstrap</a:t>
            </a:r>
            <a:r>
              <a:rPr lang="en-US" sz="1800" dirty="0" smtClean="0"/>
              <a:t> results (95% confidence intervals):")</a:t>
            </a:r>
          </a:p>
          <a:p>
            <a:pPr>
              <a:buNone/>
            </a:pPr>
            <a:r>
              <a:rPr lang="en-US" sz="1800" dirty="0" smtClean="0"/>
              <a:t>for </a:t>
            </a:r>
            <a:r>
              <a:rPr lang="en-US" sz="1800" dirty="0" err="1" smtClean="0"/>
              <a:t>i</a:t>
            </a:r>
            <a:r>
              <a:rPr lang="en-US" sz="1800" dirty="0" smtClean="0"/>
              <a:t> in range(</a:t>
            </a:r>
            <a:r>
              <a:rPr lang="en-US" sz="1800" dirty="0" err="1" smtClean="0"/>
              <a:t>coefs.shape</a:t>
            </a:r>
            <a:r>
              <a:rPr lang="en-US" sz="1800" dirty="0" smtClean="0"/>
              <a:t>[1]):</a:t>
            </a:r>
          </a:p>
          <a:p>
            <a:pPr>
              <a:buNone/>
            </a:pPr>
            <a:r>
              <a:rPr lang="en-US" sz="1800" dirty="0" smtClean="0"/>
              <a:t>    lower = </a:t>
            </a:r>
            <a:r>
              <a:rPr lang="en-US" sz="1800" dirty="0" err="1" smtClean="0"/>
              <a:t>np.percentile</a:t>
            </a:r>
            <a:r>
              <a:rPr lang="en-US" sz="1800" dirty="0" smtClean="0"/>
              <a:t>(</a:t>
            </a:r>
            <a:r>
              <a:rPr lang="en-US" sz="1800" dirty="0" err="1" smtClean="0"/>
              <a:t>coefs</a:t>
            </a:r>
            <a:r>
              <a:rPr lang="en-US" sz="1800" dirty="0" smtClean="0"/>
              <a:t>[:, </a:t>
            </a:r>
            <a:r>
              <a:rPr lang="en-US" sz="1800" dirty="0" err="1" smtClean="0"/>
              <a:t>i</a:t>
            </a:r>
            <a:r>
              <a:rPr lang="en-US" sz="1800" dirty="0" smtClean="0"/>
              <a:t>], 2.5)</a:t>
            </a:r>
          </a:p>
          <a:p>
            <a:pPr>
              <a:buNone/>
            </a:pPr>
            <a:r>
              <a:rPr lang="en-US" sz="1800" dirty="0" smtClean="0"/>
              <a:t>    upper = </a:t>
            </a:r>
            <a:r>
              <a:rPr lang="en-US" sz="1800" dirty="0" err="1" smtClean="0"/>
              <a:t>np.percentile</a:t>
            </a:r>
            <a:r>
              <a:rPr lang="en-US" sz="1800" dirty="0" smtClean="0"/>
              <a:t>(</a:t>
            </a:r>
            <a:r>
              <a:rPr lang="en-US" sz="1800" dirty="0" err="1" smtClean="0"/>
              <a:t>coefs</a:t>
            </a:r>
            <a:r>
              <a:rPr lang="en-US" sz="1800" dirty="0" smtClean="0"/>
              <a:t>[:, </a:t>
            </a:r>
            <a:r>
              <a:rPr lang="en-US" sz="1800" dirty="0" err="1" smtClean="0"/>
              <a:t>i</a:t>
            </a:r>
            <a:r>
              <a:rPr lang="en-US" sz="1800" dirty="0" smtClean="0"/>
              <a:t>], 97.5)</a:t>
            </a:r>
          </a:p>
          <a:p>
            <a:pPr>
              <a:buNone/>
            </a:pPr>
            <a:r>
              <a:rPr lang="en-US" sz="1800" dirty="0" smtClean="0"/>
              <a:t>    print(</a:t>
            </a:r>
            <a:r>
              <a:rPr lang="en-US" sz="1800" dirty="0" err="1" smtClean="0"/>
              <a:t>f"Coefficient</a:t>
            </a:r>
            <a:r>
              <a:rPr lang="en-US" sz="1800" dirty="0" smtClean="0"/>
              <a:t> {i+1}: [{lower:.3f}, {upper:.3f}]")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400" dirty="0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xmlns="" id="{1FC81081-422A-1142-E803-7BF9B18C1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236064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4E45D3-C9A0-9C00-342B-637A80A9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836" y="166255"/>
            <a:ext cx="9296400" cy="609600"/>
          </a:xfrm>
        </p:spPr>
        <p:txBody>
          <a:bodyPr>
            <a:noAutofit/>
          </a:bodyPr>
          <a:lstStyle/>
          <a:p>
            <a:pPr lvl="0"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295779-DB60-2552-9D2B-40EC10C2F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191491"/>
            <a:ext cx="10446327" cy="5015345"/>
          </a:xfrm>
        </p:spPr>
        <p:txBody>
          <a:bodyPr numCol="2"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000" dirty="0" smtClean="0"/>
              <a:t> </a:t>
            </a:r>
            <a:endParaRPr lang="en-US" sz="2400" dirty="0" smtClean="0"/>
          </a:p>
          <a:p>
            <a:pPr>
              <a:spcBef>
                <a:spcPts val="600"/>
              </a:spcBef>
              <a:buNone/>
            </a:pPr>
            <a:endParaRPr lang="en-US" sz="2000" dirty="0" smtClean="0"/>
          </a:p>
          <a:p>
            <a:pPr>
              <a:buNone/>
            </a:pPr>
            <a:endParaRPr lang="en-US" sz="1600" dirty="0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xmlns="" id="{1FC81081-422A-1142-E803-7BF9B18C1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1026" name="Picture 2" descr="C:\Users\KUMARESANPC\Desktop\Exp-2-Output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95098" y="695469"/>
            <a:ext cx="8203172" cy="5275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6064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66B71E-6F65-EC78-671F-90EC9B06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08771" cy="718048"/>
          </a:xfrm>
        </p:spPr>
        <p:txBody>
          <a:bodyPr/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Sample Viva Questions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xmlns="" id="{DFC010C7-6298-3EC8-13EE-C082BEEB8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xmlns="" id="{3375DD12-B3DA-DE2B-DEE0-22A5B8334B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5855" y="1177636"/>
            <a:ext cx="1058487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lnSpc>
                <a:spcPct val="200000"/>
              </a:lnSpc>
              <a:spcBef>
                <a:spcPts val="18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k-Fold and Leave-One-Out Cross-Validation. </a:t>
            </a:r>
          </a:p>
          <a:p>
            <a:pPr marL="457200" indent="-457200" eaLnBrk="0" fontAlgn="base" hangingPunct="0">
              <a:lnSpc>
                <a:spcPct val="200000"/>
              </a:lnSpc>
              <a:spcBef>
                <a:spcPts val="18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Bootstrap for parameter stability? </a:t>
            </a:r>
          </a:p>
          <a:p>
            <a:pPr marL="457200" indent="-457200" eaLnBrk="0" fontAlgn="base" hangingPunct="0">
              <a:lnSpc>
                <a:spcPct val="200000"/>
              </a:lnSpc>
              <a:spcBef>
                <a:spcPts val="18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k affect cross-validation results? </a:t>
            </a:r>
          </a:p>
          <a:p>
            <a:pPr marL="457200" indent="-457200" eaLnBrk="0" fontAlgn="base" hangingPunct="0">
              <a:lnSpc>
                <a:spcPct val="200000"/>
              </a:lnSpc>
              <a:spcBef>
                <a:spcPts val="18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confidence intervals in Bootstrap? </a:t>
            </a:r>
          </a:p>
          <a:p>
            <a:pPr marL="457200" indent="-457200" eaLnBrk="0" fontAlgn="base" hangingPunct="0">
              <a:lnSpc>
                <a:spcPct val="200000"/>
              </a:lnSpc>
              <a:spcBef>
                <a:spcPts val="1800"/>
              </a:spcBef>
              <a:spcAft>
                <a:spcPct val="0"/>
              </a:spcAft>
              <a:buFont typeface="Arial" panose="020B0604020202020204" pitchFamily="34" charset="0"/>
              <a:buAutoNum type="arabicPeriod"/>
            </a:pP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 you prefer Bootstrap over cross-validation?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290435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3E30F8-3860-E966-C387-A739452F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0" y="226579"/>
            <a:ext cx="10929257" cy="1460500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/>
              <a:t/>
            </a:r>
            <a:br>
              <a:rPr lang="en-US" sz="3000" b="1" dirty="0"/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Post-Lab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lang="en-IN" sz="3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3600" dirty="0">
                <a:latin typeface="Times New Roman" pitchFamily="18" charset="0"/>
                <a:cs typeface="Times New Roman" pitchFamily="18" charset="0"/>
              </a:rPr>
            </a:br>
            <a:endParaRPr lang="en-IN" sz="3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xmlns="" id="{48ECCBE7-EA40-D8A0-CF9C-4CA7CE32E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6348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82781" y="1229880"/>
            <a:ext cx="10515600" cy="48522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Extend your program to: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Compare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k-Fold results with train-test split.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Implement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stratified k-Fold for imbalanced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Calculate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Bootstrap standard error for regression parameters.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Visualize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Bootstrap distribution of parameters.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Write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function to automate k-Fold for any classifier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338078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2782" y="301624"/>
            <a:ext cx="10515600" cy="564197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</a:t>
            </a:r>
            <a:r>
              <a:rPr lang="en-US" sz="66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66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264946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1193</TotalTime>
  <Words>289</Words>
  <Application>Microsoft Office PowerPoint</Application>
  <PresentationFormat>Custom</PresentationFormat>
  <Paragraphs>151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Pre-Lab Concepts &amp; Questions</vt:lpstr>
      <vt:lpstr>Pre-Lab Concepts &amp; Questions</vt:lpstr>
      <vt:lpstr>Pre-Lab Concepts &amp; Questions</vt:lpstr>
      <vt:lpstr>                         In-Lab Program Explanation          </vt:lpstr>
      <vt:lpstr>In-Lab Program Explanation </vt:lpstr>
      <vt:lpstr>In-Lab Program Explanation </vt:lpstr>
      <vt:lpstr>In-Lab Program Explanation </vt:lpstr>
      <vt:lpstr>Output </vt:lpstr>
      <vt:lpstr>Sample Viva Questions</vt:lpstr>
      <vt:lpstr> Post-Lab Program  </vt:lpstr>
      <vt:lpstr>Slide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 Manika Prasuna</dc:creator>
  <cp:lastModifiedBy>KUMARESANPC</cp:lastModifiedBy>
  <cp:revision>404</cp:revision>
  <dcterms:created xsi:type="dcterms:W3CDTF">2025-05-12T05:57:37Z</dcterms:created>
  <dcterms:modified xsi:type="dcterms:W3CDTF">2025-12-14T11:37:54Z</dcterms:modified>
</cp:coreProperties>
</file>