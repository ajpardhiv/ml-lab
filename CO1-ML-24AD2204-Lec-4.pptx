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16"/>
  </p:notesMasterIdLst>
  <p:sldIdLst>
    <p:sldId id="256" r:id="rId2"/>
    <p:sldId id="266" r:id="rId3"/>
    <p:sldId id="268" r:id="rId4"/>
    <p:sldId id="269" r:id="rId5"/>
    <p:sldId id="270" r:id="rId6"/>
    <p:sldId id="271" r:id="rId7"/>
    <p:sldId id="272" r:id="rId8"/>
    <p:sldId id="273" r:id="rId9"/>
    <p:sldId id="274" r:id="rId10"/>
    <p:sldId id="275" r:id="rId11"/>
    <p:sldId id="276" r:id="rId12"/>
    <p:sldId id="277" r:id="rId13"/>
    <p:sldId id="267"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AFB3BE-1562-4558-B106-B1168B79BB98}" type="datetimeFigureOut">
              <a:rPr lang="en-IN" smtClean="0"/>
              <a:pPr/>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C39FC-DF2B-4B95-8962-9916808EBE64}" type="slidenum">
              <a:rPr lang="en-IN" smtClean="0"/>
              <a:pPr/>
              <a:t>‹#›</a:t>
            </a:fld>
            <a:endParaRPr lang="en-IN"/>
          </a:p>
        </p:txBody>
      </p:sp>
    </p:spTree>
    <p:extLst>
      <p:ext uri="{BB962C8B-B14F-4D97-AF65-F5344CB8AC3E}">
        <p14:creationId xmlns:p14="http://schemas.microsoft.com/office/powerpoint/2010/main" val="172343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54" name="Google Shape;54;p1: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3</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62" name="Google Shape;62;p2: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4</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p3: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71" name="Google Shape;71;p3: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4: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83" name="Google Shape;83;p4: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06" name="Google Shape;106;p5: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31" name="Google Shape;131;p6: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7: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42" name="Google Shape;142;p7: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9</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8: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51" name="Google Shape;151;p8: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10</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9: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71" name="Google Shape;171;p9: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a:spLocks noGrp="1" noRot="1" noChangeAspect="1"/>
          </p:cNvSpPr>
          <p:nvPr>
            <p:ph type="sldImg" idx="2"/>
          </p:nvPr>
        </p:nvSpPr>
        <p:spPr>
          <a:xfrm>
            <a:off x="1143000" y="714375"/>
            <a:ext cx="3429000" cy="1928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10:notes"/>
          <p:cNvSpPr txBox="1">
            <a:spLocks noGrp="1"/>
          </p:cNvSpPr>
          <p:nvPr>
            <p:ph type="body" idx="1"/>
          </p:nvPr>
        </p:nvSpPr>
        <p:spPr>
          <a:xfrm>
            <a:off x="571500" y="2750344"/>
            <a:ext cx="4572000" cy="2250281"/>
          </a:xfrm>
          <a:prstGeom prst="rect">
            <a:avLst/>
          </a:prstGeom>
          <a:noFill/>
          <a:ln>
            <a:noFill/>
          </a:ln>
        </p:spPr>
        <p:txBody>
          <a:bodyPr spcFirstLastPara="1" wrap="square" lIns="63998" tIns="31990" rIns="63998" bIns="31990" anchor="t" anchorCtr="0">
            <a:noAutofit/>
          </a:bodyPr>
          <a:lstStyle/>
          <a:p>
            <a:endParaRPr/>
          </a:p>
        </p:txBody>
      </p:sp>
      <p:sp>
        <p:nvSpPr>
          <p:cNvPr id="185" name="Google Shape;185;p10:notes"/>
          <p:cNvSpPr txBox="1">
            <a:spLocks noGrp="1"/>
          </p:cNvSpPr>
          <p:nvPr>
            <p:ph type="sldNum" idx="12"/>
          </p:nvPr>
        </p:nvSpPr>
        <p:spPr>
          <a:xfrm>
            <a:off x="3237178" y="5428258"/>
            <a:ext cx="2476500" cy="286742"/>
          </a:xfrm>
          <a:prstGeom prst="rect">
            <a:avLst/>
          </a:prstGeom>
          <a:noFill/>
          <a:ln>
            <a:noFill/>
          </a:ln>
        </p:spPr>
        <p:txBody>
          <a:bodyPr spcFirstLastPara="1" wrap="square" lIns="63998" tIns="31990" rIns="63998" bIns="31990" anchor="b" anchorCtr="0">
            <a:noAutofit/>
          </a:bodyPr>
          <a:lstStyle/>
          <a:p>
            <a:fld id="{00000000-1234-1234-1234-123412341234}" type="slidenum">
              <a:rPr lang="en-US"/>
              <a:pPr/>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8A3636-4462-45DC-BB00-FF6375F9F6C0}" type="datetimeFigureOut">
              <a:rPr lang="en-IN" smtClean="0"/>
              <a:pPr/>
              <a:t>17-12-2025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8F3EC4-EDD9-42C1-AC18-D944FC4FABDD}"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1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1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18"/>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2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26"/>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30"/>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34"/>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38"/>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4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A3636-4462-45DC-BB00-FF6375F9F6C0}" type="datetimeFigureOut">
              <a:rPr lang="en-IN" smtClean="0"/>
              <a:pPr/>
              <a:t>17-12-2025</a:t>
            </a:fld>
            <a:endParaRPr lang="en-IN"/>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8F3EC4-EDD9-42C1-AC18-D944FC4FABDD}"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E3F2F65-8282-9C7E-CEBC-B3FCF09DF9DC}"/>
              </a:ext>
            </a:extLst>
          </p:cNvPr>
          <p:cNvSpPr txBox="1"/>
          <p:nvPr/>
        </p:nvSpPr>
        <p:spPr>
          <a:xfrm>
            <a:off x="1294806" y="1052618"/>
            <a:ext cx="9657806" cy="1323439"/>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p>
          <a:p>
            <a:pPr algn="ctr"/>
            <a:r>
              <a:rPr lang="en-US" sz="4000" b="1" cap="all" dirty="0">
                <a:solidFill>
                  <a:schemeClr val="accent2">
                    <a:lumMod val="50000"/>
                  </a:schemeClr>
                </a:solidFill>
                <a:latin typeface="Gill Sans MT"/>
                <a:ea typeface="+mj-ea"/>
                <a:cs typeface="+mj-cs"/>
              </a:rPr>
              <a:t>(24AD2204)</a:t>
            </a:r>
            <a:endParaRPr lang="en-IN" sz="4000" dirty="0">
              <a:solidFill>
                <a:schemeClr val="accent2">
                  <a:lumMod val="50000"/>
                </a:schemeClr>
              </a:solidFill>
            </a:endParaRPr>
          </a:p>
        </p:txBody>
      </p:sp>
      <p:pic>
        <p:nvPicPr>
          <p:cNvPr id="9" name="Picture 8">
            <a:extLst>
              <a:ext uri="{FF2B5EF4-FFF2-40B4-BE49-F238E27FC236}">
                <a16:creationId xmlns:a16="http://schemas.microsoft.com/office/drawing/2014/main" id="{0B0DF350-8210-F6D1-2201-7DA9FC81E4D5}"/>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1" y="6119091"/>
            <a:ext cx="12192000" cy="738909"/>
          </a:xfrm>
          <a:prstGeom prst="rect">
            <a:avLst/>
          </a:prstGeom>
          <a:ln>
            <a:solidFill>
              <a:schemeClr val="accent1">
                <a:lumMod val="75000"/>
              </a:schemeClr>
            </a:solidFill>
          </a:ln>
        </p:spPr>
      </p:pic>
      <p:sp>
        <p:nvSpPr>
          <p:cNvPr id="8" name="Subtitle 2">
            <a:extLst>
              <a:ext uri="{FF2B5EF4-FFF2-40B4-BE49-F238E27FC236}">
                <a16:creationId xmlns:a16="http://schemas.microsoft.com/office/drawing/2014/main" id="{5F640656-3048-2A08-BF39-81705306F79A}"/>
              </a:ext>
            </a:extLst>
          </p:cNvPr>
          <p:cNvSpPr>
            <a:spLocks noGrp="1"/>
          </p:cNvSpPr>
          <p:nvPr>
            <p:ph type="subTitle" idx="1"/>
          </p:nvPr>
        </p:nvSpPr>
        <p:spPr>
          <a:xfrm>
            <a:off x="1532403" y="3884208"/>
            <a:ext cx="9263922" cy="1096160"/>
          </a:xfrm>
          <a:prstGeom prst="rect">
            <a:avLst/>
          </a:prstGeom>
        </p:spPr>
        <p:txBody>
          <a:bodyPr>
            <a:normAutofit/>
          </a:bodyPr>
          <a:lstStyle/>
          <a:p>
            <a:pPr>
              <a:lnSpc>
                <a:spcPct val="100000"/>
              </a:lnSpc>
              <a:spcBef>
                <a:spcPts val="0"/>
              </a:spcBef>
            </a:pPr>
            <a:r>
              <a:rPr lang="en-US" sz="2800" kern="0" dirty="0">
                <a:solidFill>
                  <a:sysClr val="windowText" lastClr="000000"/>
                </a:solidFill>
                <a:latin typeface="Times New Roman" pitchFamily="18" charset="0"/>
                <a:cs typeface="Times New Roman" pitchFamily="18" charset="0"/>
              </a:rPr>
              <a:t>Exploring Categorical Data, Exploring Relationship Between Variables</a:t>
            </a:r>
            <a:endParaRPr kumimoji="0" lang="en-US" sz="280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a:p>
            <a:pPr marL="0" marR="0" lvl="0" indent="0" algn="r" defTabSz="914400" eaLnBrk="1" fontAlgn="auto" latinLnBrk="0" hangingPunct="1">
              <a:lnSpc>
                <a:spcPct val="100000"/>
              </a:lnSpc>
              <a:spcBef>
                <a:spcPts val="0"/>
              </a:spcBef>
              <a:spcAft>
                <a:spcPts val="0"/>
              </a:spcAft>
              <a:buClrTx/>
              <a:buSzTx/>
              <a:buFontTx/>
              <a:buNone/>
              <a:tabLst/>
              <a:defRPr/>
            </a:pPr>
            <a:endParaRPr kumimoji="0" lang="en-US" sz="2800" b="0" i="0" u="none" strike="noStrike" kern="0" cap="none" spc="0" normalizeH="0" baseline="0" noProof="0" dirty="0">
              <a:ln>
                <a:noFill/>
              </a:ln>
              <a:solidFill>
                <a:sysClr val="windowText" lastClr="000000"/>
              </a:solidFill>
              <a:effectLst/>
              <a:uLnTx/>
              <a:uFillTx/>
            </a:endParaRPr>
          </a:p>
          <a:p>
            <a:pPr marL="0" marR="0" lvl="0" indent="0" algn="r" defTabSz="914400" eaLnBrk="1" fontAlgn="auto" latinLnBrk="0" hangingPunct="1">
              <a:lnSpc>
                <a:spcPct val="100000"/>
              </a:lnSpc>
              <a:spcBef>
                <a:spcPts val="0"/>
              </a:spcBef>
              <a:spcAft>
                <a:spcPts val="0"/>
              </a:spcAft>
              <a:buClrTx/>
              <a:buSzTx/>
              <a:buFontTx/>
              <a:buNone/>
              <a:tabLst/>
              <a:defRPr/>
            </a:pPr>
            <a:endParaRPr kumimoji="0" lang="en-IN" sz="3000" b="0" i="0" u="none" strike="noStrike" kern="0" cap="none" spc="0" normalizeH="0" baseline="0" noProof="0" dirty="0">
              <a:ln>
                <a:noFill/>
              </a:ln>
              <a:solidFill>
                <a:sysClr val="windowText" lastClr="000000"/>
              </a:solidFill>
              <a:effectLst/>
              <a:uLnTx/>
              <a:uFillTx/>
            </a:endParaRPr>
          </a:p>
        </p:txBody>
      </p:sp>
      <p:sp>
        <p:nvSpPr>
          <p:cNvPr id="6" name="TextBox 5">
            <a:extLst>
              <a:ext uri="{FF2B5EF4-FFF2-40B4-BE49-F238E27FC236}">
                <a16:creationId xmlns:a16="http://schemas.microsoft.com/office/drawing/2014/main" id="{7E3F2F65-8282-9C7E-CEBC-B3FCF09DF9DC}"/>
              </a:ext>
            </a:extLst>
          </p:cNvPr>
          <p:cNvSpPr txBox="1"/>
          <p:nvPr/>
        </p:nvSpPr>
        <p:spPr>
          <a:xfrm>
            <a:off x="1474914" y="2742871"/>
            <a:ext cx="9657806" cy="584775"/>
          </a:xfrm>
          <a:prstGeom prst="rect">
            <a:avLst/>
          </a:prstGeom>
          <a:noFill/>
        </p:spPr>
        <p:txBody>
          <a:bodyPr wrap="square">
            <a:spAutoFit/>
          </a:bodyPr>
          <a:lstStyle/>
          <a:p>
            <a:pPr algn="ctr"/>
            <a:r>
              <a:rPr kumimoji="0" lang="en-US" sz="3200" b="1" i="0" u="none" strike="noStrike" kern="1200" cap="all" spc="0" normalizeH="0" baseline="0" noProof="0" dirty="0">
                <a:ln>
                  <a:noFill/>
                </a:ln>
                <a:solidFill>
                  <a:srgbClr val="7030A0"/>
                </a:solidFill>
                <a:effectLst/>
                <a:uLnTx/>
                <a:uFillTx/>
                <a:latin typeface="Gill Sans MT"/>
                <a:ea typeface="+mj-ea"/>
                <a:cs typeface="+mj-cs"/>
              </a:rPr>
              <a:t>Lecture</a:t>
            </a:r>
            <a:r>
              <a:rPr kumimoji="0" lang="en-US" sz="3200" b="1" i="0" u="none" strike="noStrike" kern="1200" cap="all" spc="0" normalizeH="0" noProof="0" dirty="0">
                <a:ln>
                  <a:noFill/>
                </a:ln>
                <a:solidFill>
                  <a:srgbClr val="7030A0"/>
                </a:solidFill>
                <a:effectLst/>
                <a:uLnTx/>
                <a:uFillTx/>
                <a:latin typeface="Gill Sans MT"/>
                <a:ea typeface="+mj-ea"/>
                <a:cs typeface="+mj-cs"/>
              </a:rPr>
              <a:t> </a:t>
            </a:r>
            <a:r>
              <a:rPr kumimoji="0" lang="en-US" sz="3200" b="1" i="0" u="none" strike="noStrike" kern="1200" cap="all" spc="0" normalizeH="0" noProof="0">
                <a:ln>
                  <a:noFill/>
                </a:ln>
                <a:solidFill>
                  <a:srgbClr val="7030A0"/>
                </a:solidFill>
                <a:effectLst/>
                <a:uLnTx/>
                <a:uFillTx/>
                <a:latin typeface="Gill Sans MT"/>
                <a:ea typeface="+mj-ea"/>
                <a:cs typeface="+mj-cs"/>
              </a:rPr>
              <a:t>- 4</a:t>
            </a:r>
            <a:endParaRPr kumimoji="0" lang="en-US" sz="3200" b="1" i="0" u="none" strike="noStrike" kern="1200" cap="all" spc="0" normalizeH="0" baseline="0" noProof="0" dirty="0">
              <a:ln>
                <a:noFill/>
              </a:ln>
              <a:solidFill>
                <a:srgbClr val="7030A0"/>
              </a:solidFill>
              <a:effectLst/>
              <a:uLnTx/>
              <a:uFillTx/>
              <a:latin typeface="Gill Sans MT"/>
              <a:ea typeface="+mj-ea"/>
              <a:cs typeface="+mj-cs"/>
            </a:endParaRPr>
          </a:p>
        </p:txBody>
      </p:sp>
      <p:pic>
        <p:nvPicPr>
          <p:cNvPr id="2" name="Picture 2" descr="MAPS &amp; DIRECTIONS - Best Private University in Telangana &amp; Andhra Pradesh | KLH  Hyderabad">
            <a:extLst>
              <a:ext uri="{FF2B5EF4-FFF2-40B4-BE49-F238E27FC236}">
                <a16:creationId xmlns:a16="http://schemas.microsoft.com/office/drawing/2014/main" id="{BF7A49BE-1D86-D88E-7DB6-28430BB8A8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436" y="2408238"/>
            <a:ext cx="10972800" cy="1143000"/>
          </a:xfrm>
        </p:spPr>
        <p:txBody>
          <a:bodyPr>
            <a:noAutofit/>
          </a:bodyPr>
          <a:lstStyle/>
          <a:p>
            <a:r>
              <a:rPr lang="en-US" sz="7200" b="1" dirty="0">
                <a:solidFill>
                  <a:srgbClr val="7030A0"/>
                </a:solidFill>
              </a:rPr>
              <a:t>RECAP</a:t>
            </a:r>
          </a:p>
        </p:txBody>
      </p:sp>
      <p:pic>
        <p:nvPicPr>
          <p:cNvPr id="3" name="Picture 2" descr="MAPS &amp; DIRECTIONS - Best Private University in Telangana &amp; Andhra Pradesh | KLH  Hyderabad">
            <a:extLst>
              <a:ext uri="{FF2B5EF4-FFF2-40B4-BE49-F238E27FC236}">
                <a16:creationId xmlns:a16="http://schemas.microsoft.com/office/drawing/2014/main" id="{FF5C2F77-4832-8938-D8BE-84C1A17D8A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3" descr="preencoded.png"/>
          <p:cNvPicPr preferRelativeResize="0"/>
          <p:nvPr/>
        </p:nvPicPr>
        <p:blipFill rotWithShape="1">
          <a:blip r:embed="rId3" cstate="print">
            <a:alphaModFix/>
          </a:blip>
          <a:srcRect/>
          <a:stretch/>
        </p:blipFill>
        <p:spPr>
          <a:xfrm>
            <a:off x="7259782" y="193964"/>
            <a:ext cx="4572000" cy="5791200"/>
          </a:xfrm>
          <a:prstGeom prst="rect">
            <a:avLst/>
          </a:prstGeom>
          <a:noFill/>
          <a:ln>
            <a:noFill/>
          </a:ln>
        </p:spPr>
      </p:pic>
      <p:sp>
        <p:nvSpPr>
          <p:cNvPr id="57" name="Google Shape;57;p13"/>
          <p:cNvSpPr/>
          <p:nvPr/>
        </p:nvSpPr>
        <p:spPr>
          <a:xfrm>
            <a:off x="1982697" y="412758"/>
            <a:ext cx="8505194" cy="1006277"/>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3200" dirty="0">
                <a:solidFill>
                  <a:srgbClr val="383838"/>
                </a:solidFill>
                <a:latin typeface="Patrick Hand"/>
                <a:ea typeface="Patrick Hand"/>
                <a:cs typeface="Patrick Hand"/>
                <a:sym typeface="Patrick Hand"/>
              </a:rPr>
              <a:t>Exploring Data Distributions and Relationships</a:t>
            </a:r>
            <a:endParaRPr sz="3200"/>
          </a:p>
        </p:txBody>
      </p:sp>
      <p:sp>
        <p:nvSpPr>
          <p:cNvPr id="58" name="Google Shape;58;p13"/>
          <p:cNvSpPr/>
          <p:nvPr/>
        </p:nvSpPr>
        <p:spPr>
          <a:xfrm>
            <a:off x="555680" y="1540848"/>
            <a:ext cx="6009878" cy="1288257"/>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2400" dirty="0">
                <a:solidFill>
                  <a:srgbClr val="383838"/>
                </a:solidFill>
                <a:latin typeface="Patrick Hand"/>
                <a:ea typeface="Patrick Hand"/>
                <a:cs typeface="Patrick Hand"/>
                <a:sym typeface="Patrick Hand"/>
              </a:rPr>
              <a:t>Understanding how data is distributed and how variables relate to each other is fundamental to data analysis. </a:t>
            </a:r>
          </a:p>
          <a:p>
            <a:pPr>
              <a:lnSpc>
                <a:spcPct val="157894"/>
              </a:lnSpc>
              <a:buClr>
                <a:srgbClr val="383838"/>
              </a:buClr>
              <a:buSzPts val="1900"/>
            </a:pPr>
            <a:r>
              <a:rPr lang="en-US" sz="2400" dirty="0">
                <a:solidFill>
                  <a:srgbClr val="383838"/>
                </a:solidFill>
                <a:latin typeface="Patrick Hand"/>
                <a:ea typeface="Patrick Hand"/>
                <a:cs typeface="Patrick Hand"/>
                <a:sym typeface="Patrick Hand"/>
              </a:rPr>
              <a:t>This presentation explores key techniques for examining both categorical and numeric data, revealing patterns and relationships that drive insights.</a:t>
            </a:r>
            <a:endParaRPr sz="2400"/>
          </a:p>
        </p:txBody>
      </p:sp>
      <p:pic>
        <p:nvPicPr>
          <p:cNvPr id="2" name="Picture 2" descr="MAPS &amp; DIRECTIONS - Best Private University in Telangana &amp; Andhra Pradesh | KLH  Hyderabad">
            <a:extLst>
              <a:ext uri="{FF2B5EF4-FFF2-40B4-BE49-F238E27FC236}">
                <a16:creationId xmlns:a16="http://schemas.microsoft.com/office/drawing/2014/main" id="{C40F82DF-C717-15AB-EA5D-1F4A150FFB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5" name="Google Shape;65;p14"/>
          <p:cNvSpPr/>
          <p:nvPr/>
        </p:nvSpPr>
        <p:spPr>
          <a:xfrm>
            <a:off x="2660072" y="534547"/>
            <a:ext cx="6913419" cy="559962"/>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3200" dirty="0">
                <a:solidFill>
                  <a:srgbClr val="383838"/>
                </a:solidFill>
                <a:latin typeface="Patrick Hand"/>
                <a:ea typeface="Patrick Hand"/>
                <a:cs typeface="Patrick Hand"/>
                <a:sym typeface="Patrick Hand"/>
              </a:rPr>
              <a:t>Auto MPG Data Distribution Patterns</a:t>
            </a:r>
            <a:endParaRPr sz="3200"/>
          </a:p>
        </p:txBody>
      </p:sp>
      <p:sp>
        <p:nvSpPr>
          <p:cNvPr id="66" name="Google Shape;66;p14"/>
          <p:cNvSpPr/>
          <p:nvPr/>
        </p:nvSpPr>
        <p:spPr>
          <a:xfrm>
            <a:off x="569534" y="1672117"/>
            <a:ext cx="10581878" cy="644128"/>
          </a:xfrm>
          <a:prstGeom prst="rect">
            <a:avLst/>
          </a:prstGeom>
          <a:noFill/>
          <a:ln>
            <a:noFill/>
          </a:ln>
        </p:spPr>
        <p:txBody>
          <a:bodyPr spcFirstLastPara="1" wrap="square" lIns="0" tIns="0" rIns="0" bIns="0" anchor="t" anchorCtr="0">
            <a:noAutofit/>
          </a:bodyPr>
          <a:lstStyle/>
          <a:p>
            <a:pPr algn="just">
              <a:lnSpc>
                <a:spcPct val="157894"/>
              </a:lnSpc>
              <a:buClr>
                <a:srgbClr val="383838"/>
              </a:buClr>
              <a:buSzPts val="1900"/>
            </a:pPr>
            <a:r>
              <a:rPr lang="en-US" sz="2000" dirty="0">
                <a:solidFill>
                  <a:srgbClr val="383838"/>
                </a:solidFill>
                <a:latin typeface="Patrick Hand"/>
                <a:ea typeface="Patrick Hand"/>
                <a:cs typeface="Patrick Hand"/>
                <a:sym typeface="Patrick Hand"/>
              </a:rPr>
              <a:t>The histograms display frequency distributions across multiple Auto MPG attributes. </a:t>
            </a:r>
          </a:p>
          <a:p>
            <a:pPr algn="just">
              <a:lnSpc>
                <a:spcPct val="157894"/>
              </a:lnSpc>
              <a:buClr>
                <a:srgbClr val="383838"/>
              </a:buClr>
              <a:buSzPts val="1900"/>
            </a:pPr>
            <a:endParaRPr lang="en-US" sz="2000" dirty="0">
              <a:solidFill>
                <a:srgbClr val="383838"/>
              </a:solidFill>
              <a:latin typeface="Patrick Hand"/>
              <a:ea typeface="Patrick Hand"/>
              <a:cs typeface="Patrick Hand"/>
              <a:sym typeface="Patrick Hand"/>
            </a:endParaRPr>
          </a:p>
          <a:p>
            <a:pPr algn="just">
              <a:lnSpc>
                <a:spcPct val="157894"/>
              </a:lnSpc>
              <a:buClr>
                <a:srgbClr val="383838"/>
              </a:buClr>
              <a:buSzPts val="1900"/>
            </a:pPr>
            <a:r>
              <a:rPr lang="en-US" sz="2000" dirty="0">
                <a:solidFill>
                  <a:srgbClr val="383838"/>
                </a:solidFill>
                <a:latin typeface="Patrick Hand"/>
                <a:ea typeface="Patrick Hand"/>
                <a:cs typeface="Patrick Hand"/>
                <a:sym typeface="Patrick Hand"/>
              </a:rPr>
              <a:t>The data reveals distinct patterns: MPG values center around 20-30, displacement clusters around 100-200, and other variables show their own characteristic distributions.</a:t>
            </a:r>
            <a:endParaRPr sz="2000"/>
          </a:p>
        </p:txBody>
      </p:sp>
      <p:sp>
        <p:nvSpPr>
          <p:cNvPr id="67" name="Google Shape;67;p14"/>
          <p:cNvSpPr/>
          <p:nvPr/>
        </p:nvSpPr>
        <p:spPr>
          <a:xfrm>
            <a:off x="569534" y="3844988"/>
            <a:ext cx="10581878" cy="644128"/>
          </a:xfrm>
          <a:prstGeom prst="rect">
            <a:avLst/>
          </a:prstGeom>
          <a:noFill/>
          <a:ln>
            <a:noFill/>
          </a:ln>
        </p:spPr>
        <p:txBody>
          <a:bodyPr spcFirstLastPara="1" wrap="square" lIns="0" tIns="0" rIns="0" bIns="0" anchor="t" anchorCtr="0">
            <a:noAutofit/>
          </a:bodyPr>
          <a:lstStyle/>
          <a:p>
            <a:pPr algn="just">
              <a:lnSpc>
                <a:spcPct val="157894"/>
              </a:lnSpc>
              <a:buClr>
                <a:srgbClr val="383838"/>
              </a:buClr>
              <a:buSzPts val="1900"/>
            </a:pPr>
            <a:r>
              <a:rPr lang="en-US" sz="2000" dirty="0">
                <a:solidFill>
                  <a:srgbClr val="383838"/>
                </a:solidFill>
                <a:latin typeface="Patrick Hand"/>
                <a:ea typeface="Patrick Hand"/>
                <a:cs typeface="Patrick Hand"/>
                <a:sym typeface="Patrick Hand"/>
              </a:rPr>
              <a:t>These visualizations help identify central tendencies, spread, and potential outliers across the dataset's key variables including cylinders, weight, acceleration, model year, origin, and horsepower.</a:t>
            </a:r>
            <a:endParaRPr sz="2000"/>
          </a:p>
        </p:txBody>
      </p:sp>
      <p:pic>
        <p:nvPicPr>
          <p:cNvPr id="2" name="Picture 2" descr="MAPS &amp; DIRECTIONS - Best Private University in Telangana &amp; Andhra Pradesh | KLH  Hyderabad">
            <a:extLst>
              <a:ext uri="{FF2B5EF4-FFF2-40B4-BE49-F238E27FC236}">
                <a16:creationId xmlns:a16="http://schemas.microsoft.com/office/drawing/2014/main" id="{A5EF8A7A-5378-F05D-5296-4F1B25448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5" descr="preencoded.png"/>
          <p:cNvPicPr preferRelativeResize="0"/>
          <p:nvPr/>
        </p:nvPicPr>
        <p:blipFill rotWithShape="1">
          <a:blip r:embed="rId3" cstate="print">
            <a:alphaModFix/>
          </a:blip>
          <a:srcRect/>
          <a:stretch/>
        </p:blipFill>
        <p:spPr>
          <a:xfrm>
            <a:off x="678872" y="526472"/>
            <a:ext cx="3920837" cy="5430982"/>
          </a:xfrm>
          <a:prstGeom prst="rect">
            <a:avLst/>
          </a:prstGeom>
          <a:noFill/>
          <a:ln>
            <a:noFill/>
          </a:ln>
        </p:spPr>
      </p:pic>
      <p:sp>
        <p:nvSpPr>
          <p:cNvPr id="74" name="Google Shape;74;p15"/>
          <p:cNvSpPr/>
          <p:nvPr/>
        </p:nvSpPr>
        <p:spPr>
          <a:xfrm>
            <a:off x="5307788" y="390209"/>
            <a:ext cx="6094503" cy="503138"/>
          </a:xfrm>
          <a:prstGeom prst="rect">
            <a:avLst/>
          </a:prstGeom>
          <a:noFill/>
          <a:ln>
            <a:noFill/>
          </a:ln>
        </p:spPr>
        <p:txBody>
          <a:bodyPr spcFirstLastPara="1" wrap="square" lIns="0" tIns="0" rIns="0" bIns="0" anchor="t" anchorCtr="0">
            <a:noAutofit/>
          </a:bodyPr>
          <a:lstStyle/>
          <a:p>
            <a:pPr>
              <a:lnSpc>
                <a:spcPct val="125000"/>
              </a:lnSpc>
              <a:buClr>
                <a:srgbClr val="383838"/>
              </a:buClr>
              <a:buSzPts val="3800"/>
            </a:pPr>
            <a:r>
              <a:rPr lang="en-US" sz="2800" dirty="0">
                <a:solidFill>
                  <a:srgbClr val="383838"/>
                </a:solidFill>
                <a:latin typeface="Patrick Hand"/>
                <a:ea typeface="Patrick Hand"/>
                <a:cs typeface="Patrick Hand"/>
                <a:sym typeface="Patrick Hand"/>
              </a:rPr>
              <a:t>Understanding Categorical Data</a:t>
            </a:r>
            <a:endParaRPr sz="2800"/>
          </a:p>
        </p:txBody>
      </p:sp>
      <p:sp>
        <p:nvSpPr>
          <p:cNvPr id="75" name="Google Shape;75;p15"/>
          <p:cNvSpPr/>
          <p:nvPr/>
        </p:nvSpPr>
        <p:spPr>
          <a:xfrm>
            <a:off x="5335498" y="1410329"/>
            <a:ext cx="2866394" cy="196800"/>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b="1" dirty="0">
                <a:solidFill>
                  <a:srgbClr val="383838"/>
                </a:solidFill>
                <a:latin typeface="Patrick Hand"/>
                <a:ea typeface="Patrick Hand"/>
                <a:cs typeface="Patrick Hand"/>
                <a:sym typeface="Patrick Hand"/>
              </a:rPr>
              <a:t>Unique Values Analysis</a:t>
            </a:r>
            <a:endParaRPr sz="1600" b="1"/>
          </a:p>
        </p:txBody>
      </p:sp>
      <p:sp>
        <p:nvSpPr>
          <p:cNvPr id="76" name="Google Shape;76;p15"/>
          <p:cNvSpPr/>
          <p:nvPr/>
        </p:nvSpPr>
        <p:spPr>
          <a:xfrm>
            <a:off x="5377061" y="1863163"/>
            <a:ext cx="2759472" cy="1932384"/>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Categorical data exploration begins with identifying unique values. The Auto MPG dataset contains attributes like 'car name' with numerous unique entries and 'cylinders' with just five distinct values: 3, 4, 5, 6, and 8.</a:t>
            </a:r>
            <a:endParaRPr sz="1600"/>
          </a:p>
        </p:txBody>
      </p:sp>
      <p:sp>
        <p:nvSpPr>
          <p:cNvPr id="77" name="Google Shape;77;p15"/>
          <p:cNvSpPr/>
          <p:nvPr/>
        </p:nvSpPr>
        <p:spPr>
          <a:xfrm>
            <a:off x="5404770" y="5112693"/>
            <a:ext cx="2759472" cy="966193"/>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This initial assessment helps understand the granularity and diversity within categorical variables.</a:t>
            </a:r>
            <a:endParaRPr sz="1600"/>
          </a:p>
        </p:txBody>
      </p:sp>
      <p:sp>
        <p:nvSpPr>
          <p:cNvPr id="78" name="Google Shape;78;p15"/>
          <p:cNvSpPr/>
          <p:nvPr/>
        </p:nvSpPr>
        <p:spPr>
          <a:xfrm>
            <a:off x="8592254" y="1354909"/>
            <a:ext cx="2352838" cy="224509"/>
          </a:xfrm>
          <a:prstGeom prst="rect">
            <a:avLst/>
          </a:prstGeom>
          <a:noFill/>
          <a:ln>
            <a:noFill/>
          </a:ln>
        </p:spPr>
        <p:txBody>
          <a:bodyPr spcFirstLastPara="1" wrap="square" lIns="0" tIns="0" rIns="0" bIns="0" anchor="t" anchorCtr="0">
            <a:noAutofit/>
          </a:bodyPr>
          <a:lstStyle/>
          <a:p>
            <a:pPr>
              <a:lnSpc>
                <a:spcPct val="123684"/>
              </a:lnSpc>
              <a:buClr>
                <a:srgbClr val="383838"/>
              </a:buClr>
              <a:buSzPts val="1900"/>
            </a:pPr>
            <a:r>
              <a:rPr lang="en-US" sz="1600" b="1" dirty="0">
                <a:solidFill>
                  <a:srgbClr val="383838"/>
                </a:solidFill>
                <a:latin typeface="Patrick Hand"/>
                <a:ea typeface="Patrick Hand"/>
                <a:cs typeface="Patrick Hand"/>
                <a:sym typeface="Patrick Hand"/>
              </a:rPr>
              <a:t>Frequency</a:t>
            </a:r>
            <a:r>
              <a:rPr lang="en-US" sz="1600" dirty="0">
                <a:solidFill>
                  <a:srgbClr val="383838"/>
                </a:solidFill>
                <a:latin typeface="Patrick Hand"/>
                <a:ea typeface="Patrick Hand"/>
                <a:cs typeface="Patrick Hand"/>
                <a:sym typeface="Patrick Hand"/>
              </a:rPr>
              <a:t> </a:t>
            </a:r>
            <a:r>
              <a:rPr lang="en-US" sz="1600" b="1" dirty="0">
                <a:solidFill>
                  <a:srgbClr val="383838"/>
                </a:solidFill>
                <a:latin typeface="Patrick Hand"/>
                <a:ea typeface="Patrick Hand"/>
                <a:cs typeface="Patrick Hand"/>
                <a:sym typeface="Patrick Hand"/>
              </a:rPr>
              <a:t>Counts</a:t>
            </a:r>
            <a:endParaRPr sz="1600" b="1"/>
          </a:p>
        </p:txBody>
      </p:sp>
      <p:sp>
        <p:nvSpPr>
          <p:cNvPr id="79" name="Google Shape;79;p15"/>
          <p:cNvSpPr/>
          <p:nvPr/>
        </p:nvSpPr>
        <p:spPr>
          <a:xfrm>
            <a:off x="8578399" y="1918581"/>
            <a:ext cx="2759472" cy="225444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Beyond unique values, we examine how data elements distribute across categories. For cylinders, 4-cylinder vehicles dominate with 204 instances (51.3%), followed by 8-cylinder (103), 6-cylinder (84), 3-cylinder (4), and 5-cylinder (3) vehicles.</a:t>
            </a:r>
            <a:endParaRPr sz="1600"/>
          </a:p>
        </p:txBody>
      </p:sp>
      <p:pic>
        <p:nvPicPr>
          <p:cNvPr id="2" name="Picture 2" descr="MAPS &amp; DIRECTIONS - Best Private University in Telangana &amp; Andhra Pradesh | KLH  Hyderabad">
            <a:extLst>
              <a:ext uri="{FF2B5EF4-FFF2-40B4-BE49-F238E27FC236}">
                <a16:creationId xmlns:a16="http://schemas.microsoft.com/office/drawing/2014/main" id="{E3F4FB56-265A-5C11-4368-1B756797B4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p:nvPr/>
        </p:nvSpPr>
        <p:spPr>
          <a:xfrm>
            <a:off x="3768436" y="363520"/>
            <a:ext cx="4433455" cy="412335"/>
          </a:xfrm>
          <a:prstGeom prst="rect">
            <a:avLst/>
          </a:prstGeom>
          <a:noFill/>
          <a:ln>
            <a:noFill/>
          </a:ln>
        </p:spPr>
        <p:txBody>
          <a:bodyPr spcFirstLastPara="1" wrap="square" lIns="0" tIns="0" rIns="0" bIns="0" anchor="t" anchorCtr="0">
            <a:noAutofit/>
          </a:bodyPr>
          <a:lstStyle/>
          <a:p>
            <a:pPr>
              <a:lnSpc>
                <a:spcPct val="123913"/>
              </a:lnSpc>
              <a:buClr>
                <a:srgbClr val="383838"/>
              </a:buClr>
              <a:buSzPts val="2300"/>
            </a:pPr>
            <a:r>
              <a:rPr lang="en-US" sz="2400" b="1" dirty="0">
                <a:solidFill>
                  <a:srgbClr val="383838"/>
                </a:solidFill>
                <a:latin typeface="Patrick Hand"/>
                <a:ea typeface="Patrick Hand"/>
                <a:cs typeface="Patrick Hand"/>
                <a:sym typeface="Patrick Hand"/>
              </a:rPr>
              <a:t>Cylinder Distribution Analysis</a:t>
            </a:r>
            <a:endParaRPr sz="2400" b="1"/>
          </a:p>
        </p:txBody>
      </p:sp>
      <p:sp>
        <p:nvSpPr>
          <p:cNvPr id="86" name="Google Shape;86;p16"/>
          <p:cNvSpPr/>
          <p:nvPr/>
        </p:nvSpPr>
        <p:spPr>
          <a:xfrm>
            <a:off x="2503587" y="1774528"/>
            <a:ext cx="1500386" cy="304899"/>
          </a:xfrm>
          <a:prstGeom prst="rect">
            <a:avLst/>
          </a:prstGeom>
          <a:noFill/>
          <a:ln>
            <a:noFill/>
          </a:ln>
        </p:spPr>
        <p:txBody>
          <a:bodyPr spcFirstLastPara="1" wrap="square" lIns="0" tIns="0" rIns="0" bIns="0" anchor="t" anchorCtr="0">
            <a:noAutofit/>
          </a:bodyPr>
          <a:lstStyle/>
          <a:p>
            <a:pPr algn="ctr">
              <a:buClr>
                <a:srgbClr val="383838"/>
              </a:buClr>
              <a:buSzPts val="2850"/>
            </a:pPr>
            <a:r>
              <a:rPr lang="en-US" sz="2800" dirty="0">
                <a:solidFill>
                  <a:srgbClr val="383838"/>
                </a:solidFill>
                <a:latin typeface="Patrick Hand"/>
                <a:ea typeface="Patrick Hand"/>
                <a:cs typeface="Patrick Hand"/>
                <a:sym typeface="Patrick Hand"/>
              </a:rPr>
              <a:t>51.3%</a:t>
            </a:r>
            <a:endParaRPr sz="2800"/>
          </a:p>
        </p:txBody>
      </p:sp>
      <p:pic>
        <p:nvPicPr>
          <p:cNvPr id="87" name="Google Shape;87;p16" descr="preencoded.png"/>
          <p:cNvPicPr preferRelativeResize="0"/>
          <p:nvPr/>
        </p:nvPicPr>
        <p:blipFill rotWithShape="1">
          <a:blip r:embed="rId3">
            <a:alphaModFix/>
          </a:blip>
          <a:srcRect/>
          <a:stretch/>
        </p:blipFill>
        <p:spPr>
          <a:xfrm>
            <a:off x="2338983" y="1012131"/>
            <a:ext cx="1829793" cy="1829793"/>
          </a:xfrm>
          <a:prstGeom prst="rect">
            <a:avLst/>
          </a:prstGeom>
          <a:noFill/>
          <a:ln>
            <a:noFill/>
          </a:ln>
        </p:spPr>
      </p:pic>
      <p:sp>
        <p:nvSpPr>
          <p:cNvPr id="88" name="Google Shape;88;p16"/>
          <p:cNvSpPr/>
          <p:nvPr/>
        </p:nvSpPr>
        <p:spPr>
          <a:xfrm>
            <a:off x="2643882" y="2994323"/>
            <a:ext cx="1219894" cy="152499"/>
          </a:xfrm>
          <a:prstGeom prst="rect">
            <a:avLst/>
          </a:prstGeom>
          <a:noFill/>
          <a:ln>
            <a:noFill/>
          </a:ln>
        </p:spPr>
        <p:txBody>
          <a:bodyPr spcFirstLastPara="1" wrap="square" lIns="0" tIns="0" rIns="0" bIns="0" anchor="t" anchorCtr="0">
            <a:noAutofit/>
          </a:bodyPr>
          <a:lstStyle/>
          <a:p>
            <a:pPr algn="ctr">
              <a:lnSpc>
                <a:spcPct val="121739"/>
              </a:lnSpc>
              <a:buClr>
                <a:srgbClr val="383838"/>
              </a:buClr>
              <a:buSzPts val="1150"/>
            </a:pPr>
            <a:r>
              <a:rPr lang="en-US" sz="1050" dirty="0">
                <a:solidFill>
                  <a:srgbClr val="383838"/>
                </a:solidFill>
                <a:latin typeface="Patrick Hand"/>
                <a:ea typeface="Patrick Hand"/>
                <a:cs typeface="Patrick Hand"/>
                <a:sym typeface="Patrick Hand"/>
              </a:rPr>
              <a:t>4-Cylinder Vehicles</a:t>
            </a:r>
            <a:endParaRPr sz="1050"/>
          </a:p>
        </p:txBody>
      </p:sp>
      <p:sp>
        <p:nvSpPr>
          <p:cNvPr id="89" name="Google Shape;89;p16"/>
          <p:cNvSpPr/>
          <p:nvPr/>
        </p:nvSpPr>
        <p:spPr>
          <a:xfrm>
            <a:off x="487958" y="3219946"/>
            <a:ext cx="5531843" cy="195263"/>
          </a:xfrm>
          <a:prstGeom prst="rect">
            <a:avLst/>
          </a:prstGeom>
          <a:noFill/>
          <a:ln>
            <a:noFill/>
          </a:ln>
        </p:spPr>
        <p:txBody>
          <a:bodyPr spcFirstLastPara="1" wrap="square" lIns="0" tIns="0" rIns="0" bIns="0" anchor="t" anchorCtr="0">
            <a:noAutofit/>
          </a:bodyPr>
          <a:lstStyle/>
          <a:p>
            <a:pPr algn="ctr">
              <a:lnSpc>
                <a:spcPct val="156521"/>
              </a:lnSpc>
              <a:buClr>
                <a:srgbClr val="383838"/>
              </a:buClr>
              <a:buSzPts val="1150"/>
            </a:pPr>
            <a:r>
              <a:rPr lang="en-US" sz="1050" dirty="0">
                <a:solidFill>
                  <a:srgbClr val="383838"/>
                </a:solidFill>
                <a:latin typeface="Patrick Hand"/>
                <a:ea typeface="Patrick Hand"/>
                <a:cs typeface="Patrick Hand"/>
                <a:sym typeface="Patrick Hand"/>
              </a:rPr>
              <a:t>Dominant category with 204 vehicles</a:t>
            </a:r>
            <a:endParaRPr sz="1050"/>
          </a:p>
        </p:txBody>
      </p:sp>
      <p:sp>
        <p:nvSpPr>
          <p:cNvPr id="90" name="Google Shape;90;p16"/>
          <p:cNvSpPr/>
          <p:nvPr/>
        </p:nvSpPr>
        <p:spPr>
          <a:xfrm>
            <a:off x="8187830" y="1774528"/>
            <a:ext cx="1500386" cy="304899"/>
          </a:xfrm>
          <a:prstGeom prst="rect">
            <a:avLst/>
          </a:prstGeom>
          <a:noFill/>
          <a:ln>
            <a:noFill/>
          </a:ln>
        </p:spPr>
        <p:txBody>
          <a:bodyPr spcFirstLastPara="1" wrap="square" lIns="0" tIns="0" rIns="0" bIns="0" anchor="t" anchorCtr="0">
            <a:noAutofit/>
          </a:bodyPr>
          <a:lstStyle/>
          <a:p>
            <a:pPr algn="ctr">
              <a:buClr>
                <a:srgbClr val="383838"/>
              </a:buClr>
              <a:buSzPts val="2850"/>
            </a:pPr>
            <a:r>
              <a:rPr lang="en-US" sz="2800" dirty="0">
                <a:solidFill>
                  <a:srgbClr val="383838"/>
                </a:solidFill>
                <a:latin typeface="Patrick Hand"/>
                <a:ea typeface="Patrick Hand"/>
                <a:cs typeface="Patrick Hand"/>
                <a:sym typeface="Patrick Hand"/>
              </a:rPr>
              <a:t>25.9%</a:t>
            </a:r>
            <a:endParaRPr sz="2800"/>
          </a:p>
        </p:txBody>
      </p:sp>
      <p:pic>
        <p:nvPicPr>
          <p:cNvPr id="91" name="Google Shape;91;p16" descr="preencoded.png"/>
          <p:cNvPicPr preferRelativeResize="0"/>
          <p:nvPr/>
        </p:nvPicPr>
        <p:blipFill rotWithShape="1">
          <a:blip r:embed="rId4">
            <a:alphaModFix/>
          </a:blip>
          <a:srcRect/>
          <a:stretch/>
        </p:blipFill>
        <p:spPr>
          <a:xfrm>
            <a:off x="8023225" y="1012131"/>
            <a:ext cx="1829793" cy="1829793"/>
          </a:xfrm>
          <a:prstGeom prst="rect">
            <a:avLst/>
          </a:prstGeom>
          <a:noFill/>
          <a:ln>
            <a:noFill/>
          </a:ln>
        </p:spPr>
      </p:pic>
      <p:sp>
        <p:nvSpPr>
          <p:cNvPr id="92" name="Google Shape;92;p16"/>
          <p:cNvSpPr/>
          <p:nvPr/>
        </p:nvSpPr>
        <p:spPr>
          <a:xfrm>
            <a:off x="8328125" y="2994323"/>
            <a:ext cx="1219894" cy="152499"/>
          </a:xfrm>
          <a:prstGeom prst="rect">
            <a:avLst/>
          </a:prstGeom>
          <a:noFill/>
          <a:ln>
            <a:noFill/>
          </a:ln>
        </p:spPr>
        <p:txBody>
          <a:bodyPr spcFirstLastPara="1" wrap="square" lIns="0" tIns="0" rIns="0" bIns="0" anchor="t" anchorCtr="0">
            <a:noAutofit/>
          </a:bodyPr>
          <a:lstStyle/>
          <a:p>
            <a:pPr algn="ctr">
              <a:lnSpc>
                <a:spcPct val="121739"/>
              </a:lnSpc>
              <a:buClr>
                <a:srgbClr val="383838"/>
              </a:buClr>
              <a:buSzPts val="1150"/>
            </a:pPr>
            <a:r>
              <a:rPr lang="en-US" sz="1050" dirty="0">
                <a:solidFill>
                  <a:srgbClr val="383838"/>
                </a:solidFill>
                <a:latin typeface="Patrick Hand"/>
                <a:ea typeface="Patrick Hand"/>
                <a:cs typeface="Patrick Hand"/>
                <a:sym typeface="Patrick Hand"/>
              </a:rPr>
              <a:t>8-Cylinder Vehicles</a:t>
            </a:r>
            <a:endParaRPr sz="1050"/>
          </a:p>
        </p:txBody>
      </p:sp>
      <p:sp>
        <p:nvSpPr>
          <p:cNvPr id="93" name="Google Shape;93;p16"/>
          <p:cNvSpPr/>
          <p:nvPr/>
        </p:nvSpPr>
        <p:spPr>
          <a:xfrm>
            <a:off x="6172200" y="3219946"/>
            <a:ext cx="5531843" cy="195263"/>
          </a:xfrm>
          <a:prstGeom prst="rect">
            <a:avLst/>
          </a:prstGeom>
          <a:noFill/>
          <a:ln>
            <a:noFill/>
          </a:ln>
        </p:spPr>
        <p:txBody>
          <a:bodyPr spcFirstLastPara="1" wrap="square" lIns="0" tIns="0" rIns="0" bIns="0" anchor="t" anchorCtr="0">
            <a:noAutofit/>
          </a:bodyPr>
          <a:lstStyle/>
          <a:p>
            <a:pPr algn="ctr">
              <a:lnSpc>
                <a:spcPct val="156521"/>
              </a:lnSpc>
              <a:buClr>
                <a:srgbClr val="383838"/>
              </a:buClr>
              <a:buSzPts val="1150"/>
            </a:pPr>
            <a:r>
              <a:rPr lang="en-US" sz="1050" dirty="0">
                <a:solidFill>
                  <a:srgbClr val="383838"/>
                </a:solidFill>
                <a:latin typeface="Patrick Hand"/>
                <a:ea typeface="Patrick Hand"/>
                <a:cs typeface="Patrick Hand"/>
                <a:sym typeface="Patrick Hand"/>
              </a:rPr>
              <a:t>Second largest with 103 vehicles</a:t>
            </a:r>
            <a:endParaRPr sz="1050"/>
          </a:p>
        </p:txBody>
      </p:sp>
      <p:sp>
        <p:nvSpPr>
          <p:cNvPr id="94" name="Google Shape;94;p16"/>
          <p:cNvSpPr/>
          <p:nvPr/>
        </p:nvSpPr>
        <p:spPr>
          <a:xfrm>
            <a:off x="2503587" y="4452045"/>
            <a:ext cx="1500386" cy="304899"/>
          </a:xfrm>
          <a:prstGeom prst="rect">
            <a:avLst/>
          </a:prstGeom>
          <a:noFill/>
          <a:ln>
            <a:noFill/>
          </a:ln>
        </p:spPr>
        <p:txBody>
          <a:bodyPr spcFirstLastPara="1" wrap="square" lIns="0" tIns="0" rIns="0" bIns="0" anchor="t" anchorCtr="0">
            <a:noAutofit/>
          </a:bodyPr>
          <a:lstStyle/>
          <a:p>
            <a:pPr algn="ctr">
              <a:buClr>
                <a:srgbClr val="383838"/>
              </a:buClr>
              <a:buSzPts val="2850"/>
            </a:pPr>
            <a:r>
              <a:rPr lang="en-US" sz="2800" dirty="0">
                <a:solidFill>
                  <a:srgbClr val="383838"/>
                </a:solidFill>
                <a:latin typeface="Patrick Hand"/>
                <a:ea typeface="Patrick Hand"/>
                <a:cs typeface="Patrick Hand"/>
                <a:sym typeface="Patrick Hand"/>
              </a:rPr>
              <a:t>21.1%</a:t>
            </a:r>
            <a:endParaRPr sz="2800"/>
          </a:p>
        </p:txBody>
      </p:sp>
      <p:pic>
        <p:nvPicPr>
          <p:cNvPr id="95" name="Google Shape;95;p16" descr="preencoded.png"/>
          <p:cNvPicPr preferRelativeResize="0"/>
          <p:nvPr/>
        </p:nvPicPr>
        <p:blipFill rotWithShape="1">
          <a:blip r:embed="rId5">
            <a:alphaModFix/>
          </a:blip>
          <a:srcRect/>
          <a:stretch/>
        </p:blipFill>
        <p:spPr>
          <a:xfrm>
            <a:off x="2338983" y="3689648"/>
            <a:ext cx="1829793" cy="1829793"/>
          </a:xfrm>
          <a:prstGeom prst="rect">
            <a:avLst/>
          </a:prstGeom>
          <a:noFill/>
          <a:ln>
            <a:noFill/>
          </a:ln>
        </p:spPr>
      </p:pic>
      <p:sp>
        <p:nvSpPr>
          <p:cNvPr id="96" name="Google Shape;96;p16"/>
          <p:cNvSpPr/>
          <p:nvPr/>
        </p:nvSpPr>
        <p:spPr>
          <a:xfrm>
            <a:off x="2643882" y="5671841"/>
            <a:ext cx="1219894" cy="152499"/>
          </a:xfrm>
          <a:prstGeom prst="rect">
            <a:avLst/>
          </a:prstGeom>
          <a:noFill/>
          <a:ln>
            <a:noFill/>
          </a:ln>
        </p:spPr>
        <p:txBody>
          <a:bodyPr spcFirstLastPara="1" wrap="square" lIns="0" tIns="0" rIns="0" bIns="0" anchor="t" anchorCtr="0">
            <a:noAutofit/>
          </a:bodyPr>
          <a:lstStyle/>
          <a:p>
            <a:pPr algn="ctr">
              <a:lnSpc>
                <a:spcPct val="121739"/>
              </a:lnSpc>
              <a:buClr>
                <a:srgbClr val="383838"/>
              </a:buClr>
              <a:buSzPts val="1150"/>
            </a:pPr>
            <a:r>
              <a:rPr lang="en-US" sz="1050" dirty="0">
                <a:solidFill>
                  <a:srgbClr val="383838"/>
                </a:solidFill>
                <a:latin typeface="Patrick Hand"/>
                <a:ea typeface="Patrick Hand"/>
                <a:cs typeface="Patrick Hand"/>
                <a:sym typeface="Patrick Hand"/>
              </a:rPr>
              <a:t>6-Cylinder Vehicles</a:t>
            </a:r>
            <a:endParaRPr sz="1050"/>
          </a:p>
        </p:txBody>
      </p:sp>
      <p:sp>
        <p:nvSpPr>
          <p:cNvPr id="97" name="Google Shape;97;p16"/>
          <p:cNvSpPr/>
          <p:nvPr/>
        </p:nvSpPr>
        <p:spPr>
          <a:xfrm>
            <a:off x="487958" y="5897464"/>
            <a:ext cx="5531843" cy="195263"/>
          </a:xfrm>
          <a:prstGeom prst="rect">
            <a:avLst/>
          </a:prstGeom>
          <a:noFill/>
          <a:ln>
            <a:noFill/>
          </a:ln>
        </p:spPr>
        <p:txBody>
          <a:bodyPr spcFirstLastPara="1" wrap="square" lIns="0" tIns="0" rIns="0" bIns="0" anchor="t" anchorCtr="0">
            <a:noAutofit/>
          </a:bodyPr>
          <a:lstStyle/>
          <a:p>
            <a:pPr algn="ctr">
              <a:lnSpc>
                <a:spcPct val="156521"/>
              </a:lnSpc>
              <a:buClr>
                <a:srgbClr val="383838"/>
              </a:buClr>
              <a:buSzPts val="1150"/>
            </a:pPr>
            <a:r>
              <a:rPr lang="en-US" sz="1050" dirty="0">
                <a:solidFill>
                  <a:srgbClr val="383838"/>
                </a:solidFill>
                <a:latin typeface="Patrick Hand"/>
                <a:ea typeface="Patrick Hand"/>
                <a:cs typeface="Patrick Hand"/>
                <a:sym typeface="Patrick Hand"/>
              </a:rPr>
              <a:t>Third category with 84 vehicles</a:t>
            </a:r>
            <a:endParaRPr sz="1050"/>
          </a:p>
        </p:txBody>
      </p:sp>
      <p:sp>
        <p:nvSpPr>
          <p:cNvPr id="98" name="Google Shape;98;p16"/>
          <p:cNvSpPr/>
          <p:nvPr/>
        </p:nvSpPr>
        <p:spPr>
          <a:xfrm>
            <a:off x="8187830" y="4452045"/>
            <a:ext cx="1500386" cy="304899"/>
          </a:xfrm>
          <a:prstGeom prst="rect">
            <a:avLst/>
          </a:prstGeom>
          <a:noFill/>
          <a:ln>
            <a:noFill/>
          </a:ln>
        </p:spPr>
        <p:txBody>
          <a:bodyPr spcFirstLastPara="1" wrap="square" lIns="0" tIns="0" rIns="0" bIns="0" anchor="t" anchorCtr="0">
            <a:noAutofit/>
          </a:bodyPr>
          <a:lstStyle/>
          <a:p>
            <a:pPr algn="ctr">
              <a:buClr>
                <a:srgbClr val="383838"/>
              </a:buClr>
              <a:buSzPts val="2850"/>
            </a:pPr>
            <a:r>
              <a:rPr lang="en-US" sz="2800" dirty="0">
                <a:solidFill>
                  <a:srgbClr val="383838"/>
                </a:solidFill>
                <a:latin typeface="Patrick Hand"/>
                <a:ea typeface="Patrick Hand"/>
                <a:cs typeface="Patrick Hand"/>
                <a:sym typeface="Patrick Hand"/>
              </a:rPr>
              <a:t>1.0%</a:t>
            </a:r>
            <a:endParaRPr sz="2800"/>
          </a:p>
        </p:txBody>
      </p:sp>
      <p:pic>
        <p:nvPicPr>
          <p:cNvPr id="99" name="Google Shape;99;p16" descr="preencoded.png"/>
          <p:cNvPicPr preferRelativeResize="0"/>
          <p:nvPr/>
        </p:nvPicPr>
        <p:blipFill rotWithShape="1">
          <a:blip r:embed="rId6">
            <a:alphaModFix/>
          </a:blip>
          <a:srcRect/>
          <a:stretch/>
        </p:blipFill>
        <p:spPr>
          <a:xfrm>
            <a:off x="8023225" y="3689648"/>
            <a:ext cx="1829793" cy="1829793"/>
          </a:xfrm>
          <a:prstGeom prst="rect">
            <a:avLst/>
          </a:prstGeom>
          <a:noFill/>
          <a:ln>
            <a:noFill/>
          </a:ln>
        </p:spPr>
      </p:pic>
      <p:sp>
        <p:nvSpPr>
          <p:cNvPr id="100" name="Google Shape;100;p16"/>
          <p:cNvSpPr/>
          <p:nvPr/>
        </p:nvSpPr>
        <p:spPr>
          <a:xfrm>
            <a:off x="8328125" y="5671841"/>
            <a:ext cx="1219894" cy="152499"/>
          </a:xfrm>
          <a:prstGeom prst="rect">
            <a:avLst/>
          </a:prstGeom>
          <a:noFill/>
          <a:ln>
            <a:noFill/>
          </a:ln>
        </p:spPr>
        <p:txBody>
          <a:bodyPr spcFirstLastPara="1" wrap="square" lIns="0" tIns="0" rIns="0" bIns="0" anchor="t" anchorCtr="0">
            <a:noAutofit/>
          </a:bodyPr>
          <a:lstStyle/>
          <a:p>
            <a:pPr algn="ctr">
              <a:lnSpc>
                <a:spcPct val="121739"/>
              </a:lnSpc>
              <a:buClr>
                <a:srgbClr val="383838"/>
              </a:buClr>
              <a:buSzPts val="1150"/>
            </a:pPr>
            <a:r>
              <a:rPr lang="en-US" sz="1050" dirty="0">
                <a:solidFill>
                  <a:srgbClr val="383838"/>
                </a:solidFill>
                <a:latin typeface="Patrick Hand"/>
                <a:ea typeface="Patrick Hand"/>
                <a:cs typeface="Patrick Hand"/>
                <a:sym typeface="Patrick Hand"/>
              </a:rPr>
              <a:t>3-Cylinder Vehicles</a:t>
            </a:r>
            <a:endParaRPr sz="1050"/>
          </a:p>
        </p:txBody>
      </p:sp>
      <p:sp>
        <p:nvSpPr>
          <p:cNvPr id="101" name="Google Shape;101;p16"/>
          <p:cNvSpPr/>
          <p:nvPr/>
        </p:nvSpPr>
        <p:spPr>
          <a:xfrm>
            <a:off x="6172200" y="5897464"/>
            <a:ext cx="5531843" cy="195263"/>
          </a:xfrm>
          <a:prstGeom prst="rect">
            <a:avLst/>
          </a:prstGeom>
          <a:noFill/>
          <a:ln>
            <a:noFill/>
          </a:ln>
        </p:spPr>
        <p:txBody>
          <a:bodyPr spcFirstLastPara="1" wrap="square" lIns="0" tIns="0" rIns="0" bIns="0" anchor="t" anchorCtr="0">
            <a:noAutofit/>
          </a:bodyPr>
          <a:lstStyle/>
          <a:p>
            <a:pPr algn="ctr">
              <a:lnSpc>
                <a:spcPct val="156521"/>
              </a:lnSpc>
              <a:buClr>
                <a:srgbClr val="383838"/>
              </a:buClr>
              <a:buSzPts val="1150"/>
            </a:pPr>
            <a:r>
              <a:rPr lang="en-US" sz="1050" dirty="0">
                <a:solidFill>
                  <a:srgbClr val="383838"/>
                </a:solidFill>
                <a:latin typeface="Patrick Hand"/>
                <a:ea typeface="Patrick Hand"/>
                <a:cs typeface="Patrick Hand"/>
                <a:sym typeface="Patrick Hand"/>
              </a:rPr>
              <a:t>Rare category with only 4 vehicles</a:t>
            </a:r>
            <a:endParaRPr sz="1050"/>
          </a:p>
        </p:txBody>
      </p:sp>
      <p:sp>
        <p:nvSpPr>
          <p:cNvPr id="102" name="Google Shape;102;p16"/>
          <p:cNvSpPr/>
          <p:nvPr/>
        </p:nvSpPr>
        <p:spPr>
          <a:xfrm>
            <a:off x="487958" y="6229945"/>
            <a:ext cx="11216084" cy="195263"/>
          </a:xfrm>
          <a:prstGeom prst="rect">
            <a:avLst/>
          </a:prstGeom>
          <a:noFill/>
          <a:ln>
            <a:noFill/>
          </a:ln>
        </p:spPr>
        <p:txBody>
          <a:bodyPr spcFirstLastPara="1" wrap="square" lIns="0" tIns="0" rIns="0" bIns="0" anchor="t" anchorCtr="0">
            <a:noAutofit/>
          </a:bodyPr>
          <a:lstStyle/>
          <a:p>
            <a:pPr>
              <a:lnSpc>
                <a:spcPct val="156521"/>
              </a:lnSpc>
              <a:buClr>
                <a:srgbClr val="383838"/>
              </a:buClr>
              <a:buSzPts val="1150"/>
            </a:pPr>
            <a:r>
              <a:rPr lang="en-US" sz="1050" b="1" dirty="0">
                <a:solidFill>
                  <a:srgbClr val="383838"/>
                </a:solidFill>
                <a:latin typeface="Patrick Hand"/>
                <a:ea typeface="Patrick Hand"/>
                <a:cs typeface="Patrick Hand"/>
                <a:sym typeface="Patrick Hand"/>
              </a:rPr>
              <a:t>The cylinder distribution reveals clear preferences in automotive design, with 4-cylinder engines </a:t>
            </a:r>
            <a:r>
              <a:rPr lang="en-US" sz="1400" b="1" dirty="0">
                <a:solidFill>
                  <a:srgbClr val="383838"/>
                </a:solidFill>
                <a:latin typeface="Patrick Hand"/>
                <a:ea typeface="Patrick Hand"/>
                <a:cs typeface="Patrick Hand"/>
                <a:sym typeface="Patrick Hand"/>
              </a:rPr>
              <a:t>representing</a:t>
            </a:r>
            <a:r>
              <a:rPr lang="en-US" sz="1050" b="1" dirty="0">
                <a:solidFill>
                  <a:srgbClr val="383838"/>
                </a:solidFill>
                <a:latin typeface="Patrick Hand"/>
                <a:ea typeface="Patrick Hand"/>
                <a:cs typeface="Patrick Hand"/>
                <a:sym typeface="Patrick Hand"/>
              </a:rPr>
              <a:t> over half of all vehicles in the dataset. This pattern reflects fuel efficiency trends and market demands during the data collection period.</a:t>
            </a:r>
            <a:endParaRPr sz="1050" b="1"/>
          </a:p>
        </p:txBody>
      </p:sp>
      <p:pic>
        <p:nvPicPr>
          <p:cNvPr id="2" name="Picture 2" descr="MAPS &amp; DIRECTIONS - Best Private University in Telangana &amp; Andhra Pradesh | KLH  Hyderabad">
            <a:extLst>
              <a:ext uri="{FF2B5EF4-FFF2-40B4-BE49-F238E27FC236}">
                <a16:creationId xmlns:a16="http://schemas.microsoft.com/office/drawing/2014/main" id="{7BB514FC-1066-1C07-D5BE-DBD79836F4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7" descr="preencoded.png"/>
          <p:cNvPicPr preferRelativeResize="0"/>
          <p:nvPr/>
        </p:nvPicPr>
        <p:blipFill rotWithShape="1">
          <a:blip r:embed="rId3" cstate="print">
            <a:alphaModFix/>
          </a:blip>
          <a:srcRect/>
          <a:stretch/>
        </p:blipFill>
        <p:spPr>
          <a:xfrm>
            <a:off x="7370616" y="995048"/>
            <a:ext cx="4281055" cy="5475026"/>
          </a:xfrm>
          <a:prstGeom prst="rect">
            <a:avLst/>
          </a:prstGeom>
          <a:noFill/>
          <a:ln>
            <a:noFill/>
          </a:ln>
        </p:spPr>
      </p:pic>
      <p:sp>
        <p:nvSpPr>
          <p:cNvPr id="109" name="Google Shape;109;p17"/>
          <p:cNvSpPr/>
          <p:nvPr/>
        </p:nvSpPr>
        <p:spPr>
          <a:xfrm>
            <a:off x="3257776" y="356413"/>
            <a:ext cx="5096514" cy="399554"/>
          </a:xfrm>
          <a:prstGeom prst="rect">
            <a:avLst/>
          </a:prstGeom>
          <a:noFill/>
          <a:ln>
            <a:noFill/>
          </a:ln>
        </p:spPr>
        <p:txBody>
          <a:bodyPr spcFirstLastPara="1" wrap="square" lIns="0" tIns="0" rIns="0" bIns="0" anchor="t" anchorCtr="0">
            <a:noAutofit/>
          </a:bodyPr>
          <a:lstStyle/>
          <a:p>
            <a:pPr>
              <a:lnSpc>
                <a:spcPct val="125000"/>
              </a:lnSpc>
              <a:buClr>
                <a:srgbClr val="383838"/>
              </a:buClr>
              <a:buSzPts val="3000"/>
            </a:pPr>
            <a:r>
              <a:rPr lang="en-US" sz="2500" dirty="0">
                <a:solidFill>
                  <a:srgbClr val="383838"/>
                </a:solidFill>
                <a:latin typeface="Patrick Hand"/>
                <a:ea typeface="Patrick Hand"/>
                <a:cs typeface="Patrick Hand"/>
                <a:sym typeface="Patrick Hand"/>
              </a:rPr>
              <a:t>Mode: The Key to Categorical Data</a:t>
            </a:r>
            <a:endParaRPr sz="2500"/>
          </a:p>
        </p:txBody>
      </p:sp>
      <p:sp>
        <p:nvSpPr>
          <p:cNvPr id="110" name="Google Shape;110;p17"/>
          <p:cNvSpPr/>
          <p:nvPr/>
        </p:nvSpPr>
        <p:spPr>
          <a:xfrm>
            <a:off x="639267" y="1078806"/>
            <a:ext cx="3090863" cy="2289671"/>
          </a:xfrm>
          <a:prstGeom prst="roundRect">
            <a:avLst>
              <a:gd name="adj" fmla="val 2932"/>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11" name="Google Shape;111;p17"/>
          <p:cNvSpPr/>
          <p:nvPr/>
        </p:nvSpPr>
        <p:spPr>
          <a:xfrm>
            <a:off x="805358" y="1244898"/>
            <a:ext cx="479425" cy="479425"/>
          </a:xfrm>
          <a:prstGeom prst="roundRect">
            <a:avLst>
              <a:gd name="adj" fmla="val 15892450"/>
            </a:avLst>
          </a:prstGeom>
          <a:solidFill>
            <a:srgbClr val="CCCCCC"/>
          </a:solidFill>
          <a:ln>
            <a:noFill/>
          </a:ln>
        </p:spPr>
        <p:txBody>
          <a:bodyPr spcFirstLastPara="1" wrap="square" lIns="76184" tIns="76184" rIns="76184" bIns="76184" anchor="ctr" anchorCtr="0">
            <a:noAutofit/>
          </a:bodyPr>
          <a:lstStyle/>
          <a:p>
            <a:endParaRPr/>
          </a:p>
        </p:txBody>
      </p:sp>
      <p:pic>
        <p:nvPicPr>
          <p:cNvPr id="112" name="Google Shape;112;p17" descr="preencoded.png"/>
          <p:cNvPicPr preferRelativeResize="0"/>
          <p:nvPr/>
        </p:nvPicPr>
        <p:blipFill rotWithShape="1">
          <a:blip r:embed="rId4">
            <a:alphaModFix/>
          </a:blip>
          <a:srcRect/>
          <a:stretch/>
        </p:blipFill>
        <p:spPr>
          <a:xfrm>
            <a:off x="937220" y="1376759"/>
            <a:ext cx="215702" cy="215702"/>
          </a:xfrm>
          <a:prstGeom prst="rect">
            <a:avLst/>
          </a:prstGeom>
          <a:noFill/>
          <a:ln>
            <a:noFill/>
          </a:ln>
        </p:spPr>
      </p:pic>
      <p:sp>
        <p:nvSpPr>
          <p:cNvPr id="113" name="Google Shape;113;p17"/>
          <p:cNvSpPr/>
          <p:nvPr/>
        </p:nvSpPr>
        <p:spPr>
          <a:xfrm>
            <a:off x="805358" y="1884065"/>
            <a:ext cx="1598315" cy="199728"/>
          </a:xfrm>
          <a:prstGeom prst="rect">
            <a:avLst/>
          </a:prstGeom>
          <a:noFill/>
          <a:ln>
            <a:noFill/>
          </a:ln>
        </p:spPr>
        <p:txBody>
          <a:bodyPr spcFirstLastPara="1" wrap="square" lIns="0" tIns="0" rIns="0" bIns="0" anchor="t" anchorCtr="0">
            <a:noAutofit/>
          </a:bodyPr>
          <a:lstStyle/>
          <a:p>
            <a:pPr>
              <a:lnSpc>
                <a:spcPct val="123333"/>
              </a:lnSpc>
              <a:buClr>
                <a:srgbClr val="383838"/>
              </a:buClr>
              <a:buSzPts val="1500"/>
            </a:pPr>
            <a:r>
              <a:rPr lang="en-US" sz="1200" dirty="0">
                <a:solidFill>
                  <a:srgbClr val="383838"/>
                </a:solidFill>
                <a:latin typeface="Patrick Hand"/>
                <a:ea typeface="Patrick Hand"/>
                <a:cs typeface="Patrick Hand"/>
                <a:sym typeface="Patrick Hand"/>
              </a:rPr>
              <a:t>Central Tendency</a:t>
            </a:r>
            <a:endParaRPr sz="1200"/>
          </a:p>
        </p:txBody>
      </p:sp>
      <p:sp>
        <p:nvSpPr>
          <p:cNvPr id="114" name="Google Shape;114;p17"/>
          <p:cNvSpPr/>
          <p:nvPr/>
        </p:nvSpPr>
        <p:spPr>
          <a:xfrm>
            <a:off x="805359" y="2179637"/>
            <a:ext cx="2758678" cy="1022747"/>
          </a:xfrm>
          <a:prstGeom prst="rect">
            <a:avLst/>
          </a:prstGeom>
          <a:noFill/>
          <a:ln>
            <a:noFill/>
          </a:ln>
        </p:spPr>
        <p:txBody>
          <a:bodyPr spcFirstLastPara="1" wrap="square" lIns="0" tIns="0" rIns="0" bIns="0" anchor="t" anchorCtr="0">
            <a:noAutofit/>
          </a:bodyPr>
          <a:lstStyle/>
          <a:p>
            <a:pPr>
              <a:lnSpc>
                <a:spcPct val="160000"/>
              </a:lnSpc>
              <a:buClr>
                <a:srgbClr val="383838"/>
              </a:buClr>
              <a:buSzPts val="1500"/>
            </a:pPr>
            <a:r>
              <a:rPr lang="en-US" sz="1200" dirty="0">
                <a:solidFill>
                  <a:srgbClr val="383838"/>
                </a:solidFill>
                <a:latin typeface="Patrick Hand"/>
                <a:ea typeface="Patrick Hand"/>
                <a:cs typeface="Patrick Hand"/>
                <a:sym typeface="Patrick Hand"/>
              </a:rPr>
              <a:t>Mode identifies the most frequently occurring category in categorical data, serving as the sole measure of central tendency when mean and median cannot be applied.</a:t>
            </a:r>
            <a:endParaRPr sz="1200"/>
          </a:p>
        </p:txBody>
      </p:sp>
      <p:sp>
        <p:nvSpPr>
          <p:cNvPr id="115" name="Google Shape;115;p17"/>
          <p:cNvSpPr/>
          <p:nvPr/>
        </p:nvSpPr>
        <p:spPr>
          <a:xfrm>
            <a:off x="3889871" y="1078806"/>
            <a:ext cx="3090863" cy="2289671"/>
          </a:xfrm>
          <a:prstGeom prst="roundRect">
            <a:avLst>
              <a:gd name="adj" fmla="val 2932"/>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16" name="Google Shape;116;p17"/>
          <p:cNvSpPr/>
          <p:nvPr/>
        </p:nvSpPr>
        <p:spPr>
          <a:xfrm>
            <a:off x="4055963" y="1244898"/>
            <a:ext cx="479425" cy="479425"/>
          </a:xfrm>
          <a:prstGeom prst="roundRect">
            <a:avLst>
              <a:gd name="adj" fmla="val 15892450"/>
            </a:avLst>
          </a:prstGeom>
          <a:solidFill>
            <a:srgbClr val="CCCCCC"/>
          </a:solidFill>
          <a:ln>
            <a:noFill/>
          </a:ln>
        </p:spPr>
        <p:txBody>
          <a:bodyPr spcFirstLastPara="1" wrap="square" lIns="76184" tIns="76184" rIns="76184" bIns="76184" anchor="ctr" anchorCtr="0">
            <a:noAutofit/>
          </a:bodyPr>
          <a:lstStyle/>
          <a:p>
            <a:endParaRPr/>
          </a:p>
        </p:txBody>
      </p:sp>
      <p:pic>
        <p:nvPicPr>
          <p:cNvPr id="117" name="Google Shape;117;p17" descr="preencoded.png"/>
          <p:cNvPicPr preferRelativeResize="0"/>
          <p:nvPr/>
        </p:nvPicPr>
        <p:blipFill rotWithShape="1">
          <a:blip r:embed="rId5">
            <a:alphaModFix/>
          </a:blip>
          <a:srcRect/>
          <a:stretch/>
        </p:blipFill>
        <p:spPr>
          <a:xfrm>
            <a:off x="4187825" y="1376759"/>
            <a:ext cx="215702" cy="215702"/>
          </a:xfrm>
          <a:prstGeom prst="rect">
            <a:avLst/>
          </a:prstGeom>
          <a:noFill/>
          <a:ln>
            <a:noFill/>
          </a:ln>
        </p:spPr>
      </p:pic>
      <p:sp>
        <p:nvSpPr>
          <p:cNvPr id="118" name="Google Shape;118;p17"/>
          <p:cNvSpPr/>
          <p:nvPr/>
        </p:nvSpPr>
        <p:spPr>
          <a:xfrm>
            <a:off x="4055963" y="1884065"/>
            <a:ext cx="1598315" cy="199728"/>
          </a:xfrm>
          <a:prstGeom prst="rect">
            <a:avLst/>
          </a:prstGeom>
          <a:noFill/>
          <a:ln>
            <a:noFill/>
          </a:ln>
        </p:spPr>
        <p:txBody>
          <a:bodyPr spcFirstLastPara="1" wrap="square" lIns="0" tIns="0" rIns="0" bIns="0" anchor="t" anchorCtr="0">
            <a:noAutofit/>
          </a:bodyPr>
          <a:lstStyle/>
          <a:p>
            <a:pPr>
              <a:lnSpc>
                <a:spcPct val="123333"/>
              </a:lnSpc>
              <a:buClr>
                <a:srgbClr val="383838"/>
              </a:buClr>
              <a:buSzPts val="1500"/>
            </a:pPr>
            <a:r>
              <a:rPr lang="en-US" sz="1200" dirty="0">
                <a:solidFill>
                  <a:srgbClr val="383838"/>
                </a:solidFill>
                <a:latin typeface="Patrick Hand"/>
                <a:ea typeface="Patrick Hand"/>
                <a:cs typeface="Patrick Hand"/>
                <a:sym typeface="Patrick Hand"/>
              </a:rPr>
              <a:t>Cylinders Mode</a:t>
            </a:r>
            <a:endParaRPr sz="1200"/>
          </a:p>
        </p:txBody>
      </p:sp>
      <p:sp>
        <p:nvSpPr>
          <p:cNvPr id="119" name="Google Shape;119;p17"/>
          <p:cNvSpPr/>
          <p:nvPr/>
        </p:nvSpPr>
        <p:spPr>
          <a:xfrm>
            <a:off x="4055964" y="2179637"/>
            <a:ext cx="2758678" cy="1022747"/>
          </a:xfrm>
          <a:prstGeom prst="rect">
            <a:avLst/>
          </a:prstGeom>
          <a:noFill/>
          <a:ln>
            <a:noFill/>
          </a:ln>
        </p:spPr>
        <p:txBody>
          <a:bodyPr spcFirstLastPara="1" wrap="square" lIns="0" tIns="0" rIns="0" bIns="0" anchor="t" anchorCtr="0">
            <a:noAutofit/>
          </a:bodyPr>
          <a:lstStyle/>
          <a:p>
            <a:pPr>
              <a:lnSpc>
                <a:spcPct val="160000"/>
              </a:lnSpc>
              <a:buClr>
                <a:srgbClr val="383838"/>
              </a:buClr>
              <a:buSzPts val="1500"/>
            </a:pPr>
            <a:r>
              <a:rPr lang="en-US" sz="1200" dirty="0">
                <a:solidFill>
                  <a:srgbClr val="383838"/>
                </a:solidFill>
                <a:latin typeface="Patrick Hand"/>
                <a:ea typeface="Patrick Hand"/>
                <a:cs typeface="Patrick Hand"/>
                <a:sym typeface="Patrick Hand"/>
              </a:rPr>
              <a:t>For the cylinders attribute, the mode is 4, appearing in over 50% of data elements, indicating the most common engine configuration.</a:t>
            </a:r>
            <a:endParaRPr sz="1200"/>
          </a:p>
        </p:txBody>
      </p:sp>
      <p:sp>
        <p:nvSpPr>
          <p:cNvPr id="120" name="Google Shape;120;p17"/>
          <p:cNvSpPr/>
          <p:nvPr/>
        </p:nvSpPr>
        <p:spPr>
          <a:xfrm>
            <a:off x="639267" y="3528219"/>
            <a:ext cx="6341468" cy="1778298"/>
          </a:xfrm>
          <a:prstGeom prst="roundRect">
            <a:avLst>
              <a:gd name="adj" fmla="val 3775"/>
            </a:avLst>
          </a:prstGeom>
          <a:solidFill>
            <a:srgbClr val="E6E6E6"/>
          </a:solidFill>
          <a:ln w="9525"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21" name="Google Shape;121;p17"/>
          <p:cNvSpPr/>
          <p:nvPr/>
        </p:nvSpPr>
        <p:spPr>
          <a:xfrm>
            <a:off x="805358" y="3694311"/>
            <a:ext cx="479425" cy="479425"/>
          </a:xfrm>
          <a:prstGeom prst="roundRect">
            <a:avLst>
              <a:gd name="adj" fmla="val 15892450"/>
            </a:avLst>
          </a:prstGeom>
          <a:solidFill>
            <a:srgbClr val="CCCCCC"/>
          </a:solidFill>
          <a:ln>
            <a:noFill/>
          </a:ln>
        </p:spPr>
        <p:txBody>
          <a:bodyPr spcFirstLastPara="1" wrap="square" lIns="76184" tIns="76184" rIns="76184" bIns="76184" anchor="ctr" anchorCtr="0">
            <a:noAutofit/>
          </a:bodyPr>
          <a:lstStyle/>
          <a:p>
            <a:endParaRPr/>
          </a:p>
        </p:txBody>
      </p:sp>
      <p:pic>
        <p:nvPicPr>
          <p:cNvPr id="122" name="Google Shape;122;p17" descr="preencoded.png"/>
          <p:cNvPicPr preferRelativeResize="0"/>
          <p:nvPr/>
        </p:nvPicPr>
        <p:blipFill rotWithShape="1">
          <a:blip r:embed="rId6">
            <a:alphaModFix/>
          </a:blip>
          <a:srcRect/>
          <a:stretch/>
        </p:blipFill>
        <p:spPr>
          <a:xfrm>
            <a:off x="937220" y="3826172"/>
            <a:ext cx="215702" cy="215702"/>
          </a:xfrm>
          <a:prstGeom prst="rect">
            <a:avLst/>
          </a:prstGeom>
          <a:noFill/>
          <a:ln>
            <a:noFill/>
          </a:ln>
        </p:spPr>
      </p:pic>
      <p:sp>
        <p:nvSpPr>
          <p:cNvPr id="123" name="Google Shape;123;p17"/>
          <p:cNvSpPr/>
          <p:nvPr/>
        </p:nvSpPr>
        <p:spPr>
          <a:xfrm>
            <a:off x="805358" y="4333479"/>
            <a:ext cx="1598315" cy="199728"/>
          </a:xfrm>
          <a:prstGeom prst="rect">
            <a:avLst/>
          </a:prstGeom>
          <a:noFill/>
          <a:ln>
            <a:noFill/>
          </a:ln>
        </p:spPr>
        <p:txBody>
          <a:bodyPr spcFirstLastPara="1" wrap="square" lIns="0" tIns="0" rIns="0" bIns="0" anchor="t" anchorCtr="0">
            <a:noAutofit/>
          </a:bodyPr>
          <a:lstStyle/>
          <a:p>
            <a:pPr>
              <a:lnSpc>
                <a:spcPct val="123333"/>
              </a:lnSpc>
              <a:buClr>
                <a:srgbClr val="383838"/>
              </a:buClr>
              <a:buSzPts val="1500"/>
            </a:pPr>
            <a:r>
              <a:rPr lang="en-US" sz="1200" dirty="0">
                <a:solidFill>
                  <a:srgbClr val="383838"/>
                </a:solidFill>
                <a:latin typeface="Patrick Hand"/>
                <a:ea typeface="Patrick Hand"/>
                <a:cs typeface="Patrick Hand"/>
                <a:sym typeface="Patrick Hand"/>
              </a:rPr>
              <a:t>Car Name Mode</a:t>
            </a:r>
            <a:endParaRPr sz="1200"/>
          </a:p>
        </p:txBody>
      </p:sp>
      <p:sp>
        <p:nvSpPr>
          <p:cNvPr id="124" name="Google Shape;124;p17"/>
          <p:cNvSpPr/>
          <p:nvPr/>
        </p:nvSpPr>
        <p:spPr>
          <a:xfrm>
            <a:off x="805359" y="4629051"/>
            <a:ext cx="6009283" cy="511373"/>
          </a:xfrm>
          <a:prstGeom prst="rect">
            <a:avLst/>
          </a:prstGeom>
          <a:noFill/>
          <a:ln>
            <a:noFill/>
          </a:ln>
        </p:spPr>
        <p:txBody>
          <a:bodyPr spcFirstLastPara="1" wrap="square" lIns="0" tIns="0" rIns="0" bIns="0" anchor="t" anchorCtr="0">
            <a:noAutofit/>
          </a:bodyPr>
          <a:lstStyle/>
          <a:p>
            <a:pPr>
              <a:lnSpc>
                <a:spcPct val="160000"/>
              </a:lnSpc>
              <a:buClr>
                <a:srgbClr val="383838"/>
              </a:buClr>
              <a:buSzPts val="1500"/>
            </a:pPr>
            <a:r>
              <a:rPr lang="en-US" sz="1200" dirty="0">
                <a:solidFill>
                  <a:srgbClr val="383838"/>
                </a:solidFill>
                <a:latin typeface="Patrick Hand"/>
                <a:ea typeface="Patrick Hand"/>
                <a:cs typeface="Patrick Hand"/>
                <a:sym typeface="Patrick Hand"/>
              </a:rPr>
              <a:t>The 'Ford Pinto' emerges as the mode for car names with the highest frequency of 6 occurrences in the dataset.</a:t>
            </a:r>
            <a:endParaRPr sz="1200"/>
          </a:p>
        </p:txBody>
      </p:sp>
      <p:sp>
        <p:nvSpPr>
          <p:cNvPr id="125" name="Google Shape;125;p17"/>
          <p:cNvSpPr/>
          <p:nvPr/>
        </p:nvSpPr>
        <p:spPr>
          <a:xfrm>
            <a:off x="639267" y="5486301"/>
            <a:ext cx="6341468" cy="934641"/>
          </a:xfrm>
          <a:prstGeom prst="roundRect">
            <a:avLst>
              <a:gd name="adj" fmla="val 7183"/>
            </a:avLst>
          </a:prstGeom>
          <a:solidFill>
            <a:srgbClr val="D9D9D9"/>
          </a:solidFill>
          <a:ln>
            <a:noFill/>
          </a:ln>
        </p:spPr>
        <p:txBody>
          <a:bodyPr spcFirstLastPara="1" wrap="square" lIns="76184" tIns="76184" rIns="76184" bIns="76184" anchor="ctr" anchorCtr="0">
            <a:noAutofit/>
          </a:bodyPr>
          <a:lstStyle/>
          <a:p>
            <a:endParaRPr/>
          </a:p>
        </p:txBody>
      </p:sp>
      <p:pic>
        <p:nvPicPr>
          <p:cNvPr id="126" name="Google Shape;126;p17" descr="preencoded.png"/>
          <p:cNvPicPr preferRelativeResize="0"/>
          <p:nvPr/>
        </p:nvPicPr>
        <p:blipFill rotWithShape="1">
          <a:blip r:embed="rId7">
            <a:alphaModFix/>
          </a:blip>
          <a:srcRect/>
          <a:stretch/>
        </p:blipFill>
        <p:spPr>
          <a:xfrm>
            <a:off x="799009" y="5730280"/>
            <a:ext cx="199728" cy="159743"/>
          </a:xfrm>
          <a:prstGeom prst="rect">
            <a:avLst/>
          </a:prstGeom>
          <a:noFill/>
          <a:ln>
            <a:noFill/>
          </a:ln>
        </p:spPr>
      </p:pic>
      <p:sp>
        <p:nvSpPr>
          <p:cNvPr id="127" name="Google Shape;127;p17"/>
          <p:cNvSpPr/>
          <p:nvPr/>
        </p:nvSpPr>
        <p:spPr>
          <a:xfrm>
            <a:off x="1158478" y="5685929"/>
            <a:ext cx="5662513" cy="511373"/>
          </a:xfrm>
          <a:prstGeom prst="rect">
            <a:avLst/>
          </a:prstGeom>
          <a:noFill/>
          <a:ln>
            <a:noFill/>
          </a:ln>
        </p:spPr>
        <p:txBody>
          <a:bodyPr spcFirstLastPara="1" wrap="square" lIns="0" tIns="0" rIns="0" bIns="0" anchor="t" anchorCtr="0">
            <a:noAutofit/>
          </a:bodyPr>
          <a:lstStyle/>
          <a:p>
            <a:pPr>
              <a:lnSpc>
                <a:spcPct val="160000"/>
              </a:lnSpc>
              <a:buClr>
                <a:srgbClr val="000000"/>
              </a:buClr>
              <a:buSzPts val="1500"/>
            </a:pPr>
            <a:r>
              <a:rPr lang="en-US" sz="1200" b="1" dirty="0">
                <a:solidFill>
                  <a:srgbClr val="000000"/>
                </a:solidFill>
                <a:latin typeface="Patrick Hand"/>
                <a:ea typeface="Patrick Hand"/>
                <a:cs typeface="Patrick Hand"/>
                <a:sym typeface="Patrick Hand"/>
              </a:rPr>
              <a:t>Modal Distribution Types:</a:t>
            </a:r>
            <a:r>
              <a:rPr lang="en-US" sz="1200" dirty="0">
                <a:solidFill>
                  <a:srgbClr val="000000"/>
                </a:solidFill>
                <a:latin typeface="Patrick Hand"/>
                <a:ea typeface="Patrick Hand"/>
                <a:cs typeface="Patrick Hand"/>
                <a:sym typeface="Patrick Hand"/>
              </a:rPr>
              <a:t> Unimodal (single mode), bimodal (two modes), and multimodal (multiple modes) describe the frequency patterns in categorical data.</a:t>
            </a:r>
            <a:endParaRPr sz="1200"/>
          </a:p>
        </p:txBody>
      </p:sp>
      <p:pic>
        <p:nvPicPr>
          <p:cNvPr id="2" name="Picture 2" descr="MAPS &amp; DIRECTIONS - Best Private University in Telangana &amp; Andhra Pradesh | KLH  Hyderabad">
            <a:extLst>
              <a:ext uri="{FF2B5EF4-FFF2-40B4-BE49-F238E27FC236}">
                <a16:creationId xmlns:a16="http://schemas.microsoft.com/office/drawing/2014/main" id="{9BF3FF91-F4B5-71C8-B294-1840A3FF6B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p:nvPr/>
        </p:nvSpPr>
        <p:spPr>
          <a:xfrm>
            <a:off x="2095003" y="337091"/>
            <a:ext cx="7284523" cy="356890"/>
          </a:xfrm>
          <a:prstGeom prst="rect">
            <a:avLst/>
          </a:prstGeom>
          <a:noFill/>
          <a:ln>
            <a:noFill/>
          </a:ln>
        </p:spPr>
        <p:txBody>
          <a:bodyPr spcFirstLastPara="1" wrap="square" lIns="0" tIns="0" rIns="0" bIns="0" anchor="t" anchorCtr="0">
            <a:noAutofit/>
          </a:bodyPr>
          <a:lstStyle/>
          <a:p>
            <a:pPr algn="ctr">
              <a:lnSpc>
                <a:spcPct val="126415"/>
              </a:lnSpc>
              <a:buClr>
                <a:srgbClr val="383838"/>
              </a:buClr>
              <a:buSzPts val="2650"/>
            </a:pPr>
            <a:r>
              <a:rPr lang="en-US" sz="2200" dirty="0">
                <a:solidFill>
                  <a:srgbClr val="383838"/>
                </a:solidFill>
                <a:latin typeface="Patrick Hand"/>
                <a:ea typeface="Patrick Hand"/>
                <a:cs typeface="Patrick Hand"/>
                <a:sym typeface="Patrick Hand"/>
              </a:rPr>
              <a:t>Scatter Plots: Visualizing Relationships</a:t>
            </a:r>
            <a:endParaRPr sz="2200"/>
          </a:p>
        </p:txBody>
      </p:sp>
      <p:sp>
        <p:nvSpPr>
          <p:cNvPr id="134" name="Google Shape;134;p18"/>
          <p:cNvSpPr/>
          <p:nvPr/>
        </p:nvSpPr>
        <p:spPr>
          <a:xfrm>
            <a:off x="474753" y="607540"/>
            <a:ext cx="3322123" cy="237701"/>
          </a:xfrm>
          <a:prstGeom prst="rect">
            <a:avLst/>
          </a:prstGeom>
          <a:noFill/>
          <a:ln>
            <a:noFill/>
          </a:ln>
        </p:spPr>
        <p:txBody>
          <a:bodyPr spcFirstLastPara="1" wrap="square" lIns="0" tIns="0" rIns="0" bIns="0" anchor="t" anchorCtr="0">
            <a:noAutofit/>
          </a:bodyPr>
          <a:lstStyle/>
          <a:p>
            <a:pPr>
              <a:lnSpc>
                <a:spcPct val="126923"/>
              </a:lnSpc>
              <a:buClr>
                <a:srgbClr val="383838"/>
              </a:buClr>
              <a:buSzPts val="1300"/>
            </a:pPr>
            <a:r>
              <a:rPr lang="en-US" sz="2000" b="1" dirty="0">
                <a:solidFill>
                  <a:srgbClr val="383838"/>
                </a:solidFill>
                <a:latin typeface="Patrick Hand"/>
                <a:ea typeface="Patrick Hand"/>
                <a:cs typeface="Patrick Hand"/>
                <a:sym typeface="Patrick Hand"/>
              </a:rPr>
              <a:t>Bivariate Analysis</a:t>
            </a:r>
            <a:endParaRPr sz="2000" b="1" dirty="0"/>
          </a:p>
        </p:txBody>
      </p:sp>
      <p:sp>
        <p:nvSpPr>
          <p:cNvPr id="135" name="Google Shape;135;p18"/>
          <p:cNvSpPr/>
          <p:nvPr/>
        </p:nvSpPr>
        <p:spPr>
          <a:xfrm>
            <a:off x="474753" y="999934"/>
            <a:ext cx="5524996" cy="3340681"/>
          </a:xfrm>
          <a:prstGeom prst="rect">
            <a:avLst/>
          </a:prstGeom>
          <a:noFill/>
          <a:ln>
            <a:noFill/>
          </a:ln>
        </p:spPr>
        <p:txBody>
          <a:bodyPr spcFirstLastPara="1" wrap="square" lIns="0" tIns="0" rIns="0" bIns="0" anchor="t" anchorCtr="0">
            <a:noAutofit/>
          </a:bodyPr>
          <a:lstStyle/>
          <a:p>
            <a:pPr algn="just">
              <a:lnSpc>
                <a:spcPct val="165384"/>
              </a:lnSpc>
              <a:buClr>
                <a:srgbClr val="383838"/>
              </a:buClr>
              <a:buSzPts val="1300"/>
            </a:pPr>
            <a:r>
              <a:rPr lang="en-US" sz="2000" dirty="0">
                <a:solidFill>
                  <a:srgbClr val="383838"/>
                </a:solidFill>
                <a:latin typeface="Patrick Hand"/>
                <a:ea typeface="Patrick Hand"/>
                <a:cs typeface="Patrick Hand"/>
                <a:sym typeface="Patrick Hand"/>
              </a:rPr>
              <a:t>Scatter plots reveal relationships between two variables by plotting points on coordinates defined by attribute values. </a:t>
            </a:r>
            <a:r>
              <a:rPr lang="en-US" sz="2000" dirty="0">
                <a:solidFill>
                  <a:srgbClr val="383838"/>
                </a:solidFill>
                <a:latin typeface="Patrick Hand"/>
              </a:rPr>
              <a:t>It is a two-dimensional plot in which points or dots are drawn on coordinates provided by values of the attributes. </a:t>
            </a:r>
            <a:r>
              <a:rPr lang="en-US" sz="2000" dirty="0">
                <a:solidFill>
                  <a:srgbClr val="383838"/>
                </a:solidFill>
                <a:latin typeface="Patrick Hand"/>
                <a:ea typeface="Patrick Hand"/>
                <a:cs typeface="Patrick Hand"/>
                <a:sym typeface="Patrick Hand"/>
              </a:rPr>
              <a:t>The independent variable maps to the x-axis, while the dependent variable maps to the y-axis.</a:t>
            </a:r>
            <a:endParaRPr sz="2000" dirty="0"/>
          </a:p>
        </p:txBody>
      </p:sp>
      <p:sp>
        <p:nvSpPr>
          <p:cNvPr id="136" name="Google Shape;136;p18"/>
          <p:cNvSpPr/>
          <p:nvPr/>
        </p:nvSpPr>
        <p:spPr>
          <a:xfrm>
            <a:off x="420087" y="3907934"/>
            <a:ext cx="5634327" cy="2061688"/>
          </a:xfrm>
          <a:prstGeom prst="rect">
            <a:avLst/>
          </a:prstGeom>
          <a:noFill/>
          <a:ln>
            <a:noFill/>
          </a:ln>
        </p:spPr>
        <p:txBody>
          <a:bodyPr spcFirstLastPara="1" wrap="square" lIns="0" tIns="0" rIns="0" bIns="0" anchor="t" anchorCtr="0">
            <a:noAutofit/>
          </a:bodyPr>
          <a:lstStyle/>
          <a:p>
            <a:pPr algn="just">
              <a:lnSpc>
                <a:spcPct val="165384"/>
              </a:lnSpc>
              <a:buClr>
                <a:srgbClr val="383838"/>
              </a:buClr>
              <a:buSzPts val="1300"/>
            </a:pPr>
            <a:r>
              <a:rPr lang="en-US" sz="2000" dirty="0">
                <a:solidFill>
                  <a:srgbClr val="383838"/>
                </a:solidFill>
                <a:latin typeface="Patrick Hand"/>
                <a:ea typeface="Patrick Hand"/>
                <a:cs typeface="Patrick Hand"/>
                <a:sym typeface="Patrick Hand"/>
              </a:rPr>
              <a:t>This visualization technique helps identify correlations, trends, and outliers in the data, providing immediate visual insight into how variables interact.</a:t>
            </a:r>
            <a:endParaRPr sz="2000" dirty="0"/>
          </a:p>
        </p:txBody>
      </p:sp>
      <p:pic>
        <p:nvPicPr>
          <p:cNvPr id="137" name="Google Shape;137;p18" descr="preencoded.png"/>
          <p:cNvPicPr preferRelativeResize="0"/>
          <p:nvPr/>
        </p:nvPicPr>
        <p:blipFill rotWithShape="1">
          <a:blip r:embed="rId3" cstate="print">
            <a:alphaModFix/>
          </a:blip>
          <a:srcRect/>
          <a:stretch/>
        </p:blipFill>
        <p:spPr>
          <a:xfrm>
            <a:off x="6539455" y="817977"/>
            <a:ext cx="5030706" cy="4756833"/>
          </a:xfrm>
          <a:prstGeom prst="rect">
            <a:avLst/>
          </a:prstGeom>
          <a:noFill/>
          <a:ln>
            <a:noFill/>
          </a:ln>
        </p:spPr>
      </p:pic>
      <p:sp>
        <p:nvSpPr>
          <p:cNvPr id="138" name="Google Shape;138;p18"/>
          <p:cNvSpPr/>
          <p:nvPr/>
        </p:nvSpPr>
        <p:spPr>
          <a:xfrm>
            <a:off x="571004" y="6868021"/>
            <a:ext cx="11049993" cy="456803"/>
          </a:xfrm>
          <a:prstGeom prst="rect">
            <a:avLst/>
          </a:prstGeom>
          <a:noFill/>
          <a:ln>
            <a:noFill/>
          </a:ln>
        </p:spPr>
        <p:txBody>
          <a:bodyPr spcFirstLastPara="1" wrap="square" lIns="0" tIns="0" rIns="0" bIns="0" anchor="t" anchorCtr="0">
            <a:noAutofit/>
          </a:bodyPr>
          <a:lstStyle/>
          <a:p>
            <a:pPr>
              <a:lnSpc>
                <a:spcPct val="165384"/>
              </a:lnSpc>
              <a:buClr>
                <a:srgbClr val="383838"/>
              </a:buClr>
              <a:buSzPts val="1300"/>
            </a:pPr>
            <a:r>
              <a:rPr lang="en-US" sz="1100" dirty="0">
                <a:solidFill>
                  <a:srgbClr val="383838"/>
                </a:solidFill>
                <a:latin typeface="Patrick Hand"/>
                <a:ea typeface="Patrick Hand"/>
                <a:cs typeface="Patrick Hand"/>
                <a:sym typeface="Patrick Hand"/>
              </a:rPr>
              <a:t>The scatter plot of displacement versus MPG demonstrates a clear negative correlation: as displacement increases, MPG steadily decreases. Notable outliers appear, such as a vehicle with 37 MPG at 250 displacement—significantly different from similar displacement values showing 15-25 MPG.</a:t>
            </a:r>
            <a:endParaRPr sz="1100"/>
          </a:p>
        </p:txBody>
      </p:sp>
      <p:pic>
        <p:nvPicPr>
          <p:cNvPr id="2" name="Picture 2" descr="MAPS &amp; DIRECTIONS - Best Private University in Telangana &amp; Andhra Pradesh | KLH  Hyderabad">
            <a:extLst>
              <a:ext uri="{FF2B5EF4-FFF2-40B4-BE49-F238E27FC236}">
                <a16:creationId xmlns:a16="http://schemas.microsoft.com/office/drawing/2014/main" id="{A876408F-2732-91EE-23E9-A6058012B7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3C947B-6269-6B9B-15CC-1EF194A3DEB6}"/>
              </a:ext>
            </a:extLst>
          </p:cNvPr>
          <p:cNvSpPr txBox="1"/>
          <p:nvPr/>
        </p:nvSpPr>
        <p:spPr>
          <a:xfrm>
            <a:off x="420088" y="5698806"/>
            <a:ext cx="11351826" cy="923330"/>
          </a:xfrm>
          <a:prstGeom prst="rect">
            <a:avLst/>
          </a:prstGeom>
          <a:noFill/>
        </p:spPr>
        <p:txBody>
          <a:bodyPr wrap="square">
            <a:spAutoFit/>
          </a:bodyPr>
          <a:lstStyle/>
          <a:p>
            <a:r>
              <a:rPr lang="en-US" dirty="0"/>
              <a:t>Eg: There is one data element which has a mpg of 37 for a displacement of 250. This record is completely different from other data elements having similar displacement value but mpg value in the range of 15 to 25. This gives an indication that of presence of outlier data values.</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19" descr="preencoded.png"/>
          <p:cNvPicPr preferRelativeResize="0"/>
          <p:nvPr/>
        </p:nvPicPr>
        <p:blipFill rotWithShape="1">
          <a:blip r:embed="rId3">
            <a:alphaModFix/>
          </a:blip>
          <a:srcRect/>
          <a:stretch/>
        </p:blipFill>
        <p:spPr>
          <a:xfrm>
            <a:off x="457200" y="662407"/>
            <a:ext cx="11069781" cy="2280462"/>
          </a:xfrm>
          <a:prstGeom prst="rect">
            <a:avLst/>
          </a:prstGeom>
          <a:noFill/>
          <a:ln>
            <a:noFill/>
          </a:ln>
        </p:spPr>
      </p:pic>
      <p:sp>
        <p:nvSpPr>
          <p:cNvPr id="145" name="Google Shape;145;p19"/>
          <p:cNvSpPr/>
          <p:nvPr/>
        </p:nvSpPr>
        <p:spPr>
          <a:xfrm>
            <a:off x="0" y="3036241"/>
            <a:ext cx="7730837" cy="503138"/>
          </a:xfrm>
          <a:prstGeom prst="rect">
            <a:avLst/>
          </a:prstGeom>
          <a:noFill/>
          <a:ln>
            <a:noFill/>
          </a:ln>
        </p:spPr>
        <p:txBody>
          <a:bodyPr spcFirstLastPara="1" wrap="square" lIns="0" tIns="0" rIns="0" bIns="0" anchor="t" anchorCtr="0">
            <a:noAutofit/>
          </a:bodyPr>
          <a:lstStyle/>
          <a:p>
            <a:pPr algn="ctr">
              <a:lnSpc>
                <a:spcPct val="125000"/>
              </a:lnSpc>
              <a:buClr>
                <a:srgbClr val="383838"/>
              </a:buClr>
              <a:buSzPts val="3800"/>
            </a:pPr>
            <a:r>
              <a:rPr lang="en-US" sz="3200" dirty="0">
                <a:solidFill>
                  <a:srgbClr val="383838"/>
                </a:solidFill>
                <a:latin typeface="Patrick Hand"/>
                <a:ea typeface="Patrick Hand"/>
                <a:cs typeface="Patrick Hand"/>
                <a:sym typeface="Patrick Hand"/>
              </a:rPr>
              <a:t>Comprehensive Pairwise Relationships</a:t>
            </a:r>
            <a:endParaRPr sz="3200" dirty="0"/>
          </a:p>
        </p:txBody>
      </p:sp>
      <p:sp>
        <p:nvSpPr>
          <p:cNvPr id="146" name="Google Shape;146;p19"/>
          <p:cNvSpPr/>
          <p:nvPr/>
        </p:nvSpPr>
        <p:spPr>
          <a:xfrm>
            <a:off x="733362" y="3700165"/>
            <a:ext cx="10581878" cy="64412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The pairwise scatter plot matrix captures relationships among five key features: MPG, displacement, horsepower, weight, and acceleration. This comprehensive view reveals varying degrees of correlation across different attribute combinations.</a:t>
            </a:r>
            <a:endParaRPr sz="1600" dirty="0"/>
          </a:p>
        </p:txBody>
      </p:sp>
      <p:sp>
        <p:nvSpPr>
          <p:cNvPr id="147" name="Google Shape;147;p19"/>
          <p:cNvSpPr/>
          <p:nvPr/>
        </p:nvSpPr>
        <p:spPr>
          <a:xfrm>
            <a:off x="763498" y="4870225"/>
            <a:ext cx="10581878" cy="644128"/>
          </a:xfrm>
          <a:prstGeom prst="rect">
            <a:avLst/>
          </a:prstGeom>
          <a:noFill/>
          <a:ln>
            <a:noFill/>
          </a:ln>
        </p:spPr>
        <p:txBody>
          <a:bodyPr spcFirstLastPara="1" wrap="square" lIns="0" tIns="0" rIns="0" bIns="0" anchor="t" anchorCtr="0">
            <a:noAutofit/>
          </a:bodyPr>
          <a:lstStyle/>
          <a:p>
            <a:pPr>
              <a:lnSpc>
                <a:spcPct val="157894"/>
              </a:lnSpc>
              <a:buClr>
                <a:srgbClr val="383838"/>
              </a:buClr>
              <a:buSzPts val="1900"/>
            </a:pPr>
            <a:r>
              <a:rPr lang="en-US" sz="1600" dirty="0">
                <a:solidFill>
                  <a:srgbClr val="383838"/>
                </a:solidFill>
                <a:latin typeface="Patrick Hand"/>
                <a:ea typeface="Patrick Hand"/>
                <a:cs typeface="Patrick Hand"/>
                <a:sym typeface="Patrick Hand"/>
              </a:rPr>
              <a:t>Most attribute pairs show significant relationships, though some—like weight versus acceleration—exhibit weaker correlations. This matrix approach enables simultaneous comparison of multiple variable interactions, accelerating pattern discovery.</a:t>
            </a:r>
            <a:endParaRPr sz="1600" dirty="0"/>
          </a:p>
        </p:txBody>
      </p:sp>
      <p:pic>
        <p:nvPicPr>
          <p:cNvPr id="2" name="Picture 2" descr="MAPS &amp; DIRECTIONS - Best Private University in Telangana &amp; Andhra Pradesh | KLH  Hyderabad">
            <a:extLst>
              <a:ext uri="{FF2B5EF4-FFF2-40B4-BE49-F238E27FC236}">
                <a16:creationId xmlns:a16="http://schemas.microsoft.com/office/drawing/2014/main" id="{69DF1213-31CE-9A6C-D40E-404A98EE5D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8482" y="-416953"/>
            <a:ext cx="1753517" cy="13033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20"/>
          <p:cNvSpPr/>
          <p:nvPr/>
        </p:nvSpPr>
        <p:spPr>
          <a:xfrm>
            <a:off x="745033" y="747614"/>
            <a:ext cx="6237657" cy="402313"/>
          </a:xfrm>
          <a:prstGeom prst="rect">
            <a:avLst/>
          </a:prstGeom>
          <a:noFill/>
          <a:ln>
            <a:noFill/>
          </a:ln>
        </p:spPr>
        <p:txBody>
          <a:bodyPr spcFirstLastPara="1" wrap="square" lIns="0" tIns="0" rIns="0" bIns="0" anchor="t" anchorCtr="0">
            <a:noAutofit/>
          </a:bodyPr>
          <a:lstStyle/>
          <a:p>
            <a:pPr>
              <a:lnSpc>
                <a:spcPct val="125714"/>
              </a:lnSpc>
              <a:buClr>
                <a:srgbClr val="383838"/>
              </a:buClr>
              <a:buSzPts val="3500"/>
            </a:pPr>
            <a:r>
              <a:rPr lang="en-US" sz="2400" dirty="0">
                <a:solidFill>
                  <a:srgbClr val="383838"/>
                </a:solidFill>
                <a:latin typeface="Patrick Hand"/>
                <a:ea typeface="Patrick Hand"/>
                <a:cs typeface="Patrick Hand"/>
                <a:sym typeface="Patrick Hand"/>
              </a:rPr>
              <a:t>Cross-Tabulations: Categorical Relationships</a:t>
            </a:r>
            <a:endParaRPr sz="2400"/>
          </a:p>
        </p:txBody>
      </p:sp>
      <p:sp>
        <p:nvSpPr>
          <p:cNvPr id="156" name="Google Shape;156;p20"/>
          <p:cNvSpPr/>
          <p:nvPr/>
        </p:nvSpPr>
        <p:spPr>
          <a:xfrm>
            <a:off x="745033" y="1783755"/>
            <a:ext cx="2971800" cy="25400"/>
          </a:xfrm>
          <a:prstGeom prst="rect">
            <a:avLst/>
          </a:prstGeom>
          <a:solidFill>
            <a:srgbClr val="CCCCCC"/>
          </a:solidFill>
          <a:ln>
            <a:noFill/>
          </a:ln>
        </p:spPr>
        <p:txBody>
          <a:bodyPr spcFirstLastPara="1" wrap="square" lIns="76184" tIns="76184" rIns="76184" bIns="76184" anchor="ctr" anchorCtr="0">
            <a:noAutofit/>
          </a:bodyPr>
          <a:lstStyle/>
          <a:p>
            <a:endParaRPr/>
          </a:p>
        </p:txBody>
      </p:sp>
      <p:sp>
        <p:nvSpPr>
          <p:cNvPr id="157" name="Google Shape;157;p20"/>
          <p:cNvSpPr/>
          <p:nvPr/>
        </p:nvSpPr>
        <p:spPr>
          <a:xfrm>
            <a:off x="745034" y="1927622"/>
            <a:ext cx="2566202" cy="219833"/>
          </a:xfrm>
          <a:prstGeom prst="rect">
            <a:avLst/>
          </a:prstGeom>
          <a:noFill/>
          <a:ln>
            <a:noFill/>
          </a:ln>
        </p:spPr>
        <p:txBody>
          <a:bodyPr spcFirstLastPara="1" wrap="square" lIns="0" tIns="0" rIns="0" bIns="0" anchor="t" anchorCtr="0">
            <a:noAutofit/>
          </a:bodyPr>
          <a:lstStyle/>
          <a:p>
            <a:pPr>
              <a:lnSpc>
                <a:spcPct val="125714"/>
              </a:lnSpc>
              <a:buClr>
                <a:srgbClr val="383838"/>
              </a:buClr>
              <a:buSzPts val="1750"/>
            </a:pPr>
            <a:r>
              <a:rPr lang="en-US" sz="1500" b="1" dirty="0">
                <a:solidFill>
                  <a:srgbClr val="383838"/>
                </a:solidFill>
                <a:latin typeface="Patrick Hand"/>
                <a:ea typeface="Patrick Hand"/>
                <a:cs typeface="Patrick Hand"/>
                <a:sym typeface="Patrick Hand"/>
              </a:rPr>
              <a:t>Model Year vs. Origin</a:t>
            </a:r>
            <a:endParaRPr sz="1500" b="1"/>
          </a:p>
        </p:txBody>
      </p:sp>
      <p:sp>
        <p:nvSpPr>
          <p:cNvPr id="158" name="Google Shape;158;p20"/>
          <p:cNvSpPr/>
          <p:nvPr/>
        </p:nvSpPr>
        <p:spPr>
          <a:xfrm>
            <a:off x="745033" y="2272110"/>
            <a:ext cx="2971800" cy="1191816"/>
          </a:xfrm>
          <a:prstGeom prst="rect">
            <a:avLst/>
          </a:prstGeom>
          <a:noFill/>
          <a:ln>
            <a:noFill/>
          </a:ln>
        </p:spPr>
        <p:txBody>
          <a:bodyPr spcFirstLastPara="1" wrap="square" lIns="0" tIns="0" rIns="0" bIns="0" anchor="t" anchorCtr="0">
            <a:noAutofit/>
          </a:bodyPr>
          <a:lstStyle/>
          <a:p>
            <a:pPr>
              <a:lnSpc>
                <a:spcPct val="160000"/>
              </a:lnSpc>
              <a:buClr>
                <a:srgbClr val="383838"/>
              </a:buClr>
              <a:buSzPts val="1750"/>
            </a:pPr>
            <a:r>
              <a:rPr lang="en-US" sz="1500" dirty="0">
                <a:solidFill>
                  <a:srgbClr val="383838"/>
                </a:solidFill>
                <a:latin typeface="Patrick Hand"/>
                <a:ea typeface="Patrick Hand"/>
                <a:cs typeface="Patrick Hand"/>
                <a:sym typeface="Patrick Hand"/>
              </a:rPr>
              <a:t>Shows vehicle distribution across North America, Europe, and Asia over different years, revealing regional production patterns and market trends.</a:t>
            </a:r>
            <a:endParaRPr sz="1500"/>
          </a:p>
        </p:txBody>
      </p:sp>
      <p:sp>
        <p:nvSpPr>
          <p:cNvPr id="160" name="Google Shape;160;p20"/>
          <p:cNvSpPr/>
          <p:nvPr/>
        </p:nvSpPr>
        <p:spPr>
          <a:xfrm>
            <a:off x="3903068" y="1783755"/>
            <a:ext cx="2971899" cy="25400"/>
          </a:xfrm>
          <a:prstGeom prst="rect">
            <a:avLst/>
          </a:prstGeom>
          <a:solidFill>
            <a:srgbClr val="CCCCCC"/>
          </a:solidFill>
          <a:ln>
            <a:noFill/>
          </a:ln>
        </p:spPr>
        <p:txBody>
          <a:bodyPr spcFirstLastPara="1" wrap="square" lIns="76184" tIns="76184" rIns="76184" bIns="76184" anchor="ctr" anchorCtr="0">
            <a:noAutofit/>
          </a:bodyPr>
          <a:lstStyle/>
          <a:p>
            <a:endParaRPr/>
          </a:p>
        </p:txBody>
      </p:sp>
      <p:sp>
        <p:nvSpPr>
          <p:cNvPr id="161" name="Google Shape;161;p20"/>
          <p:cNvSpPr/>
          <p:nvPr/>
        </p:nvSpPr>
        <p:spPr>
          <a:xfrm>
            <a:off x="3903068" y="1927622"/>
            <a:ext cx="1862733" cy="232768"/>
          </a:xfrm>
          <a:prstGeom prst="rect">
            <a:avLst/>
          </a:prstGeom>
          <a:noFill/>
          <a:ln>
            <a:noFill/>
          </a:ln>
        </p:spPr>
        <p:txBody>
          <a:bodyPr spcFirstLastPara="1" wrap="square" lIns="0" tIns="0" rIns="0" bIns="0" anchor="t" anchorCtr="0">
            <a:noAutofit/>
          </a:bodyPr>
          <a:lstStyle/>
          <a:p>
            <a:pPr>
              <a:lnSpc>
                <a:spcPct val="125714"/>
              </a:lnSpc>
              <a:buClr>
                <a:srgbClr val="383838"/>
              </a:buClr>
              <a:buSzPts val="1750"/>
            </a:pPr>
            <a:r>
              <a:rPr lang="en-US" sz="1500" b="1" dirty="0">
                <a:solidFill>
                  <a:srgbClr val="383838"/>
                </a:solidFill>
                <a:latin typeface="Patrick Hand"/>
                <a:ea typeface="Patrick Hand"/>
                <a:cs typeface="Patrick Hand"/>
                <a:sym typeface="Patrick Hand"/>
              </a:rPr>
              <a:t>Cylinders vs. Origin</a:t>
            </a:r>
            <a:endParaRPr sz="1500" b="1"/>
          </a:p>
        </p:txBody>
      </p:sp>
      <p:sp>
        <p:nvSpPr>
          <p:cNvPr id="162" name="Google Shape;162;p20"/>
          <p:cNvSpPr/>
          <p:nvPr/>
        </p:nvSpPr>
        <p:spPr>
          <a:xfrm>
            <a:off x="3903068" y="2272110"/>
            <a:ext cx="2971899" cy="1191816"/>
          </a:xfrm>
          <a:prstGeom prst="rect">
            <a:avLst/>
          </a:prstGeom>
          <a:noFill/>
          <a:ln>
            <a:noFill/>
          </a:ln>
        </p:spPr>
        <p:txBody>
          <a:bodyPr spcFirstLastPara="1" wrap="square" lIns="0" tIns="0" rIns="0" bIns="0" anchor="t" anchorCtr="0">
            <a:noAutofit/>
          </a:bodyPr>
          <a:lstStyle/>
          <a:p>
            <a:pPr>
              <a:lnSpc>
                <a:spcPct val="160000"/>
              </a:lnSpc>
              <a:buClr>
                <a:srgbClr val="383838"/>
              </a:buClr>
              <a:buSzPts val="1750"/>
            </a:pPr>
            <a:r>
              <a:rPr lang="en-US" sz="1500" dirty="0">
                <a:solidFill>
                  <a:srgbClr val="383838"/>
                </a:solidFill>
                <a:latin typeface="Patrick Hand"/>
                <a:ea typeface="Patrick Hand"/>
                <a:cs typeface="Patrick Hand"/>
                <a:sym typeface="Patrick Hand"/>
              </a:rPr>
              <a:t>Displays how 3, 4, 5, 6, and 8-cylinder vehicles distribute across regions, highlighting regional preferences in engine configurations.</a:t>
            </a:r>
            <a:endParaRPr sz="1500"/>
          </a:p>
        </p:txBody>
      </p:sp>
      <p:sp>
        <p:nvSpPr>
          <p:cNvPr id="164" name="Google Shape;164;p20"/>
          <p:cNvSpPr/>
          <p:nvPr/>
        </p:nvSpPr>
        <p:spPr>
          <a:xfrm>
            <a:off x="745034" y="4080967"/>
            <a:ext cx="6129933" cy="25400"/>
          </a:xfrm>
          <a:prstGeom prst="rect">
            <a:avLst/>
          </a:prstGeom>
          <a:solidFill>
            <a:srgbClr val="CCCCCC"/>
          </a:solidFill>
          <a:ln>
            <a:noFill/>
          </a:ln>
        </p:spPr>
        <p:txBody>
          <a:bodyPr spcFirstLastPara="1" wrap="square" lIns="76184" tIns="76184" rIns="76184" bIns="76184" anchor="ctr" anchorCtr="0">
            <a:noAutofit/>
          </a:bodyPr>
          <a:lstStyle/>
          <a:p>
            <a:endParaRPr/>
          </a:p>
        </p:txBody>
      </p:sp>
      <p:sp>
        <p:nvSpPr>
          <p:cNvPr id="165" name="Google Shape;165;p20"/>
          <p:cNvSpPr/>
          <p:nvPr/>
        </p:nvSpPr>
        <p:spPr>
          <a:xfrm>
            <a:off x="745034" y="4224834"/>
            <a:ext cx="3452893" cy="222475"/>
          </a:xfrm>
          <a:prstGeom prst="rect">
            <a:avLst/>
          </a:prstGeom>
          <a:noFill/>
          <a:ln>
            <a:noFill/>
          </a:ln>
        </p:spPr>
        <p:txBody>
          <a:bodyPr spcFirstLastPara="1" wrap="square" lIns="0" tIns="0" rIns="0" bIns="0" anchor="t" anchorCtr="0">
            <a:noAutofit/>
          </a:bodyPr>
          <a:lstStyle/>
          <a:p>
            <a:pPr>
              <a:lnSpc>
                <a:spcPct val="125714"/>
              </a:lnSpc>
              <a:buClr>
                <a:srgbClr val="383838"/>
              </a:buClr>
              <a:buSzPts val="1750"/>
            </a:pPr>
            <a:r>
              <a:rPr lang="en-US" sz="1500" b="1" dirty="0">
                <a:solidFill>
                  <a:srgbClr val="383838"/>
                </a:solidFill>
                <a:latin typeface="Patrick Hand"/>
                <a:ea typeface="Patrick Hand"/>
                <a:cs typeface="Patrick Hand"/>
                <a:sym typeface="Patrick Hand"/>
              </a:rPr>
              <a:t>Cylinders vs. Model Year</a:t>
            </a:r>
            <a:endParaRPr sz="1500" b="1"/>
          </a:p>
        </p:txBody>
      </p:sp>
      <p:sp>
        <p:nvSpPr>
          <p:cNvPr id="166" name="Google Shape;166;p20"/>
          <p:cNvSpPr/>
          <p:nvPr/>
        </p:nvSpPr>
        <p:spPr>
          <a:xfrm>
            <a:off x="745034" y="4569321"/>
            <a:ext cx="6129933" cy="595908"/>
          </a:xfrm>
          <a:prstGeom prst="rect">
            <a:avLst/>
          </a:prstGeom>
          <a:noFill/>
          <a:ln>
            <a:noFill/>
          </a:ln>
        </p:spPr>
        <p:txBody>
          <a:bodyPr spcFirstLastPara="1" wrap="square" lIns="0" tIns="0" rIns="0" bIns="0" anchor="t" anchorCtr="0">
            <a:noAutofit/>
          </a:bodyPr>
          <a:lstStyle/>
          <a:p>
            <a:pPr>
              <a:lnSpc>
                <a:spcPct val="160000"/>
              </a:lnSpc>
              <a:buClr>
                <a:srgbClr val="383838"/>
              </a:buClr>
              <a:buSzPts val="1750"/>
            </a:pPr>
            <a:r>
              <a:rPr lang="en-US" sz="1500" dirty="0">
                <a:solidFill>
                  <a:srgbClr val="383838"/>
                </a:solidFill>
                <a:latin typeface="Patrick Hand"/>
                <a:ea typeface="Patrick Hand"/>
                <a:cs typeface="Patrick Hand"/>
                <a:sym typeface="Patrick Hand"/>
              </a:rPr>
              <a:t>Tracks cylinder distribution changes over time, revealing evolving automotive design trends and efficiency improvements.</a:t>
            </a:r>
            <a:endParaRPr sz="1500" dirty="0"/>
          </a:p>
        </p:txBody>
      </p:sp>
      <p:sp>
        <p:nvSpPr>
          <p:cNvPr id="167" name="Google Shape;167;p20"/>
          <p:cNvSpPr/>
          <p:nvPr/>
        </p:nvSpPr>
        <p:spPr>
          <a:xfrm>
            <a:off x="416339" y="5573246"/>
            <a:ext cx="6129933" cy="595908"/>
          </a:xfrm>
          <a:prstGeom prst="rect">
            <a:avLst/>
          </a:prstGeom>
          <a:noFill/>
          <a:ln>
            <a:noFill/>
          </a:ln>
        </p:spPr>
        <p:txBody>
          <a:bodyPr spcFirstLastPara="1" wrap="square" lIns="0" tIns="0" rIns="0" bIns="0" anchor="t" anchorCtr="0">
            <a:noAutofit/>
          </a:bodyPr>
          <a:lstStyle/>
          <a:p>
            <a:pPr>
              <a:lnSpc>
                <a:spcPct val="160000"/>
              </a:lnSpc>
              <a:buClr>
                <a:srgbClr val="383838"/>
              </a:buClr>
              <a:buSzPts val="1750"/>
            </a:pPr>
            <a:r>
              <a:rPr lang="en-US" sz="1500" b="1" dirty="0">
                <a:solidFill>
                  <a:srgbClr val="383838"/>
                </a:solidFill>
                <a:latin typeface="Patrick Hand"/>
                <a:ea typeface="Patrick Hand"/>
                <a:cs typeface="Patrick Hand"/>
                <a:sym typeface="Patrick Hand"/>
              </a:rPr>
              <a:t>Two-way cross-tabulations present bivariate frequency distributions in a concise matrix format, enabling quick understanding of how categorical attributes relate to each other.</a:t>
            </a:r>
            <a:endParaRPr sz="1500" b="1" dirty="0"/>
          </a:p>
        </p:txBody>
      </p:sp>
      <p:pic>
        <p:nvPicPr>
          <p:cNvPr id="2" name="Picture 2" descr="MAPS &amp; DIRECTIONS - Best Private University in Telangana &amp; Andhra Pradesh | KLH  Hyderabad">
            <a:extLst>
              <a:ext uri="{FF2B5EF4-FFF2-40B4-BE49-F238E27FC236}">
                <a16:creationId xmlns:a16="http://schemas.microsoft.com/office/drawing/2014/main" id="{1CA29154-F1C4-C349-59A8-BEC493549F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69741"/>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AF2B3D2-5F46-2B5E-2576-AC2698A3C358}"/>
              </a:ext>
            </a:extLst>
          </p:cNvPr>
          <p:cNvPicPr>
            <a:picLocks noChangeAspect="1"/>
          </p:cNvPicPr>
          <p:nvPr/>
        </p:nvPicPr>
        <p:blipFill>
          <a:blip r:embed="rId4"/>
          <a:stretch>
            <a:fillRect/>
          </a:stretch>
        </p:blipFill>
        <p:spPr>
          <a:xfrm>
            <a:off x="6711654" y="743712"/>
            <a:ext cx="5715495" cy="2072820"/>
          </a:xfrm>
          <a:prstGeom prst="rect">
            <a:avLst/>
          </a:prstGeom>
        </p:spPr>
      </p:pic>
      <p:pic>
        <p:nvPicPr>
          <p:cNvPr id="4" name="Picture 3">
            <a:extLst>
              <a:ext uri="{FF2B5EF4-FFF2-40B4-BE49-F238E27FC236}">
                <a16:creationId xmlns:a16="http://schemas.microsoft.com/office/drawing/2014/main" id="{D1E91154-8313-9E73-EACC-A7F15A44C9B2}"/>
              </a:ext>
            </a:extLst>
          </p:cNvPr>
          <p:cNvPicPr>
            <a:picLocks noChangeAspect="1"/>
          </p:cNvPicPr>
          <p:nvPr/>
        </p:nvPicPr>
        <p:blipFill>
          <a:blip r:embed="rId5"/>
          <a:stretch>
            <a:fillRect/>
          </a:stretch>
        </p:blipFill>
        <p:spPr>
          <a:xfrm>
            <a:off x="6874967" y="2611560"/>
            <a:ext cx="5502117" cy="2255715"/>
          </a:xfrm>
          <a:prstGeom prst="rect">
            <a:avLst/>
          </a:prstGeom>
        </p:spPr>
      </p:pic>
      <p:pic>
        <p:nvPicPr>
          <p:cNvPr id="5" name="Picture 4">
            <a:extLst>
              <a:ext uri="{FF2B5EF4-FFF2-40B4-BE49-F238E27FC236}">
                <a16:creationId xmlns:a16="http://schemas.microsoft.com/office/drawing/2014/main" id="{EBA40DA1-D116-4824-E19C-06828ECF40C6}"/>
              </a:ext>
            </a:extLst>
          </p:cNvPr>
          <p:cNvPicPr>
            <a:picLocks noChangeAspect="1"/>
          </p:cNvPicPr>
          <p:nvPr/>
        </p:nvPicPr>
        <p:blipFill>
          <a:blip r:embed="rId6"/>
          <a:stretch>
            <a:fillRect/>
          </a:stretch>
        </p:blipFill>
        <p:spPr>
          <a:xfrm>
            <a:off x="6709585" y="4479322"/>
            <a:ext cx="5563082" cy="2370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1"/>
          <p:cNvSpPr/>
          <p:nvPr/>
        </p:nvSpPr>
        <p:spPr>
          <a:xfrm>
            <a:off x="2618509" y="373437"/>
            <a:ext cx="7010399" cy="339527"/>
          </a:xfrm>
          <a:prstGeom prst="rect">
            <a:avLst/>
          </a:prstGeom>
          <a:noFill/>
          <a:ln>
            <a:noFill/>
          </a:ln>
        </p:spPr>
        <p:txBody>
          <a:bodyPr spcFirstLastPara="1" wrap="square" lIns="0" tIns="0" rIns="0" bIns="0" anchor="t" anchorCtr="0">
            <a:noAutofit/>
          </a:bodyPr>
          <a:lstStyle/>
          <a:p>
            <a:pPr algn="ctr">
              <a:lnSpc>
                <a:spcPct val="125490"/>
              </a:lnSpc>
              <a:buClr>
                <a:srgbClr val="383838"/>
              </a:buClr>
              <a:buSzPts val="2550"/>
            </a:pPr>
            <a:r>
              <a:rPr lang="en-US" sz="2800" b="1" dirty="0">
                <a:solidFill>
                  <a:srgbClr val="383838"/>
                </a:solidFill>
                <a:latin typeface="Patrick Hand"/>
                <a:ea typeface="Patrick Hand"/>
                <a:cs typeface="Patrick Hand"/>
                <a:sym typeface="Patrick Hand"/>
              </a:rPr>
              <a:t>Regional Vehicle Distribution by Year</a:t>
            </a:r>
            <a:endParaRPr sz="2800" b="1"/>
          </a:p>
        </p:txBody>
      </p:sp>
      <p:pic>
        <p:nvPicPr>
          <p:cNvPr id="174" name="Google Shape;174;p21" descr="preencoded.png"/>
          <p:cNvPicPr preferRelativeResize="0"/>
          <p:nvPr/>
        </p:nvPicPr>
        <p:blipFill rotWithShape="1">
          <a:blip r:embed="rId3">
            <a:alphaModFix/>
          </a:blip>
          <a:srcRect/>
          <a:stretch/>
        </p:blipFill>
        <p:spPr>
          <a:xfrm>
            <a:off x="1496291" y="1192345"/>
            <a:ext cx="10152487" cy="3532034"/>
          </a:xfrm>
          <a:prstGeom prst="rect">
            <a:avLst/>
          </a:prstGeom>
          <a:noFill/>
          <a:ln>
            <a:noFill/>
          </a:ln>
        </p:spPr>
      </p:pic>
      <p:sp>
        <p:nvSpPr>
          <p:cNvPr id="175" name="Google Shape;175;p21"/>
          <p:cNvSpPr/>
          <p:nvPr/>
        </p:nvSpPr>
        <p:spPr>
          <a:xfrm>
            <a:off x="2981542" y="4994937"/>
            <a:ext cx="135732" cy="135732"/>
          </a:xfrm>
          <a:prstGeom prst="roundRect">
            <a:avLst>
              <a:gd name="adj" fmla="val 11228"/>
            </a:avLst>
          </a:prstGeom>
          <a:solidFill>
            <a:srgbClr val="262626"/>
          </a:solidFill>
          <a:ln>
            <a:noFill/>
          </a:ln>
        </p:spPr>
        <p:txBody>
          <a:bodyPr spcFirstLastPara="1" wrap="square" lIns="76184" tIns="76184" rIns="76184" bIns="76184" anchor="ctr" anchorCtr="0">
            <a:noAutofit/>
          </a:bodyPr>
          <a:lstStyle/>
          <a:p>
            <a:endParaRPr sz="4800"/>
          </a:p>
        </p:txBody>
      </p:sp>
      <p:sp>
        <p:nvSpPr>
          <p:cNvPr id="176" name="Google Shape;176;p21"/>
          <p:cNvSpPr/>
          <p:nvPr/>
        </p:nvSpPr>
        <p:spPr>
          <a:xfrm>
            <a:off x="3168073" y="4994938"/>
            <a:ext cx="2359891" cy="172800"/>
          </a:xfrm>
          <a:prstGeom prst="rect">
            <a:avLst/>
          </a:prstGeom>
          <a:noFill/>
          <a:ln>
            <a:noFill/>
          </a:ln>
        </p:spPr>
        <p:txBody>
          <a:bodyPr spcFirstLastPara="1" wrap="square" lIns="0" tIns="0" rIns="0" bIns="0" anchor="t" anchorCtr="0">
            <a:noAutofit/>
          </a:bodyPr>
          <a:lstStyle/>
          <a:p>
            <a:pPr>
              <a:buClr>
                <a:srgbClr val="383838"/>
              </a:buClr>
              <a:buSzPts val="1250"/>
            </a:pPr>
            <a:r>
              <a:rPr lang="en-US" sz="2000" dirty="0">
                <a:solidFill>
                  <a:srgbClr val="383838"/>
                </a:solidFill>
                <a:latin typeface="Patrick Hand"/>
                <a:ea typeface="Patrick Hand"/>
                <a:cs typeface="Patrick Hand"/>
                <a:sym typeface="Patrick Hand"/>
              </a:rPr>
              <a:t>North America</a:t>
            </a:r>
            <a:endParaRPr sz="2000"/>
          </a:p>
        </p:txBody>
      </p:sp>
      <p:sp>
        <p:nvSpPr>
          <p:cNvPr id="177" name="Google Shape;177;p21"/>
          <p:cNvSpPr/>
          <p:nvPr/>
        </p:nvSpPr>
        <p:spPr>
          <a:xfrm>
            <a:off x="5558847" y="4994937"/>
            <a:ext cx="135732" cy="135732"/>
          </a:xfrm>
          <a:prstGeom prst="roundRect">
            <a:avLst>
              <a:gd name="adj" fmla="val 11228"/>
            </a:avLst>
          </a:prstGeom>
          <a:solidFill>
            <a:srgbClr val="494949"/>
          </a:solidFill>
          <a:ln>
            <a:noFill/>
          </a:ln>
        </p:spPr>
        <p:txBody>
          <a:bodyPr spcFirstLastPara="1" wrap="square" lIns="76184" tIns="76184" rIns="76184" bIns="76184" anchor="ctr" anchorCtr="0">
            <a:noAutofit/>
          </a:bodyPr>
          <a:lstStyle/>
          <a:p>
            <a:endParaRPr sz="4800"/>
          </a:p>
        </p:txBody>
      </p:sp>
      <p:sp>
        <p:nvSpPr>
          <p:cNvPr id="178" name="Google Shape;178;p21"/>
          <p:cNvSpPr/>
          <p:nvPr/>
        </p:nvSpPr>
        <p:spPr>
          <a:xfrm>
            <a:off x="5745379" y="4994938"/>
            <a:ext cx="1181894" cy="311346"/>
          </a:xfrm>
          <a:prstGeom prst="rect">
            <a:avLst/>
          </a:prstGeom>
          <a:noFill/>
          <a:ln>
            <a:noFill/>
          </a:ln>
        </p:spPr>
        <p:txBody>
          <a:bodyPr spcFirstLastPara="1" wrap="square" lIns="0" tIns="0" rIns="0" bIns="0" anchor="t" anchorCtr="0">
            <a:noAutofit/>
          </a:bodyPr>
          <a:lstStyle/>
          <a:p>
            <a:pPr>
              <a:buClr>
                <a:srgbClr val="383838"/>
              </a:buClr>
              <a:buSzPts val="1250"/>
            </a:pPr>
            <a:r>
              <a:rPr lang="en-US" sz="2400" dirty="0">
                <a:solidFill>
                  <a:srgbClr val="383838"/>
                </a:solidFill>
                <a:latin typeface="Patrick Hand"/>
                <a:ea typeface="Patrick Hand"/>
                <a:cs typeface="Patrick Hand"/>
                <a:sym typeface="Patrick Hand"/>
              </a:rPr>
              <a:t>Europe</a:t>
            </a:r>
            <a:endParaRPr sz="2400"/>
          </a:p>
        </p:txBody>
      </p:sp>
      <p:sp>
        <p:nvSpPr>
          <p:cNvPr id="179" name="Google Shape;179;p21"/>
          <p:cNvSpPr/>
          <p:nvPr/>
        </p:nvSpPr>
        <p:spPr>
          <a:xfrm>
            <a:off x="7754459" y="4994937"/>
            <a:ext cx="135732" cy="135732"/>
          </a:xfrm>
          <a:prstGeom prst="roundRect">
            <a:avLst>
              <a:gd name="adj" fmla="val 11228"/>
            </a:avLst>
          </a:prstGeom>
          <a:solidFill>
            <a:srgbClr val="6C6C6C"/>
          </a:solidFill>
          <a:ln>
            <a:noFill/>
          </a:ln>
        </p:spPr>
        <p:txBody>
          <a:bodyPr spcFirstLastPara="1" wrap="square" lIns="76184" tIns="76184" rIns="76184" bIns="76184" anchor="ctr" anchorCtr="0">
            <a:noAutofit/>
          </a:bodyPr>
          <a:lstStyle/>
          <a:p>
            <a:endParaRPr sz="4800"/>
          </a:p>
        </p:txBody>
      </p:sp>
      <p:sp>
        <p:nvSpPr>
          <p:cNvPr id="180" name="Google Shape;180;p21"/>
          <p:cNvSpPr/>
          <p:nvPr/>
        </p:nvSpPr>
        <p:spPr>
          <a:xfrm>
            <a:off x="7940991" y="4994938"/>
            <a:ext cx="1784900" cy="269782"/>
          </a:xfrm>
          <a:prstGeom prst="rect">
            <a:avLst/>
          </a:prstGeom>
          <a:noFill/>
          <a:ln>
            <a:noFill/>
          </a:ln>
        </p:spPr>
        <p:txBody>
          <a:bodyPr spcFirstLastPara="1" wrap="square" lIns="0" tIns="0" rIns="0" bIns="0" anchor="t" anchorCtr="0">
            <a:noAutofit/>
          </a:bodyPr>
          <a:lstStyle/>
          <a:p>
            <a:pPr>
              <a:buClr>
                <a:srgbClr val="383838"/>
              </a:buClr>
              <a:buSzPts val="1250"/>
            </a:pPr>
            <a:r>
              <a:rPr lang="en-US" sz="2400" dirty="0">
                <a:solidFill>
                  <a:srgbClr val="383838"/>
                </a:solidFill>
                <a:latin typeface="Patrick Hand"/>
                <a:ea typeface="Patrick Hand"/>
                <a:cs typeface="Patrick Hand"/>
                <a:sym typeface="Patrick Hand"/>
              </a:rPr>
              <a:t>Asia</a:t>
            </a:r>
            <a:endParaRPr sz="2400"/>
          </a:p>
        </p:txBody>
      </p:sp>
      <p:sp>
        <p:nvSpPr>
          <p:cNvPr id="181" name="Google Shape;181;p21"/>
          <p:cNvSpPr/>
          <p:nvPr/>
        </p:nvSpPr>
        <p:spPr>
          <a:xfrm>
            <a:off x="667913" y="5453582"/>
            <a:ext cx="11105555" cy="434578"/>
          </a:xfrm>
          <a:prstGeom prst="rect">
            <a:avLst/>
          </a:prstGeom>
          <a:noFill/>
          <a:ln>
            <a:noFill/>
          </a:ln>
        </p:spPr>
        <p:txBody>
          <a:bodyPr spcFirstLastPara="1" wrap="square" lIns="0" tIns="0" rIns="0" bIns="0" anchor="t" anchorCtr="0">
            <a:noAutofit/>
          </a:bodyPr>
          <a:lstStyle/>
          <a:p>
            <a:pPr>
              <a:lnSpc>
                <a:spcPct val="164000"/>
              </a:lnSpc>
              <a:buClr>
                <a:srgbClr val="383838"/>
              </a:buClr>
              <a:buSzPts val="1250"/>
            </a:pPr>
            <a:r>
              <a:rPr lang="en-US" sz="1400" dirty="0">
                <a:solidFill>
                  <a:srgbClr val="383838"/>
                </a:solidFill>
                <a:latin typeface="Patrick Hand"/>
                <a:ea typeface="Patrick Hand"/>
                <a:cs typeface="Patrick Hand"/>
                <a:sym typeface="Patrick Hand"/>
              </a:rPr>
              <a:t>The cross-tabulation reveals shifting production patterns over time. North American vehicle counts fluctuate significantly, while Asian representation grows substantially from 2 vehicles in 1970 to 13 in 1980, reflecting the rise of Asian automotive manufacturers in the global market.</a:t>
            </a:r>
            <a:endParaRPr sz="1400"/>
          </a:p>
        </p:txBody>
      </p:sp>
      <p:pic>
        <p:nvPicPr>
          <p:cNvPr id="2" name="Picture 2" descr="MAPS &amp; DIRECTIONS - Best Private University in Telangana &amp; Andhra Pradesh | KLH  Hyderabad">
            <a:extLst>
              <a:ext uri="{FF2B5EF4-FFF2-40B4-BE49-F238E27FC236}">
                <a16:creationId xmlns:a16="http://schemas.microsoft.com/office/drawing/2014/main" id="{466BFCF3-DC70-0D0F-5F2E-5E311E2A28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2" descr="preencoded.png"/>
          <p:cNvPicPr preferRelativeResize="0"/>
          <p:nvPr/>
        </p:nvPicPr>
        <p:blipFill rotWithShape="1">
          <a:blip r:embed="rId3" cstate="print">
            <a:alphaModFix/>
          </a:blip>
          <a:srcRect/>
          <a:stretch/>
        </p:blipFill>
        <p:spPr>
          <a:xfrm>
            <a:off x="7620000" y="180109"/>
            <a:ext cx="4156364" cy="6346375"/>
          </a:xfrm>
          <a:prstGeom prst="rect">
            <a:avLst/>
          </a:prstGeom>
          <a:noFill/>
          <a:ln>
            <a:noFill/>
          </a:ln>
        </p:spPr>
      </p:pic>
      <p:sp>
        <p:nvSpPr>
          <p:cNvPr id="188" name="Google Shape;188;p22"/>
          <p:cNvSpPr/>
          <p:nvPr/>
        </p:nvSpPr>
        <p:spPr>
          <a:xfrm>
            <a:off x="659209" y="453232"/>
            <a:ext cx="6489736" cy="411957"/>
          </a:xfrm>
          <a:prstGeom prst="rect">
            <a:avLst/>
          </a:prstGeom>
          <a:noFill/>
          <a:ln>
            <a:noFill/>
          </a:ln>
        </p:spPr>
        <p:txBody>
          <a:bodyPr spcFirstLastPara="1" wrap="square" lIns="0" tIns="0" rIns="0" bIns="0" anchor="t" anchorCtr="0">
            <a:noAutofit/>
          </a:bodyPr>
          <a:lstStyle/>
          <a:p>
            <a:pPr>
              <a:lnSpc>
                <a:spcPct val="124193"/>
              </a:lnSpc>
              <a:buClr>
                <a:srgbClr val="383838"/>
              </a:buClr>
              <a:buSzPts val="3100"/>
            </a:pPr>
            <a:r>
              <a:rPr lang="en-US" sz="2600" dirty="0">
                <a:solidFill>
                  <a:srgbClr val="383838"/>
                </a:solidFill>
                <a:latin typeface="Patrick Hand"/>
                <a:ea typeface="Patrick Hand"/>
                <a:cs typeface="Patrick Hand"/>
                <a:sym typeface="Patrick Hand"/>
              </a:rPr>
              <a:t>Key Insights from Data Exploration</a:t>
            </a:r>
            <a:endParaRPr sz="2600"/>
          </a:p>
        </p:txBody>
      </p:sp>
      <p:sp>
        <p:nvSpPr>
          <p:cNvPr id="189" name="Google Shape;189;p22"/>
          <p:cNvSpPr/>
          <p:nvPr/>
        </p:nvSpPr>
        <p:spPr>
          <a:xfrm>
            <a:off x="659209" y="1112342"/>
            <a:ext cx="6301582" cy="1199753"/>
          </a:xfrm>
          <a:prstGeom prst="roundRect">
            <a:avLst>
              <a:gd name="adj" fmla="val 7622"/>
            </a:avLst>
          </a:prstGeom>
          <a:solidFill>
            <a:srgbClr val="F7F7F7"/>
          </a:solidFill>
          <a:ln w="22850"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90" name="Google Shape;190;p22"/>
          <p:cNvSpPr/>
          <p:nvPr/>
        </p:nvSpPr>
        <p:spPr>
          <a:xfrm>
            <a:off x="640159" y="1112342"/>
            <a:ext cx="76200" cy="1199753"/>
          </a:xfrm>
          <a:prstGeom prst="roundRect">
            <a:avLst>
              <a:gd name="adj" fmla="val 90844"/>
            </a:avLst>
          </a:prstGeom>
          <a:solidFill>
            <a:srgbClr val="CCCCCC"/>
          </a:solidFill>
          <a:ln>
            <a:noFill/>
          </a:ln>
        </p:spPr>
        <p:txBody>
          <a:bodyPr spcFirstLastPara="1" wrap="square" lIns="76184" tIns="76184" rIns="76184" bIns="76184" anchor="ctr" anchorCtr="0">
            <a:noAutofit/>
          </a:bodyPr>
          <a:lstStyle/>
          <a:p>
            <a:endParaRPr/>
          </a:p>
        </p:txBody>
      </p:sp>
      <p:sp>
        <p:nvSpPr>
          <p:cNvPr id="191" name="Google Shape;191;p22"/>
          <p:cNvSpPr/>
          <p:nvPr/>
        </p:nvSpPr>
        <p:spPr>
          <a:xfrm>
            <a:off x="900212" y="1296194"/>
            <a:ext cx="1648123" cy="205978"/>
          </a:xfrm>
          <a:prstGeom prst="rect">
            <a:avLst/>
          </a:prstGeom>
          <a:noFill/>
          <a:ln>
            <a:noFill/>
          </a:ln>
        </p:spPr>
        <p:txBody>
          <a:bodyPr spcFirstLastPara="1" wrap="square" lIns="0" tIns="0" rIns="0" bIns="0" anchor="t" anchorCtr="0">
            <a:noAutofit/>
          </a:bodyPr>
          <a:lstStyle/>
          <a:p>
            <a:pPr>
              <a:lnSpc>
                <a:spcPct val="122580"/>
              </a:lnSpc>
              <a:buClr>
                <a:srgbClr val="383838"/>
              </a:buClr>
              <a:buSzPts val="1550"/>
            </a:pPr>
            <a:r>
              <a:rPr lang="en-US" sz="1300" dirty="0">
                <a:solidFill>
                  <a:srgbClr val="383838"/>
                </a:solidFill>
                <a:latin typeface="Patrick Hand"/>
                <a:ea typeface="Patrick Hand"/>
                <a:cs typeface="Patrick Hand"/>
                <a:sym typeface="Patrick Hand"/>
              </a:rPr>
              <a:t>Distribution Patterns</a:t>
            </a:r>
            <a:endParaRPr sz="1300"/>
          </a:p>
        </p:txBody>
      </p:sp>
      <p:sp>
        <p:nvSpPr>
          <p:cNvPr id="192" name="Google Shape;192;p22"/>
          <p:cNvSpPr/>
          <p:nvPr/>
        </p:nvSpPr>
        <p:spPr>
          <a:xfrm>
            <a:off x="900211" y="1600994"/>
            <a:ext cx="5876727" cy="527248"/>
          </a:xfrm>
          <a:prstGeom prst="rect">
            <a:avLst/>
          </a:prstGeom>
          <a:noFill/>
          <a:ln>
            <a:noFill/>
          </a:ln>
        </p:spPr>
        <p:txBody>
          <a:bodyPr spcFirstLastPara="1" wrap="square" lIns="0" tIns="0" rIns="0" bIns="0" anchor="t" anchorCtr="0">
            <a:noAutofit/>
          </a:bodyPr>
          <a:lstStyle/>
          <a:p>
            <a:pPr>
              <a:lnSpc>
                <a:spcPct val="158064"/>
              </a:lnSpc>
              <a:buClr>
                <a:srgbClr val="383838"/>
              </a:buClr>
              <a:buSzPts val="1550"/>
            </a:pPr>
            <a:r>
              <a:rPr lang="en-US" sz="1300" dirty="0">
                <a:solidFill>
                  <a:srgbClr val="383838"/>
                </a:solidFill>
                <a:latin typeface="Patrick Hand"/>
                <a:ea typeface="Patrick Hand"/>
                <a:cs typeface="Patrick Hand"/>
                <a:sym typeface="Patrick Hand"/>
              </a:rPr>
              <a:t>Histograms reveal central tendencies and spread across numeric variables, helping identify typical values and outliers in the dataset.</a:t>
            </a:r>
            <a:endParaRPr sz="1300"/>
          </a:p>
        </p:txBody>
      </p:sp>
      <p:sp>
        <p:nvSpPr>
          <p:cNvPr id="193" name="Google Shape;193;p22"/>
          <p:cNvSpPr/>
          <p:nvPr/>
        </p:nvSpPr>
        <p:spPr>
          <a:xfrm>
            <a:off x="659209" y="2476897"/>
            <a:ext cx="6301582" cy="1199753"/>
          </a:xfrm>
          <a:prstGeom prst="roundRect">
            <a:avLst>
              <a:gd name="adj" fmla="val 7622"/>
            </a:avLst>
          </a:prstGeom>
          <a:solidFill>
            <a:srgbClr val="F7F7F7"/>
          </a:solidFill>
          <a:ln w="22850"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94" name="Google Shape;194;p22"/>
          <p:cNvSpPr/>
          <p:nvPr/>
        </p:nvSpPr>
        <p:spPr>
          <a:xfrm>
            <a:off x="640159" y="2476897"/>
            <a:ext cx="76200" cy="1199753"/>
          </a:xfrm>
          <a:prstGeom prst="roundRect">
            <a:avLst>
              <a:gd name="adj" fmla="val 90844"/>
            </a:avLst>
          </a:prstGeom>
          <a:solidFill>
            <a:srgbClr val="CCCCCC"/>
          </a:solidFill>
          <a:ln>
            <a:noFill/>
          </a:ln>
        </p:spPr>
        <p:txBody>
          <a:bodyPr spcFirstLastPara="1" wrap="square" lIns="76184" tIns="76184" rIns="76184" bIns="76184" anchor="ctr" anchorCtr="0">
            <a:noAutofit/>
          </a:bodyPr>
          <a:lstStyle/>
          <a:p>
            <a:endParaRPr/>
          </a:p>
        </p:txBody>
      </p:sp>
      <p:sp>
        <p:nvSpPr>
          <p:cNvPr id="195" name="Google Shape;195;p22"/>
          <p:cNvSpPr/>
          <p:nvPr/>
        </p:nvSpPr>
        <p:spPr>
          <a:xfrm>
            <a:off x="900212" y="2660749"/>
            <a:ext cx="1648123" cy="205978"/>
          </a:xfrm>
          <a:prstGeom prst="rect">
            <a:avLst/>
          </a:prstGeom>
          <a:noFill/>
          <a:ln>
            <a:noFill/>
          </a:ln>
        </p:spPr>
        <p:txBody>
          <a:bodyPr spcFirstLastPara="1" wrap="square" lIns="0" tIns="0" rIns="0" bIns="0" anchor="t" anchorCtr="0">
            <a:noAutofit/>
          </a:bodyPr>
          <a:lstStyle/>
          <a:p>
            <a:pPr>
              <a:lnSpc>
                <a:spcPct val="122580"/>
              </a:lnSpc>
              <a:buClr>
                <a:srgbClr val="383838"/>
              </a:buClr>
              <a:buSzPts val="1550"/>
            </a:pPr>
            <a:r>
              <a:rPr lang="en-US" sz="1300" dirty="0">
                <a:solidFill>
                  <a:srgbClr val="383838"/>
                </a:solidFill>
                <a:latin typeface="Patrick Hand"/>
                <a:ea typeface="Patrick Hand"/>
                <a:cs typeface="Patrick Hand"/>
                <a:sym typeface="Patrick Hand"/>
              </a:rPr>
              <a:t>Categorical Analysis</a:t>
            </a:r>
            <a:endParaRPr sz="1300"/>
          </a:p>
        </p:txBody>
      </p:sp>
      <p:sp>
        <p:nvSpPr>
          <p:cNvPr id="196" name="Google Shape;196;p22"/>
          <p:cNvSpPr/>
          <p:nvPr/>
        </p:nvSpPr>
        <p:spPr>
          <a:xfrm>
            <a:off x="900211" y="2965549"/>
            <a:ext cx="5876727" cy="527248"/>
          </a:xfrm>
          <a:prstGeom prst="rect">
            <a:avLst/>
          </a:prstGeom>
          <a:noFill/>
          <a:ln>
            <a:noFill/>
          </a:ln>
        </p:spPr>
        <p:txBody>
          <a:bodyPr spcFirstLastPara="1" wrap="square" lIns="0" tIns="0" rIns="0" bIns="0" anchor="t" anchorCtr="0">
            <a:noAutofit/>
          </a:bodyPr>
          <a:lstStyle/>
          <a:p>
            <a:pPr>
              <a:lnSpc>
                <a:spcPct val="158064"/>
              </a:lnSpc>
              <a:buClr>
                <a:srgbClr val="383838"/>
              </a:buClr>
              <a:buSzPts val="1550"/>
            </a:pPr>
            <a:r>
              <a:rPr lang="en-US" sz="1300" dirty="0">
                <a:solidFill>
                  <a:srgbClr val="383838"/>
                </a:solidFill>
                <a:latin typeface="Patrick Hand"/>
                <a:ea typeface="Patrick Hand"/>
                <a:cs typeface="Patrick Hand"/>
                <a:sym typeface="Patrick Hand"/>
              </a:rPr>
              <a:t>Mode serves as the primary measure for categorical data, with frequency counts and proportions providing deeper understanding of category distributions.</a:t>
            </a:r>
            <a:endParaRPr sz="1300"/>
          </a:p>
        </p:txBody>
      </p:sp>
      <p:sp>
        <p:nvSpPr>
          <p:cNvPr id="197" name="Google Shape;197;p22"/>
          <p:cNvSpPr/>
          <p:nvPr/>
        </p:nvSpPr>
        <p:spPr>
          <a:xfrm>
            <a:off x="659209" y="3841453"/>
            <a:ext cx="6301582" cy="1199753"/>
          </a:xfrm>
          <a:prstGeom prst="roundRect">
            <a:avLst>
              <a:gd name="adj" fmla="val 7622"/>
            </a:avLst>
          </a:prstGeom>
          <a:solidFill>
            <a:srgbClr val="F7F7F7"/>
          </a:solidFill>
          <a:ln w="22850"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198" name="Google Shape;198;p22"/>
          <p:cNvSpPr/>
          <p:nvPr/>
        </p:nvSpPr>
        <p:spPr>
          <a:xfrm>
            <a:off x="640159" y="3841453"/>
            <a:ext cx="76200" cy="1199753"/>
          </a:xfrm>
          <a:prstGeom prst="roundRect">
            <a:avLst>
              <a:gd name="adj" fmla="val 90844"/>
            </a:avLst>
          </a:prstGeom>
          <a:solidFill>
            <a:srgbClr val="CCCCCC"/>
          </a:solidFill>
          <a:ln>
            <a:noFill/>
          </a:ln>
        </p:spPr>
        <p:txBody>
          <a:bodyPr spcFirstLastPara="1" wrap="square" lIns="76184" tIns="76184" rIns="76184" bIns="76184" anchor="ctr" anchorCtr="0">
            <a:noAutofit/>
          </a:bodyPr>
          <a:lstStyle/>
          <a:p>
            <a:endParaRPr/>
          </a:p>
        </p:txBody>
      </p:sp>
      <p:sp>
        <p:nvSpPr>
          <p:cNvPr id="199" name="Google Shape;199;p22"/>
          <p:cNvSpPr/>
          <p:nvPr/>
        </p:nvSpPr>
        <p:spPr>
          <a:xfrm>
            <a:off x="900212" y="4025305"/>
            <a:ext cx="1648123" cy="205978"/>
          </a:xfrm>
          <a:prstGeom prst="rect">
            <a:avLst/>
          </a:prstGeom>
          <a:noFill/>
          <a:ln>
            <a:noFill/>
          </a:ln>
        </p:spPr>
        <p:txBody>
          <a:bodyPr spcFirstLastPara="1" wrap="square" lIns="0" tIns="0" rIns="0" bIns="0" anchor="t" anchorCtr="0">
            <a:noAutofit/>
          </a:bodyPr>
          <a:lstStyle/>
          <a:p>
            <a:pPr>
              <a:lnSpc>
                <a:spcPct val="122580"/>
              </a:lnSpc>
              <a:buClr>
                <a:srgbClr val="383838"/>
              </a:buClr>
              <a:buSzPts val="1550"/>
            </a:pPr>
            <a:r>
              <a:rPr lang="en-US" sz="1300" dirty="0">
                <a:solidFill>
                  <a:srgbClr val="383838"/>
                </a:solidFill>
                <a:latin typeface="Patrick Hand"/>
                <a:ea typeface="Patrick Hand"/>
                <a:cs typeface="Patrick Hand"/>
                <a:sym typeface="Patrick Hand"/>
              </a:rPr>
              <a:t>Variable Relationships</a:t>
            </a:r>
            <a:endParaRPr sz="1300"/>
          </a:p>
        </p:txBody>
      </p:sp>
      <p:sp>
        <p:nvSpPr>
          <p:cNvPr id="200" name="Google Shape;200;p22"/>
          <p:cNvSpPr/>
          <p:nvPr/>
        </p:nvSpPr>
        <p:spPr>
          <a:xfrm>
            <a:off x="900211" y="4330105"/>
            <a:ext cx="5876727" cy="527248"/>
          </a:xfrm>
          <a:prstGeom prst="rect">
            <a:avLst/>
          </a:prstGeom>
          <a:noFill/>
          <a:ln>
            <a:noFill/>
          </a:ln>
        </p:spPr>
        <p:txBody>
          <a:bodyPr spcFirstLastPara="1" wrap="square" lIns="0" tIns="0" rIns="0" bIns="0" anchor="t" anchorCtr="0">
            <a:noAutofit/>
          </a:bodyPr>
          <a:lstStyle/>
          <a:p>
            <a:pPr>
              <a:lnSpc>
                <a:spcPct val="158064"/>
              </a:lnSpc>
              <a:buClr>
                <a:srgbClr val="383838"/>
              </a:buClr>
              <a:buSzPts val="1550"/>
            </a:pPr>
            <a:r>
              <a:rPr lang="en-US" sz="1300" dirty="0">
                <a:solidFill>
                  <a:srgbClr val="383838"/>
                </a:solidFill>
                <a:latin typeface="Patrick Hand"/>
                <a:ea typeface="Patrick Hand"/>
                <a:cs typeface="Patrick Hand"/>
                <a:sym typeface="Patrick Hand"/>
              </a:rPr>
              <a:t>Scatter plots and cross-tabulations expose correlations and interactions between variables, revealing how changes in one attribute affect another.</a:t>
            </a:r>
            <a:endParaRPr sz="1300"/>
          </a:p>
        </p:txBody>
      </p:sp>
      <p:sp>
        <p:nvSpPr>
          <p:cNvPr id="201" name="Google Shape;201;p22"/>
          <p:cNvSpPr/>
          <p:nvPr/>
        </p:nvSpPr>
        <p:spPr>
          <a:xfrm>
            <a:off x="659209" y="5206008"/>
            <a:ext cx="6301582" cy="1199753"/>
          </a:xfrm>
          <a:prstGeom prst="roundRect">
            <a:avLst>
              <a:gd name="adj" fmla="val 7622"/>
            </a:avLst>
          </a:prstGeom>
          <a:solidFill>
            <a:srgbClr val="F7F7F7"/>
          </a:solidFill>
          <a:ln w="22850" cap="flat" cmpd="sng">
            <a:solidFill>
              <a:srgbClr val="CCCCCC"/>
            </a:solidFill>
            <a:prstDash val="solid"/>
            <a:round/>
            <a:headEnd type="none" w="sm" len="sm"/>
            <a:tailEnd type="none" w="sm" len="sm"/>
          </a:ln>
        </p:spPr>
        <p:txBody>
          <a:bodyPr spcFirstLastPara="1" wrap="square" lIns="76184" tIns="76184" rIns="76184" bIns="76184" anchor="ctr" anchorCtr="0">
            <a:noAutofit/>
          </a:bodyPr>
          <a:lstStyle/>
          <a:p>
            <a:endParaRPr/>
          </a:p>
        </p:txBody>
      </p:sp>
      <p:sp>
        <p:nvSpPr>
          <p:cNvPr id="202" name="Google Shape;202;p22"/>
          <p:cNvSpPr/>
          <p:nvPr/>
        </p:nvSpPr>
        <p:spPr>
          <a:xfrm>
            <a:off x="640159" y="5206008"/>
            <a:ext cx="76200" cy="1199753"/>
          </a:xfrm>
          <a:prstGeom prst="roundRect">
            <a:avLst>
              <a:gd name="adj" fmla="val 90844"/>
            </a:avLst>
          </a:prstGeom>
          <a:solidFill>
            <a:srgbClr val="CCCCCC"/>
          </a:solidFill>
          <a:ln>
            <a:noFill/>
          </a:ln>
        </p:spPr>
        <p:txBody>
          <a:bodyPr spcFirstLastPara="1" wrap="square" lIns="76184" tIns="76184" rIns="76184" bIns="76184" anchor="ctr" anchorCtr="0">
            <a:noAutofit/>
          </a:bodyPr>
          <a:lstStyle/>
          <a:p>
            <a:endParaRPr/>
          </a:p>
        </p:txBody>
      </p:sp>
      <p:sp>
        <p:nvSpPr>
          <p:cNvPr id="203" name="Google Shape;203;p22"/>
          <p:cNvSpPr/>
          <p:nvPr/>
        </p:nvSpPr>
        <p:spPr>
          <a:xfrm>
            <a:off x="900212" y="5389860"/>
            <a:ext cx="1648123" cy="205978"/>
          </a:xfrm>
          <a:prstGeom prst="rect">
            <a:avLst/>
          </a:prstGeom>
          <a:noFill/>
          <a:ln>
            <a:noFill/>
          </a:ln>
        </p:spPr>
        <p:txBody>
          <a:bodyPr spcFirstLastPara="1" wrap="square" lIns="0" tIns="0" rIns="0" bIns="0" anchor="t" anchorCtr="0">
            <a:noAutofit/>
          </a:bodyPr>
          <a:lstStyle/>
          <a:p>
            <a:pPr>
              <a:lnSpc>
                <a:spcPct val="122580"/>
              </a:lnSpc>
              <a:buClr>
                <a:srgbClr val="383838"/>
              </a:buClr>
              <a:buSzPts val="1550"/>
            </a:pPr>
            <a:r>
              <a:rPr lang="en-US" sz="1300" dirty="0">
                <a:solidFill>
                  <a:srgbClr val="383838"/>
                </a:solidFill>
                <a:latin typeface="Patrick Hand"/>
                <a:ea typeface="Patrick Hand"/>
                <a:cs typeface="Patrick Hand"/>
                <a:sym typeface="Patrick Hand"/>
              </a:rPr>
              <a:t>Comprehensive Views</a:t>
            </a:r>
            <a:endParaRPr sz="1300"/>
          </a:p>
        </p:txBody>
      </p:sp>
      <p:sp>
        <p:nvSpPr>
          <p:cNvPr id="204" name="Google Shape;204;p22"/>
          <p:cNvSpPr/>
          <p:nvPr/>
        </p:nvSpPr>
        <p:spPr>
          <a:xfrm>
            <a:off x="900211" y="5694660"/>
            <a:ext cx="5876727" cy="527248"/>
          </a:xfrm>
          <a:prstGeom prst="rect">
            <a:avLst/>
          </a:prstGeom>
          <a:noFill/>
          <a:ln>
            <a:noFill/>
          </a:ln>
        </p:spPr>
        <p:txBody>
          <a:bodyPr spcFirstLastPara="1" wrap="square" lIns="0" tIns="0" rIns="0" bIns="0" anchor="t" anchorCtr="0">
            <a:noAutofit/>
          </a:bodyPr>
          <a:lstStyle/>
          <a:p>
            <a:pPr>
              <a:lnSpc>
                <a:spcPct val="158064"/>
              </a:lnSpc>
              <a:buClr>
                <a:srgbClr val="383838"/>
              </a:buClr>
              <a:buSzPts val="1550"/>
            </a:pPr>
            <a:r>
              <a:rPr lang="en-US" sz="1300" dirty="0">
                <a:solidFill>
                  <a:srgbClr val="383838"/>
                </a:solidFill>
                <a:latin typeface="Patrick Hand"/>
                <a:ea typeface="Patrick Hand"/>
                <a:cs typeface="Patrick Hand"/>
                <a:sym typeface="Patrick Hand"/>
              </a:rPr>
              <a:t>Pairwise plots and contingency tables enable simultaneous examination of multiple relationships, accelerating pattern discovery and insight generation.</a:t>
            </a:r>
            <a:endParaRPr sz="1300"/>
          </a:p>
        </p:txBody>
      </p:sp>
      <p:pic>
        <p:nvPicPr>
          <p:cNvPr id="2" name="Picture 2" descr="MAPS &amp; DIRECTIONS - Best Private University in Telangana &amp; Andhra Pradesh | KLH  Hyderabad">
            <a:extLst>
              <a:ext uri="{FF2B5EF4-FFF2-40B4-BE49-F238E27FC236}">
                <a16:creationId xmlns:a16="http://schemas.microsoft.com/office/drawing/2014/main" id="{10B6BD87-EAF5-FA15-038F-435B42A0CE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436" y="2408238"/>
            <a:ext cx="10972800" cy="1143000"/>
          </a:xfrm>
        </p:spPr>
        <p:txBody>
          <a:bodyPr>
            <a:noAutofit/>
          </a:bodyPr>
          <a:lstStyle/>
          <a:p>
            <a:r>
              <a:rPr lang="en-US" sz="7200" b="1" dirty="0">
                <a:solidFill>
                  <a:srgbClr val="7030A0"/>
                </a:solidFill>
              </a:rPr>
              <a:t>SUMMARY</a:t>
            </a:r>
          </a:p>
        </p:txBody>
      </p:sp>
      <p:pic>
        <p:nvPicPr>
          <p:cNvPr id="3" name="Picture 2" descr="MAPS &amp; DIRECTIONS - Best Private University in Telangana &amp; Andhra Pradesh | KLH  Hyderabad">
            <a:extLst>
              <a:ext uri="{FF2B5EF4-FFF2-40B4-BE49-F238E27FC236}">
                <a16:creationId xmlns:a16="http://schemas.microsoft.com/office/drawing/2014/main" id="{DD551B2D-BE16-F477-563C-E8F091EE2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792BE84-3448-2348-B352-CD5BC083E5FD}"/>
              </a:ext>
            </a:extLst>
          </p:cNvPr>
          <p:cNvSpPr>
            <a:spLocks noGrp="1"/>
          </p:cNvSpPr>
          <p:nvPr>
            <p:ph idx="1"/>
          </p:nvPr>
        </p:nvSpPr>
        <p:spPr>
          <a:xfrm>
            <a:off x="1230784" y="1744991"/>
            <a:ext cx="9975272" cy="331123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endParaRPr lang="en-US" sz="2400" dirty="0">
              <a:latin typeface="Poppins" pitchFamily="2" charset="77"/>
              <a:cs typeface="Poppins" pitchFamily="2" charset="77"/>
            </a:endParaRPr>
          </a:p>
          <a:p>
            <a:pPr marL="0" indent="0" algn="ctr">
              <a:buNone/>
            </a:pPr>
            <a:endParaRPr lang="en-US" sz="2400" b="1" dirty="0">
              <a:latin typeface="Poppins" pitchFamily="2" charset="77"/>
              <a:cs typeface="Poppins" pitchFamily="2" charset="77"/>
            </a:endParaRPr>
          </a:p>
          <a:p>
            <a:pPr marL="0" indent="0" algn="ctr">
              <a:buNone/>
            </a:pPr>
            <a:r>
              <a:rPr lang="en-US" sz="3200" b="1" dirty="0">
                <a:latin typeface="Times New Roman" panose="02020603050405020304" pitchFamily="18" charset="0"/>
                <a:cs typeface="Times New Roman" panose="02020603050405020304" pitchFamily="18" charset="0"/>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marL="0" indent="0" algn="ctr">
              <a:buNone/>
            </a:pPr>
            <a:endParaRPr lang="en-US" sz="2400"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5126606" y="3343511"/>
            <a:ext cx="3235570" cy="1083212"/>
          </a:xfrm>
          <a:prstGeom prst="rect">
            <a:avLst/>
          </a:prstGeom>
          <a:noFill/>
        </p:spPr>
      </p:pic>
      <p:pic>
        <p:nvPicPr>
          <p:cNvPr id="2" name="Picture 2" descr="MAPS &amp; DIRECTIONS - Best Private University in Telangana &amp; Andhra Pradesh | KLH  Hyderabad">
            <a:extLst>
              <a:ext uri="{FF2B5EF4-FFF2-40B4-BE49-F238E27FC236}">
                <a16:creationId xmlns:a16="http://schemas.microsoft.com/office/drawing/2014/main" id="{C34EF9A3-1143-9FE9-8732-0ACA65A16A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529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1489</TotalTime>
  <Words>965</Words>
  <Application>Microsoft Office PowerPoint</Application>
  <PresentationFormat>Widescreen</PresentationFormat>
  <Paragraphs>90</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Gill Sans MT</vt:lpstr>
      <vt:lpstr>Patrick Hand</vt:lpstr>
      <vt:lpstr>Poppins</vt:lpstr>
      <vt:lpstr>Times New Roman</vt:lpstr>
      <vt:lpstr>Office Theme</vt:lpstr>
      <vt:lpstr>PowerPoint Presentation</vt:lpstr>
      <vt:lpstr>RECAP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Manika Prasuna</dc:creator>
  <cp:lastModifiedBy>Jyothsna Datti</cp:lastModifiedBy>
  <cp:revision>112</cp:revision>
  <dcterms:created xsi:type="dcterms:W3CDTF">2025-05-12T05:57:37Z</dcterms:created>
  <dcterms:modified xsi:type="dcterms:W3CDTF">2025-12-17T04:12:42Z</dcterms:modified>
</cp:coreProperties>
</file>